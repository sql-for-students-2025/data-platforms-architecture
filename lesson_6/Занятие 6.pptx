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08" r:id="rId2"/>
    <p:sldId id="366" r:id="rId3"/>
    <p:sldId id="368" r:id="rId4"/>
    <p:sldId id="369" r:id="rId5"/>
    <p:sldId id="370" r:id="rId6"/>
    <p:sldId id="371" r:id="rId7"/>
    <p:sldId id="372" r:id="rId8"/>
    <p:sldId id="373" r:id="rId9"/>
    <p:sldId id="375" r:id="rId10"/>
    <p:sldId id="376" r:id="rId11"/>
    <p:sldId id="377" r:id="rId12"/>
    <p:sldId id="378" r:id="rId13"/>
    <p:sldId id="379" r:id="rId14"/>
    <p:sldId id="380" r:id="rId15"/>
    <p:sldId id="34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53" autoAdjust="0"/>
    <p:restoredTop sz="77959"/>
  </p:normalViewPr>
  <p:slideViewPr>
    <p:cSldViewPr snapToGrid="0">
      <p:cViewPr varScale="1">
        <p:scale>
          <a:sx n="98" d="100"/>
          <a:sy n="98" d="100"/>
        </p:scale>
        <p:origin x="1848" y="19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245EE-3F3A-D84E-9B98-0B620E298721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571FC-E455-DB48-8A8B-806C134DD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31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 мысль занятия: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ETL/ELT 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не просто перенос данных из одной базы в другую. Это управляемый процесс, который должен обеспечивать корректность, повторяемость, контролируемость и своевременность получения данных.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Цели занятия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занятия студент должен уметь: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объяснить разницу между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ELT;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разложить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последовательные этапы;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выбрать способ загрузки: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load, incremental load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CDC;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определить, где выполнять трансформации;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спроектировать проверки качества данных;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объяснить, как обрабатывать ошибки, повторы и частично выполненные загрузки;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определить расписание и контроль успешности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pipeline;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показать, как данные доходят от источника до аналитической витрины.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7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6B1CD-7906-1D69-2BB2-D3619081B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6DB9E63-EDBE-B243-6382-3C3469492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22F1CB3-A471-F40D-8F03-028C99511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занятии фокус — не на том, как нарисовать всю платформу, а на том, как спроектировать один конкретный поток данных.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F27DF2-D132-11D6-BC35-EC0404B76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481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75100-F4E2-5BFF-F849-05AD5458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37539C-9454-77C5-AA26-CE91B8B52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9CD11C1-B856-DD43-ECC2-15F33AF40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классическом </a:t>
            </a:r>
            <a:r>
              <a:rPr lang="e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трансформация выполняется до загрузки в целевую систему.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1F86CF-206C-0FED-CB03-FED742FA0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901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7AC4-5CEA-3C6F-2EBF-E9AA99C17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F6D1A3-F5B0-ABDD-73ED-959976DBF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640AFA-C43F-FD88-E90F-BA3B4A555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DA8D48-B5B3-63CC-2E60-B292CCAAF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568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5F8A-0A85-A37F-8D54-1C7E2EFF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EEC01FD-F814-DF37-58DC-5F6CAD315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B33CA9-959F-0E18-72CF-2564123EB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Пример</a:t>
            </a:r>
          </a:p>
          <a:p>
            <a:r>
              <a:rPr lang="en" dirty="0">
                <a:solidFill>
                  <a:schemeClr val="bg1"/>
                </a:solidFill>
              </a:rPr>
              <a:t>Python </a:t>
            </a:r>
            <a:r>
              <a:rPr lang="ru-RU" dirty="0">
                <a:solidFill>
                  <a:schemeClr val="bg1"/>
                </a:solidFill>
              </a:rPr>
              <a:t>обрабатывает </a:t>
            </a:r>
            <a:r>
              <a:rPr lang="en" dirty="0">
                <a:solidFill>
                  <a:schemeClr val="bg1"/>
                </a:solidFill>
              </a:rPr>
              <a:t>CSV </a:t>
            </a:r>
            <a:r>
              <a:rPr lang="ru-RU" dirty="0">
                <a:solidFill>
                  <a:schemeClr val="bg1"/>
                </a:solidFill>
              </a:rPr>
              <a:t>и загружает результат</a:t>
            </a:r>
          </a:p>
          <a:p>
            <a:r>
              <a:rPr lang="ru-RU" dirty="0">
                <a:solidFill>
                  <a:schemeClr val="bg1"/>
                </a:solidFill>
              </a:rPr>
              <a:t>Данные загружаются, затем обрабатываются </a:t>
            </a:r>
            <a:r>
              <a:rPr lang="en" dirty="0">
                <a:solidFill>
                  <a:schemeClr val="bg1"/>
                </a:solidFill>
              </a:rPr>
              <a:t>SQL-</a:t>
            </a:r>
            <a:r>
              <a:rPr lang="ru-RU" dirty="0">
                <a:solidFill>
                  <a:schemeClr val="bg1"/>
                </a:solidFill>
              </a:rPr>
              <a:t>запросами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Важная оговорка: в реальных архитектурах граница не всегда строгая. Один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 сочетать оба подхода.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устарел, а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ELT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всегда лучше. Выбор зависит от объёма данных, возможностей целевого хранилища, требований к качеству, хранению исходных данных и стоимости обработки.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233092-4ED4-9755-B1EA-BAA710519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285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72217-DBA7-F386-D6A1-967DA7DD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4E869A-B16D-2B3A-8E97-A8BF249FD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76DA84-911C-B695-9851-C74FE678C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Рассмотрим пример загрузки продаж.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Это логическая схема: </a:t>
            </a:r>
            <a:r>
              <a:rPr lang="en" dirty="0">
                <a:solidFill>
                  <a:schemeClr val="bg1"/>
                </a:solidFill>
              </a:rPr>
              <a:t>staging </a:t>
            </a:r>
            <a:r>
              <a:rPr lang="ru-RU" dirty="0">
                <a:solidFill>
                  <a:schemeClr val="bg1"/>
                </a:solidFill>
              </a:rPr>
              <a:t>может быть таблицей в БД, файлами в </a:t>
            </a:r>
            <a:r>
              <a:rPr lang="en" dirty="0">
                <a:solidFill>
                  <a:schemeClr val="bg1"/>
                </a:solidFill>
              </a:rPr>
              <a:t>S3 </a:t>
            </a:r>
            <a:r>
              <a:rPr lang="ru-RU" dirty="0">
                <a:solidFill>
                  <a:schemeClr val="bg1"/>
                </a:solidFill>
              </a:rPr>
              <a:t>или промежуточным набором данных. Не каждому </a:t>
            </a:r>
            <a:r>
              <a:rPr lang="en" dirty="0">
                <a:solidFill>
                  <a:schemeClr val="bg1"/>
                </a:solidFill>
              </a:rPr>
              <a:t>pipeline </a:t>
            </a:r>
            <a:r>
              <a:rPr lang="ru-RU" dirty="0">
                <a:solidFill>
                  <a:schemeClr val="bg1"/>
                </a:solidFill>
              </a:rPr>
              <a:t>нужны отдельные физические компоненты для всех этапов.</a:t>
            </a:r>
          </a:p>
          <a:p>
            <a:r>
              <a:rPr lang="ru-RU" dirty="0">
                <a:solidFill>
                  <a:schemeClr val="bg1"/>
                </a:solidFill>
              </a:rPr>
              <a:t>Что важно на каждом этапе</a:t>
            </a:r>
          </a:p>
          <a:p>
            <a:endParaRPr lang="ru-RU" sz="12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данные забираем и как определяем изменения?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 сохраняем полученную порцию до публикации?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бизнес-правила применяем?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убеждаемся, что результат корректен?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обновляем витрину без потери и дублирования данных?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узнаём, что загрузка прошла успешно или сломалась?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3BD79D-754B-675D-7899-9C285460D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221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542D-16D1-385B-B0E6-0BC33606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8432DB-5571-2CA7-ADC5-2A7783B49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87D7B7-CE8F-EFF0-506F-404DF683C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EXTRACT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Выбор способа загрузки определяется требованиями и возможностями источника, а не популярностью технологии.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57662F-2D22-3D51-6FD5-F339FD9DA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05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C25D-0F93-4FDB-6DF5-B88EE9E6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2A6CAF6-88BC-0A1D-C7EF-CD0F2F29C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62661DE-D1E1-29CB-CA37-543B56A67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Главное правило: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Не продвигать </a:t>
            </a:r>
            <a:r>
              <a:rPr lang="en" dirty="0">
                <a:solidFill>
                  <a:schemeClr val="bg1"/>
                </a:solidFill>
              </a:rPr>
              <a:t>watermark, </a:t>
            </a:r>
            <a:r>
              <a:rPr lang="ru-RU" dirty="0">
                <a:solidFill>
                  <a:schemeClr val="bg1"/>
                </a:solidFill>
              </a:rPr>
              <a:t>пока данные не загружены и не подтверждены как успешно обработанные.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Иначе возможна ситуация: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прочитал данные до 07:00.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Watermark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обновили на 07:00.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Загрузка в </a:t>
            </a:r>
            <a:r>
              <a:rPr lang="e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упала.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Следующий запуск начнётся после 07:00.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Пропущенный интервал не будет обработан.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практике полезно разделять: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extraction watermark 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какой границы мы читаем;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committed watermark 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какой границы данные надёжно опубликованы.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3BF3EE-DA2D-EA0A-E4DA-D17EA6EAC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821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FEF24-A6E7-056C-EC6C-91E07CA1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39E9268-B8F8-2A89-DD85-7BACF9CDC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B822B9B-15C4-FDAC-E25F-E43D23505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TRANSFORM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Трансформация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ru-RU" dirty="0">
                <a:solidFill>
                  <a:srgbClr val="FF0000"/>
                </a:solidFill>
              </a:rPr>
              <a:t> это не только изменение формата. Она может включать техническую очистку и бизнес-логику.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Важно заранее определить семантику скидки: относится ли </a:t>
            </a:r>
            <a:r>
              <a:rPr lang="en" dirty="0">
                <a:solidFill>
                  <a:srgbClr val="FF0000"/>
                </a:solidFill>
              </a:rPr>
              <a:t>discount </a:t>
            </a:r>
            <a:r>
              <a:rPr lang="ru-RU" dirty="0">
                <a:solidFill>
                  <a:srgbClr val="FF0000"/>
                </a:solidFill>
              </a:rPr>
              <a:t>к единице товара или ко всей строке чека. Иначе формула может быть неправильной.</a:t>
            </a:r>
          </a:p>
          <a:p>
            <a:r>
              <a:rPr lang="ru-RU" dirty="0">
                <a:solidFill>
                  <a:srgbClr val="FF0000"/>
                </a:solidFill>
              </a:rPr>
              <a:t>Где выполнять трансформации?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Не следует переносить тяжёлые аналитические запросы на </a:t>
            </a:r>
            <a:r>
              <a:rPr lang="en" dirty="0">
                <a:solidFill>
                  <a:srgbClr val="FF0000"/>
                </a:solidFill>
              </a:rPr>
              <a:t>production-</a:t>
            </a:r>
            <a:r>
              <a:rPr lang="ru-RU" dirty="0">
                <a:solidFill>
                  <a:srgbClr val="FF0000"/>
                </a:solidFill>
              </a:rPr>
              <a:t>БД только потому, что там находятся исходные данные.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D44A27-85F8-8A37-451E-39A284710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3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F500-6D83-D540-FDCD-6BC9FCA7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C45A78-EA37-2416-5602-CB3DE0A66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85520B-082B-5D54-DB80-91E9FAB6A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>
                <a:solidFill>
                  <a:schemeClr val="bg1"/>
                </a:solidFill>
              </a:rPr>
              <a:t>Pipeline, </a:t>
            </a:r>
            <a:r>
              <a:rPr lang="ru-RU" dirty="0">
                <a:solidFill>
                  <a:schemeClr val="bg1"/>
                </a:solidFill>
              </a:rPr>
              <a:t>который завершился без технической ошибки, не обязательно произвёл корректные данные.</a:t>
            </a:r>
          </a:p>
          <a:p>
            <a:r>
              <a:rPr lang="ru-RU" dirty="0">
                <a:solidFill>
                  <a:schemeClr val="bg1"/>
                </a:solidFill>
              </a:rPr>
              <a:t>Например, запрос выполнился успешно, но загрузил только половину нужных строк.</a:t>
            </a:r>
          </a:p>
          <a:p>
            <a:r>
              <a:rPr lang="ru-RU" dirty="0">
                <a:solidFill>
                  <a:schemeClr val="bg1"/>
                </a:solidFill>
              </a:rPr>
              <a:t>Поэтому проверки качества — отдельная часть архитектуры.</a:t>
            </a:r>
          </a:p>
          <a:p>
            <a:r>
              <a:rPr lang="ru-RU" dirty="0">
                <a:solidFill>
                  <a:schemeClr val="bg1"/>
                </a:solidFill>
              </a:rPr>
              <a:t>Основные категории проверок</a:t>
            </a:r>
          </a:p>
          <a:p>
            <a:endParaRPr lang="ru-RU" sz="12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Проверки должны иметь понятную реакцию на нарушение.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остановить публикацию;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отправить предупреждение;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записать проблемные строки в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quarantine;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разрешить публикацию, но отметить витрину как неполную.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каждое нарушение обязано приводить к остановке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определяется критичностью данных.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E997BD-4DBF-68EC-59C1-9D541BC74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541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0889-84E1-808A-C7CA-4A2FEE9AC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7FC319-FD30-E681-B7DC-292AFCAED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022741A-53A7-DABB-81BD-7171BBD6C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Что произошло?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Дублирование данных.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Поэтому нужно проектировать безопасный повторный запуск.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FF0000"/>
                </a:solidFill>
              </a:rPr>
              <a:t>Что такое идемпотентность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FF0000"/>
                </a:solidFill>
              </a:rPr>
              <a:t>Идемпотентная операция при повторном выполнении приводит к тому же конечному состоянию, что и однократное выполнение.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FF0000"/>
                </a:solidFill>
              </a:rPr>
              <a:t>Для </a:t>
            </a:r>
            <a:r>
              <a:rPr lang="en" dirty="0">
                <a:solidFill>
                  <a:srgbClr val="FF0000"/>
                </a:solidFill>
              </a:rPr>
              <a:t>pipeline </a:t>
            </a:r>
            <a:r>
              <a:rPr lang="ru-RU" dirty="0">
                <a:solidFill>
                  <a:srgbClr val="FF0000"/>
                </a:solidFill>
              </a:rPr>
              <a:t>это означает, что повторная обработка одной и той же порции данных не должна приводить к повторному учёту фактов.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FF0000"/>
                </a:solidFill>
              </a:rPr>
              <a:t>Важно: простое использование </a:t>
            </a:r>
            <a:r>
              <a:rPr lang="en" dirty="0">
                <a:solidFill>
                  <a:srgbClr val="FF0000"/>
                </a:solidFill>
              </a:rPr>
              <a:t>INSERT </a:t>
            </a:r>
            <a:r>
              <a:rPr lang="ru-RU" dirty="0">
                <a:solidFill>
                  <a:srgbClr val="FF0000"/>
                </a:solidFill>
              </a:rPr>
              <a:t>не делает загрузку идемпотентной. Также нельзя считать, что </a:t>
            </a:r>
            <a:r>
              <a:rPr lang="en" dirty="0">
                <a:solidFill>
                  <a:srgbClr val="FF0000"/>
                </a:solidFill>
              </a:rPr>
              <a:t>UPSERT, MERGE </a:t>
            </a:r>
            <a:r>
              <a:rPr lang="ru-RU" dirty="0">
                <a:solidFill>
                  <a:srgbClr val="FF0000"/>
                </a:solidFill>
              </a:rPr>
              <a:t>или механизм схлопывания строк автоматически решит все проблемы: нужно понимать гарантии выбранной СУБД и модель данных.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C3AE75-269A-0986-6AF3-B76948C07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231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98FB-1D12-5F01-EA23-04820959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6778BC8-B3D6-2C98-4DB7-77D2D07F4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BE5067-D33E-5D7B-5CFA-7F5CC9025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FCD216-5A8B-5E63-5C39-F989980EB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637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07F16-D125-F93F-F38E-B3AAB786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C53E2E-90A3-A5CC-EAA0-9EB999A5D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90F29DC-6DB5-811B-4089-3A2DE3C2B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700651-A170-BCF4-42A9-0B57A4CA0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853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1421D-D23E-8E3D-51ED-0DB988DE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D395EF-ED9E-C324-CAE9-AAA89B859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AEF083A-A0F7-58D7-33C8-CE68859E2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>
                <a:solidFill>
                  <a:schemeClr val="bg1"/>
                </a:solidFill>
              </a:rPr>
              <a:t>Расписание и </a:t>
            </a:r>
            <a:r>
              <a:rPr lang="en" sz="1200" dirty="0">
                <a:solidFill>
                  <a:schemeClr val="bg1"/>
                </a:solidFill>
              </a:rPr>
              <a:t>freshness  </a:t>
            </a:r>
            <a:r>
              <a:rPr lang="ru-RU" sz="1200" dirty="0">
                <a:solidFill>
                  <a:schemeClr val="bg1"/>
                </a:solidFill>
              </a:rPr>
              <a:t>не одно и то же</a:t>
            </a:r>
            <a:endParaRPr lang="ru-RU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58A1C2-64E2-990F-A41E-6668DB2CC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8770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18. Контрольные вопросы</a:t>
            </a:r>
          </a:p>
          <a:p>
            <a:r>
              <a:rPr lang="ru-RU" dirty="0"/>
              <a:t>1. Чем </a:t>
            </a:r>
            <a:r>
              <a:rPr lang="en" dirty="0"/>
              <a:t>ETL </a:t>
            </a:r>
            <a:r>
              <a:rPr lang="ru-RU" dirty="0"/>
              <a:t>отличается от </a:t>
            </a:r>
            <a:r>
              <a:rPr lang="en" dirty="0"/>
              <a:t>ELT?</a:t>
            </a:r>
          </a:p>
          <a:p>
            <a:r>
              <a:rPr lang="en" dirty="0"/>
              <a:t>2. </a:t>
            </a:r>
            <a:r>
              <a:rPr lang="ru-RU" dirty="0"/>
              <a:t>В каких случаях подходит </a:t>
            </a:r>
            <a:r>
              <a:rPr lang="en" dirty="0"/>
              <a:t>full load?</a:t>
            </a:r>
          </a:p>
          <a:p>
            <a:r>
              <a:rPr lang="en" dirty="0"/>
              <a:t>3. </a:t>
            </a:r>
            <a:r>
              <a:rPr lang="ru-RU" dirty="0"/>
              <a:t>Почему </a:t>
            </a:r>
            <a:r>
              <a:rPr lang="en" dirty="0"/>
              <a:t>incremental load </a:t>
            </a:r>
            <a:r>
              <a:rPr lang="ru-RU" dirty="0"/>
              <a:t>может не обнаружить </a:t>
            </a:r>
            <a:r>
              <a:rPr lang="en" dirty="0"/>
              <a:t>DELETE?</a:t>
            </a:r>
          </a:p>
          <a:p>
            <a:r>
              <a:rPr lang="en" dirty="0"/>
              <a:t>4. </a:t>
            </a:r>
            <a:r>
              <a:rPr lang="ru-RU" dirty="0"/>
              <a:t>Что такое </a:t>
            </a:r>
            <a:r>
              <a:rPr lang="en" dirty="0"/>
              <a:t>watermark?</a:t>
            </a:r>
          </a:p>
          <a:p>
            <a:r>
              <a:rPr lang="en" dirty="0"/>
              <a:t>5. </a:t>
            </a:r>
            <a:r>
              <a:rPr lang="ru-RU" dirty="0"/>
              <a:t>Когда безопасно обновлять </a:t>
            </a:r>
            <a:r>
              <a:rPr lang="en" dirty="0"/>
              <a:t>watermark?</a:t>
            </a:r>
          </a:p>
          <a:p>
            <a:r>
              <a:rPr lang="en" dirty="0"/>
              <a:t>6. </a:t>
            </a:r>
            <a:r>
              <a:rPr lang="ru-RU" dirty="0"/>
              <a:t>Что такое идемпотентность?</a:t>
            </a:r>
          </a:p>
          <a:p>
            <a:r>
              <a:rPr lang="ru-RU" dirty="0"/>
              <a:t>7. Почему </a:t>
            </a:r>
            <a:r>
              <a:rPr lang="en" dirty="0"/>
              <a:t>retry </a:t>
            </a:r>
            <a:r>
              <a:rPr lang="ru-RU" dirty="0"/>
              <a:t>не гарантирует корректность?</a:t>
            </a:r>
          </a:p>
          <a:p>
            <a:r>
              <a:rPr lang="ru-RU" dirty="0"/>
              <a:t>8. Какие проверки качества следует выполнить перед публикацией?</a:t>
            </a:r>
          </a:p>
          <a:p>
            <a:r>
              <a:rPr lang="ru-RU" dirty="0"/>
              <a:t>9. Чем частота запуска отличается от </a:t>
            </a:r>
            <a:r>
              <a:rPr lang="en" dirty="0"/>
              <a:t>freshness?</a:t>
            </a:r>
          </a:p>
          <a:p>
            <a:r>
              <a:rPr lang="en" dirty="0"/>
              <a:t>10. </a:t>
            </a:r>
            <a:r>
              <a:rPr lang="ru-RU" dirty="0"/>
              <a:t>За что отвечает </a:t>
            </a:r>
            <a:r>
              <a:rPr lang="en" dirty="0"/>
              <a:t>Airflow?</a:t>
            </a:r>
          </a:p>
          <a:p>
            <a:r>
              <a:rPr lang="en" dirty="0"/>
              <a:t>11. </a:t>
            </a:r>
            <a:r>
              <a:rPr lang="ru-RU" dirty="0"/>
              <a:t>Зачем сохранять исходные данные в </a:t>
            </a:r>
            <a:r>
              <a:rPr lang="en" dirty="0"/>
              <a:t>S3?</a:t>
            </a:r>
          </a:p>
          <a:p>
            <a:r>
              <a:rPr lang="en" dirty="0"/>
              <a:t>12. </a:t>
            </a:r>
            <a:r>
              <a:rPr lang="ru-RU" dirty="0"/>
              <a:t>Какие гарантии должен обеспечивать </a:t>
            </a:r>
            <a:r>
              <a:rPr lang="en" dirty="0"/>
              <a:t>pipeline </a:t>
            </a:r>
            <a:r>
              <a:rPr lang="ru-RU" dirty="0"/>
              <a:t>при повторном запуске?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23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5" y="1452638"/>
            <a:ext cx="11740945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solidFill>
                  <a:schemeClr val="bg1"/>
                </a:solidFill>
              </a:rPr>
              <a:t>Современная архитектура платформ </a:t>
            </a:r>
            <a:r>
              <a:rPr lang="ru-RU" b="0" dirty="0"/>
              <a:t>данных</a:t>
            </a:r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5" y="2545167"/>
            <a:ext cx="4402828" cy="5063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Проектирование </a:t>
            </a:r>
            <a:r>
              <a:rPr lang="en" b="1" dirty="0"/>
              <a:t>ETL/ELT-</a:t>
            </a:r>
            <a:r>
              <a:rPr lang="ru-RU" b="1" dirty="0"/>
              <a:t>потока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2C93-B3AC-0079-5D65-CBC89156E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4C0362F-7030-EE68-D36B-FEEC15CA9C5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385BF4CB-5A13-73DF-0CE1-5F503B1A4D6D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6162978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Вводная</a:t>
            </a:r>
            <a:r>
              <a:rPr lang="ru-RU" dirty="0"/>
              <a:t> задача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029833-671B-E171-763D-FAF809069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592993-11BF-633E-4BFD-976E129E4045}"/>
              </a:ext>
            </a:extLst>
          </p:cNvPr>
          <p:cNvSpPr txBox="1"/>
          <p:nvPr/>
        </p:nvSpPr>
        <p:spPr>
          <a:xfrm>
            <a:off x="259086" y="1607143"/>
            <a:ext cx="5376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Как доставить данные из источника в спроектированную витрину так, чтобы процесс работал регулярно и надёжно?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026F2-FF27-0244-471A-CA81FA401BBD}"/>
              </a:ext>
            </a:extLst>
          </p:cNvPr>
          <p:cNvSpPr txBox="1"/>
          <p:nvPr/>
        </p:nvSpPr>
        <p:spPr>
          <a:xfrm>
            <a:off x="259085" y="2631413"/>
            <a:ext cx="420658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PostgreSQL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↓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Извлечение данных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Raw / staging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↓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Трансформации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↓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Проверки качества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↓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Витрины</a:t>
            </a:r>
            <a:endParaRPr lang="en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 /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аналитика</a:t>
            </a:r>
          </a:p>
        </p:txBody>
      </p:sp>
    </p:spTree>
    <p:extLst>
      <p:ext uri="{BB962C8B-B14F-4D97-AF65-F5344CB8AC3E}">
        <p14:creationId xmlns:p14="http://schemas.microsoft.com/office/powerpoint/2010/main" val="260751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AAFF2-D8EE-0252-91BA-08AF48072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9571D52-2047-CD40-E5FD-6AC595570F0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440064EF-4145-662C-28C8-0DA825A0E0E5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6162978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en" dirty="0">
                <a:solidFill>
                  <a:schemeClr val="bg1"/>
                </a:solidFill>
              </a:rPr>
              <a:t>ETL </a:t>
            </a:r>
            <a:r>
              <a:rPr lang="ru-RU" dirty="0">
                <a:solidFill>
                  <a:schemeClr val="bg1"/>
                </a:solidFill>
              </a:rPr>
              <a:t>и </a:t>
            </a:r>
            <a:r>
              <a:rPr lang="en" dirty="0">
                <a:solidFill>
                  <a:schemeClr val="bg1"/>
                </a:solidFill>
              </a:rPr>
              <a:t>ELT</a:t>
            </a:r>
            <a:r>
              <a:rPr lang="ru-RU" dirty="0">
                <a:solidFill>
                  <a:schemeClr val="bg1"/>
                </a:solidFill>
              </a:rPr>
              <a:t>?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1C0C64C-035D-3F65-96C3-BE2771A49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E74D85-8F17-6B8D-6025-998F3E2D6856}"/>
              </a:ext>
            </a:extLst>
          </p:cNvPr>
          <p:cNvSpPr txBox="1"/>
          <p:nvPr/>
        </p:nvSpPr>
        <p:spPr>
          <a:xfrm>
            <a:off x="259087" y="1571230"/>
            <a:ext cx="5376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chemeClr val="bg1"/>
                </a:solidFill>
              </a:rPr>
              <a:t>ETL — Extract, Transform, Load</a:t>
            </a:r>
          </a:p>
          <a:p>
            <a:r>
              <a:rPr lang="en" dirty="0">
                <a:solidFill>
                  <a:schemeClr val="bg1"/>
                </a:solidFill>
              </a:rPr>
              <a:t>1. Extract — </a:t>
            </a:r>
            <a:r>
              <a:rPr lang="ru-RU" dirty="0">
                <a:solidFill>
                  <a:schemeClr val="bg1"/>
                </a:solidFill>
              </a:rPr>
              <a:t>извлечь данные из источника.</a:t>
            </a:r>
          </a:p>
          <a:p>
            <a:r>
              <a:rPr lang="ru-RU" dirty="0">
                <a:solidFill>
                  <a:schemeClr val="bg1"/>
                </a:solidFill>
              </a:rPr>
              <a:t>2. </a:t>
            </a:r>
            <a:r>
              <a:rPr lang="en" dirty="0">
                <a:solidFill>
                  <a:schemeClr val="bg1"/>
                </a:solidFill>
              </a:rPr>
              <a:t>Transform — </a:t>
            </a:r>
            <a:r>
              <a:rPr lang="ru-RU" dirty="0">
                <a:solidFill>
                  <a:schemeClr val="bg1"/>
                </a:solidFill>
              </a:rPr>
              <a:t>преобразовать их.</a:t>
            </a:r>
          </a:p>
          <a:p>
            <a:r>
              <a:rPr lang="ru-RU" dirty="0">
                <a:solidFill>
                  <a:schemeClr val="bg1"/>
                </a:solidFill>
              </a:rPr>
              <a:t>3. </a:t>
            </a:r>
            <a:r>
              <a:rPr lang="en" dirty="0">
                <a:solidFill>
                  <a:schemeClr val="bg1"/>
                </a:solidFill>
              </a:rPr>
              <a:t>Load — </a:t>
            </a:r>
            <a:r>
              <a:rPr lang="ru-RU" dirty="0">
                <a:solidFill>
                  <a:schemeClr val="bg1"/>
                </a:solidFill>
              </a:rPr>
              <a:t>загрузить результат в целевую систему.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BCB1E-1C59-D349-C507-7663AAC2AEDE}"/>
              </a:ext>
            </a:extLst>
          </p:cNvPr>
          <p:cNvSpPr txBox="1"/>
          <p:nvPr/>
        </p:nvSpPr>
        <p:spPr>
          <a:xfrm>
            <a:off x="1558555" y="2829691"/>
            <a:ext cx="2484475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Источник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Целевая система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A294C-B3E6-CA03-7A13-3132F76D2521}"/>
              </a:ext>
            </a:extLst>
          </p:cNvPr>
          <p:cNvSpPr txBox="1"/>
          <p:nvPr/>
        </p:nvSpPr>
        <p:spPr>
          <a:xfrm>
            <a:off x="259087" y="5519872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• забрать заказы из </a:t>
            </a:r>
            <a:r>
              <a:rPr lang="ru-RU" dirty="0" err="1">
                <a:solidFill>
                  <a:schemeClr val="bg1"/>
                </a:solidFill>
              </a:rPr>
              <a:t>PostgreSQL</a:t>
            </a:r>
            <a:r>
              <a:rPr lang="ru-RU" dirty="0">
                <a:solidFill>
                  <a:schemeClr val="bg1"/>
                </a:solidFill>
              </a:rPr>
              <a:t>;</a:t>
            </a:r>
          </a:p>
          <a:p>
            <a:r>
              <a:rPr lang="ru-RU" dirty="0">
                <a:solidFill>
                  <a:schemeClr val="bg1"/>
                </a:solidFill>
              </a:rPr>
              <a:t>• очистить статусы, проверить суммы, привести типы;</a:t>
            </a:r>
          </a:p>
          <a:p>
            <a:r>
              <a:rPr lang="ru-RU" dirty="0">
                <a:solidFill>
                  <a:schemeClr val="bg1"/>
                </a:solidFill>
              </a:rPr>
              <a:t>• загрузить подготовленные данные в аналитическое хранилище.</a:t>
            </a:r>
          </a:p>
        </p:txBody>
      </p:sp>
    </p:spTree>
    <p:extLst>
      <p:ext uri="{BB962C8B-B14F-4D97-AF65-F5344CB8AC3E}">
        <p14:creationId xmlns:p14="http://schemas.microsoft.com/office/powerpoint/2010/main" val="119309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D76E-B9B1-FFD8-E429-BC8E46AC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D74BDAA-8F86-BBB1-0691-4EAAB8699AD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6EFEAEE-1219-8D24-D454-2C79B9DDFBF8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6162978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en" dirty="0">
                <a:solidFill>
                  <a:schemeClr val="bg1"/>
                </a:solidFill>
              </a:rPr>
              <a:t>ETL </a:t>
            </a:r>
            <a:r>
              <a:rPr lang="ru-RU" dirty="0">
                <a:solidFill>
                  <a:schemeClr val="bg1"/>
                </a:solidFill>
              </a:rPr>
              <a:t>и </a:t>
            </a:r>
            <a:r>
              <a:rPr lang="en" dirty="0">
                <a:solidFill>
                  <a:schemeClr val="bg1"/>
                </a:solidFill>
              </a:rPr>
              <a:t>ELT</a:t>
            </a:r>
            <a:r>
              <a:rPr lang="ru-RU" dirty="0">
                <a:solidFill>
                  <a:schemeClr val="bg1"/>
                </a:solidFill>
              </a:rPr>
              <a:t>?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A8978F6-85BD-76EA-022E-69733DFDD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202B9-29AB-6598-0F68-1A6A203BF176}"/>
              </a:ext>
            </a:extLst>
          </p:cNvPr>
          <p:cNvSpPr txBox="1"/>
          <p:nvPr/>
        </p:nvSpPr>
        <p:spPr>
          <a:xfrm>
            <a:off x="259087" y="1571230"/>
            <a:ext cx="6162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chemeClr val="bg1"/>
                </a:solidFill>
              </a:rPr>
              <a:t>ELT </a:t>
            </a:r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en" dirty="0">
                <a:solidFill>
                  <a:schemeClr val="bg1"/>
                </a:solidFill>
              </a:rPr>
              <a:t> Extract, Load, Transform</a:t>
            </a:r>
          </a:p>
          <a:p>
            <a:r>
              <a:rPr lang="en" dirty="0">
                <a:solidFill>
                  <a:schemeClr val="bg1"/>
                </a:solidFill>
              </a:rPr>
              <a:t>1. Extract </a:t>
            </a:r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извлечь данные.</a:t>
            </a:r>
          </a:p>
          <a:p>
            <a:r>
              <a:rPr lang="ru-RU" dirty="0">
                <a:solidFill>
                  <a:schemeClr val="bg1"/>
                </a:solidFill>
              </a:rPr>
              <a:t>2. </a:t>
            </a:r>
            <a:r>
              <a:rPr lang="en" dirty="0">
                <a:solidFill>
                  <a:schemeClr val="bg1"/>
                </a:solidFill>
              </a:rPr>
              <a:t>Load </a:t>
            </a:r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загрузить их в промежуточное хранилище.</a:t>
            </a:r>
          </a:p>
          <a:p>
            <a:r>
              <a:rPr lang="ru-RU" dirty="0">
                <a:solidFill>
                  <a:schemeClr val="bg1"/>
                </a:solidFill>
              </a:rPr>
              <a:t>3. </a:t>
            </a:r>
            <a:r>
              <a:rPr lang="en" dirty="0">
                <a:solidFill>
                  <a:schemeClr val="bg1"/>
                </a:solidFill>
              </a:rPr>
              <a:t>Transform </a:t>
            </a:r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преобразовать данные.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1D676-DC73-1158-476B-016F817C7438}"/>
              </a:ext>
            </a:extLst>
          </p:cNvPr>
          <p:cNvSpPr txBox="1"/>
          <p:nvPr/>
        </p:nvSpPr>
        <p:spPr>
          <a:xfrm>
            <a:off x="1776523" y="2807388"/>
            <a:ext cx="2484475" cy="2800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Источник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</a:t>
            </a:r>
          </a:p>
          <a:p>
            <a:pPr algn="ctr"/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</a:p>
          <a:p>
            <a:pPr algn="ctr"/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Raw / staging</a:t>
            </a:r>
          </a:p>
          <a:p>
            <a:pPr algn="ctr"/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</a:p>
          <a:p>
            <a:pPr algn="ctr"/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Витрина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4E5D2-C59A-47ED-3790-CE2BDE245930}"/>
              </a:ext>
            </a:extLst>
          </p:cNvPr>
          <p:cNvSpPr txBox="1"/>
          <p:nvPr/>
        </p:nvSpPr>
        <p:spPr>
          <a:xfrm>
            <a:off x="259087" y="5642983"/>
            <a:ext cx="63756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• выгрузить исходные данные из </a:t>
            </a:r>
            <a:r>
              <a:rPr lang="en" sz="1600" dirty="0">
                <a:solidFill>
                  <a:schemeClr val="bg1"/>
                </a:solidFill>
              </a:rPr>
              <a:t>PostgreSQL;</a:t>
            </a:r>
          </a:p>
          <a:p>
            <a:r>
              <a:rPr lang="en" sz="1600" dirty="0">
                <a:solidFill>
                  <a:schemeClr val="bg1"/>
                </a:solidFill>
              </a:rPr>
              <a:t>• </a:t>
            </a:r>
            <a:r>
              <a:rPr lang="ru-RU" sz="1600" dirty="0">
                <a:solidFill>
                  <a:schemeClr val="bg1"/>
                </a:solidFill>
              </a:rPr>
              <a:t>сохранить их в </a:t>
            </a:r>
            <a:r>
              <a:rPr lang="en" sz="1600" dirty="0">
                <a:solidFill>
                  <a:schemeClr val="bg1"/>
                </a:solidFill>
              </a:rPr>
              <a:t>S3;</a:t>
            </a:r>
          </a:p>
          <a:p>
            <a:r>
              <a:rPr lang="en" sz="1600" dirty="0">
                <a:solidFill>
                  <a:schemeClr val="bg1"/>
                </a:solidFill>
              </a:rPr>
              <a:t>• </a:t>
            </a:r>
            <a:r>
              <a:rPr lang="ru-RU" sz="1600" dirty="0">
                <a:solidFill>
                  <a:schemeClr val="bg1"/>
                </a:solidFill>
              </a:rPr>
              <a:t>загрузить или обработать данные в БД</a:t>
            </a:r>
            <a:r>
              <a:rPr lang="en" sz="1600" dirty="0">
                <a:solidFill>
                  <a:schemeClr val="bg1"/>
                </a:solidFill>
              </a:rPr>
              <a:t>;</a:t>
            </a:r>
          </a:p>
          <a:p>
            <a:r>
              <a:rPr lang="en" sz="1600" dirty="0">
                <a:solidFill>
                  <a:schemeClr val="bg1"/>
                </a:solidFill>
              </a:rPr>
              <a:t>• </a:t>
            </a:r>
            <a:r>
              <a:rPr lang="ru-RU" sz="1600" dirty="0">
                <a:solidFill>
                  <a:schemeClr val="bg1"/>
                </a:solidFill>
              </a:rPr>
              <a:t>построить витрину с помощью </a:t>
            </a:r>
            <a:r>
              <a:rPr lang="en" sz="1600" dirty="0">
                <a:solidFill>
                  <a:schemeClr val="bg1"/>
                </a:solidFill>
              </a:rPr>
              <a:t>SQL.</a:t>
            </a:r>
          </a:p>
        </p:txBody>
      </p:sp>
    </p:spTree>
    <p:extLst>
      <p:ext uri="{BB962C8B-B14F-4D97-AF65-F5344CB8AC3E}">
        <p14:creationId xmlns:p14="http://schemas.microsoft.com/office/powerpoint/2010/main" val="73772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7D28B-34DF-90EA-BF7A-7B308E45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EB42F3-EDC9-D8FC-2CDB-25503BA3F58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2853B4C6-76C2-600B-CC29-26211012F3F6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6162978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en" dirty="0">
                <a:solidFill>
                  <a:srgbClr val="FF0000"/>
                </a:solidFill>
              </a:rPr>
              <a:t>ETL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и </a:t>
            </a:r>
            <a:r>
              <a:rPr lang="en" dirty="0">
                <a:solidFill>
                  <a:srgbClr val="FF0000"/>
                </a:solidFill>
              </a:rPr>
              <a:t>ELT</a:t>
            </a:r>
            <a:r>
              <a:rPr lang="ru-RU" dirty="0">
                <a:solidFill>
                  <a:schemeClr val="bg1"/>
                </a:solidFill>
              </a:rPr>
              <a:t>?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09C40E-F15A-6AD0-F65C-E56217792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B79AED6-8F08-3340-9596-F09EE760F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574359"/>
              </p:ext>
            </p:extLst>
          </p:nvPr>
        </p:nvGraphicFramePr>
        <p:xfrm>
          <a:off x="166938" y="1504649"/>
          <a:ext cx="5929062" cy="490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144">
                  <a:extLst>
                    <a:ext uri="{9D8B030D-6E8A-4147-A177-3AD203B41FA5}">
                      <a16:colId xmlns:a16="http://schemas.microsoft.com/office/drawing/2014/main" val="286826381"/>
                    </a:ext>
                  </a:extLst>
                </a:gridCol>
                <a:gridCol w="2377647">
                  <a:extLst>
                    <a:ext uri="{9D8B030D-6E8A-4147-A177-3AD203B41FA5}">
                      <a16:colId xmlns:a16="http://schemas.microsoft.com/office/drawing/2014/main" val="1217629450"/>
                    </a:ext>
                  </a:extLst>
                </a:gridCol>
                <a:gridCol w="1838271">
                  <a:extLst>
                    <a:ext uri="{9D8B030D-6E8A-4147-A177-3AD203B41FA5}">
                      <a16:colId xmlns:a16="http://schemas.microsoft.com/office/drawing/2014/main" val="432926984"/>
                    </a:ext>
                  </a:extLst>
                </a:gridCol>
              </a:tblGrid>
              <a:tr h="39417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Критерий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ETL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ELT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85408"/>
                  </a:ext>
                </a:extLst>
              </a:tr>
              <a:tr h="158418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Когда выполняется трансформация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До загрузки в целевую систему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После загрузки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92499"/>
                  </a:ext>
                </a:extLst>
              </a:tr>
              <a:tr h="39417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Где обычно обрабатываются данные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В отдельном </a:t>
                      </a:r>
                      <a:r>
                        <a:rPr lang="en" sz="1600" dirty="0">
                          <a:solidFill>
                            <a:schemeClr val="bg1"/>
                          </a:solidFill>
                        </a:rPr>
                        <a:t>processing-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компоненте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В целевом хранилище или аналитической платформе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65138"/>
                  </a:ext>
                </a:extLst>
              </a:tr>
              <a:tr h="394176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Преимущество</a:t>
                      </a:r>
                    </a:p>
                    <a:p>
                      <a:pPr algn="r"/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Можно очистить данные до попадания в </a:t>
                      </a:r>
                      <a:r>
                        <a:rPr lang="en" sz="1600" dirty="0">
                          <a:solidFill>
                            <a:schemeClr val="bg1"/>
                          </a:solidFill>
                        </a:rPr>
                        <a:t>target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Можно сохранить исходные данные и гибко перестраивать модели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09038"/>
                  </a:ext>
                </a:extLst>
              </a:tr>
              <a:tr h="394176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Ограничение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dirty="0">
                          <a:solidFill>
                            <a:schemeClr val="bg1"/>
                          </a:solidFill>
                        </a:rPr>
                        <a:t>Processing-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компонент может стать узким местом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Целевое хранилище должно справляться с трансформациями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62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59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742B-DBD3-E67E-2814-DEC0CC35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E5C25A1-ED77-C1F0-CDD5-97E09B4502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9FF1F59-DE3C-D7B7-E17C-D86FD4D4A4C8}"/>
              </a:ext>
            </a:extLst>
          </p:cNvPr>
          <p:cNvSpPr txBox="1">
            <a:spLocks/>
          </p:cNvSpPr>
          <p:nvPr/>
        </p:nvSpPr>
        <p:spPr>
          <a:xfrm>
            <a:off x="174026" y="983031"/>
            <a:ext cx="6481955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3200" dirty="0">
                <a:solidFill>
                  <a:srgbClr val="FF0000"/>
                </a:solidFill>
              </a:rPr>
              <a:t>Pipeline</a:t>
            </a:r>
            <a:r>
              <a:rPr lang="en" sz="3200" dirty="0">
                <a:solidFill>
                  <a:schemeClr val="bg1"/>
                </a:solidFill>
              </a:rPr>
              <a:t>: </a:t>
            </a:r>
            <a:r>
              <a:rPr lang="ru-RU" sz="3200" dirty="0">
                <a:solidFill>
                  <a:schemeClr val="bg1"/>
                </a:solidFill>
              </a:rPr>
              <a:t>из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ru-RU" sz="3200" dirty="0">
                <a:solidFill>
                  <a:schemeClr val="bg1"/>
                </a:solidFill>
              </a:rPr>
              <a:t>чего он состоит?</a:t>
            </a:r>
            <a:endParaRPr lang="ru-RU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932CB9-ECA1-C2DC-C04E-D1F51CF1E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B5EA2A-0F6E-8FC8-F499-A898C14C27B2}"/>
              </a:ext>
            </a:extLst>
          </p:cNvPr>
          <p:cNvSpPr txBox="1"/>
          <p:nvPr/>
        </p:nvSpPr>
        <p:spPr>
          <a:xfrm>
            <a:off x="259087" y="1571230"/>
            <a:ext cx="6162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rgbClr val="FF0000"/>
                </a:solidFill>
              </a:rPr>
              <a:t>Data pipeline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последовательность операций, которая переносит или обрабатывает данные и управляет их прохождением через систему.</a:t>
            </a:r>
          </a:p>
          <a:p>
            <a:endParaRPr lang="en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F1C446E-EE70-62F7-EC0C-7D793201B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14684"/>
              </p:ext>
            </p:extLst>
          </p:nvPr>
        </p:nvGraphicFramePr>
        <p:xfrm>
          <a:off x="316907" y="2508881"/>
          <a:ext cx="5690093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55">
                  <a:extLst>
                    <a:ext uri="{9D8B030D-6E8A-4147-A177-3AD203B41FA5}">
                      <a16:colId xmlns:a16="http://schemas.microsoft.com/office/drawing/2014/main" val="286826381"/>
                    </a:ext>
                  </a:extLst>
                </a:gridCol>
                <a:gridCol w="607056">
                  <a:extLst>
                    <a:ext uri="{9D8B030D-6E8A-4147-A177-3AD203B41FA5}">
                      <a16:colId xmlns:a16="http://schemas.microsoft.com/office/drawing/2014/main" val="1217629450"/>
                    </a:ext>
                  </a:extLst>
                </a:gridCol>
                <a:gridCol w="3117082">
                  <a:extLst>
                    <a:ext uri="{9D8B030D-6E8A-4147-A177-3AD203B41FA5}">
                      <a16:colId xmlns:a16="http://schemas.microsoft.com/office/drawing/2014/main" val="432926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Этап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Действие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8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solidFill>
                            <a:schemeClr val="bg1"/>
                          </a:solidFill>
                        </a:rPr>
                        <a:t>Extract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Получить новые или изменённые записи</a:t>
                      </a:r>
                      <a:endParaRPr lang="e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92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solidFill>
                            <a:schemeClr val="bg1"/>
                          </a:solidFill>
                        </a:rPr>
                        <a:t>Load to staging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Временно сохранить полученную порцию данных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65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solidFill>
                            <a:schemeClr val="bg1"/>
                          </a:solidFill>
                        </a:rPr>
                        <a:t>Transform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Нормализовать типы, статусы, ключи и показатели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09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solidFill>
                            <a:schemeClr val="bg1"/>
                          </a:solidFill>
                        </a:rPr>
                        <a:t>Validate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Проверить полноту и корректность результата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62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solidFill>
                            <a:schemeClr val="bg1"/>
                          </a:solidFill>
                        </a:rPr>
                        <a:t>Publish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Обновить аналитическую витрину в БД</a:t>
                      </a:r>
                      <a:endParaRPr lang="e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4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solidFill>
                            <a:schemeClr val="bg1"/>
                          </a:solidFill>
                        </a:rPr>
                        <a:t>Monitor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Зафиксировать результат, длительность и ошибки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16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92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EEC13-C585-E1CC-110A-6D9C4EF6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7BE824F-5B02-E140-D551-40E334C92F4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935BB44B-C972-E7C1-A10E-83751E2B1932}"/>
              </a:ext>
            </a:extLst>
          </p:cNvPr>
          <p:cNvSpPr txBox="1">
            <a:spLocks/>
          </p:cNvSpPr>
          <p:nvPr/>
        </p:nvSpPr>
        <p:spPr>
          <a:xfrm>
            <a:off x="174026" y="983031"/>
            <a:ext cx="6481955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rgbClr val="FF0000"/>
                </a:solidFill>
              </a:rPr>
              <a:t>Способы загрузки данных</a:t>
            </a:r>
            <a:endParaRPr lang="ru-RU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B0DB711-F41F-0F1F-F91E-E91B13B4E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FA04A5-BEE8-9FF6-70D3-0D9CFF7931EC}"/>
              </a:ext>
            </a:extLst>
          </p:cNvPr>
          <p:cNvSpPr txBox="1"/>
          <p:nvPr/>
        </p:nvSpPr>
        <p:spPr>
          <a:xfrm>
            <a:off x="262365" y="1502688"/>
            <a:ext cx="57068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rgbClr val="FF0000"/>
                </a:solidFill>
              </a:rPr>
              <a:t>Full load </a:t>
            </a:r>
            <a:r>
              <a:rPr lang="ru-RU" dirty="0">
                <a:solidFill>
                  <a:srgbClr val="FF0000"/>
                </a:solidFill>
              </a:rPr>
              <a:t>- </a:t>
            </a:r>
            <a:r>
              <a:rPr lang="ru-RU" dirty="0">
                <a:solidFill>
                  <a:schemeClr val="bg1"/>
                </a:solidFill>
              </a:rPr>
              <a:t>полная загрузка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Подходит, когда:</a:t>
            </a:r>
          </a:p>
          <a:p>
            <a:r>
              <a:rPr lang="ru-RU" dirty="0">
                <a:solidFill>
                  <a:schemeClr val="bg1"/>
                </a:solidFill>
              </a:rPr>
              <a:t>• таблица небольшая;</a:t>
            </a:r>
          </a:p>
          <a:p>
            <a:r>
              <a:rPr lang="ru-RU" dirty="0">
                <a:solidFill>
                  <a:schemeClr val="bg1"/>
                </a:solidFill>
              </a:rPr>
              <a:t>• данные обновляются редко;</a:t>
            </a:r>
          </a:p>
          <a:p>
            <a:r>
              <a:rPr lang="ru-RU" dirty="0">
                <a:solidFill>
                  <a:schemeClr val="bg1"/>
                </a:solidFill>
              </a:rPr>
              <a:t>• полная загрузка укладывается в допустимое окно;</a:t>
            </a:r>
          </a:p>
          <a:p>
            <a:r>
              <a:rPr lang="ru-RU" dirty="0">
                <a:solidFill>
                  <a:schemeClr val="bg1"/>
                </a:solidFill>
              </a:rPr>
              <a:t>• источник допускает повторное чтение.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Недостатки:</a:t>
            </a:r>
          </a:p>
          <a:p>
            <a:r>
              <a:rPr lang="ru-RU" dirty="0">
                <a:solidFill>
                  <a:schemeClr val="bg1"/>
                </a:solidFill>
              </a:rPr>
              <a:t>• повторная передача одних и тех же данных;</a:t>
            </a:r>
          </a:p>
          <a:p>
            <a:r>
              <a:rPr lang="ru-RU" dirty="0">
                <a:solidFill>
                  <a:schemeClr val="bg1"/>
                </a:solidFill>
              </a:rPr>
              <a:t>• нагрузка на источник;</a:t>
            </a:r>
          </a:p>
          <a:p>
            <a:r>
              <a:rPr lang="ru-RU" dirty="0">
                <a:solidFill>
                  <a:schemeClr val="bg1"/>
                </a:solidFill>
              </a:rPr>
              <a:t>• рост времени загрузки;</a:t>
            </a:r>
          </a:p>
          <a:p>
            <a:r>
              <a:rPr lang="ru-RU" dirty="0">
                <a:solidFill>
                  <a:schemeClr val="bg1"/>
                </a:solidFill>
              </a:rPr>
              <a:t>• сложность полной перезагрузки больших исторических таблиц.</a:t>
            </a:r>
          </a:p>
          <a:p>
            <a:r>
              <a:rPr lang="ru-RU" dirty="0">
                <a:solidFill>
                  <a:schemeClr val="bg1"/>
                </a:solidFill>
              </a:rPr>
              <a:t>Пример: справочник типов доставки из нескольких сотен строк.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DC10A6-3127-24BE-4B44-E0EA7E10F978}"/>
              </a:ext>
            </a:extLst>
          </p:cNvPr>
          <p:cNvSpPr txBox="1"/>
          <p:nvPr/>
        </p:nvSpPr>
        <p:spPr>
          <a:xfrm>
            <a:off x="262365" y="1502688"/>
            <a:ext cx="570681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rgbClr val="FF0000"/>
                </a:solidFill>
              </a:rPr>
              <a:t>Incremental load </a:t>
            </a:r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инкрементальная загрузка</a:t>
            </a:r>
          </a:p>
          <a:p>
            <a:r>
              <a:rPr lang="ru-RU" dirty="0">
                <a:solidFill>
                  <a:schemeClr val="bg1"/>
                </a:solidFill>
              </a:rPr>
              <a:t>Загружаем только новые или изменившиеся записи.</a:t>
            </a:r>
          </a:p>
          <a:p>
            <a:r>
              <a:rPr lang="ru-RU" dirty="0">
                <a:solidFill>
                  <a:schemeClr val="bg1"/>
                </a:solidFill>
              </a:rPr>
              <a:t>Например, в таблице есть </a:t>
            </a:r>
            <a:r>
              <a:rPr lang="en" dirty="0" err="1">
                <a:solidFill>
                  <a:schemeClr val="bg1"/>
                </a:solidFill>
              </a:rPr>
              <a:t>updated_at</a:t>
            </a:r>
            <a:r>
              <a:rPr lang="en" dirty="0">
                <a:solidFill>
                  <a:schemeClr val="bg1"/>
                </a:solidFill>
              </a:rPr>
              <a:t>.</a:t>
            </a:r>
          </a:p>
          <a:p>
            <a:r>
              <a:rPr lang="ru-RU" dirty="0">
                <a:solidFill>
                  <a:schemeClr val="bg1"/>
                </a:solidFill>
              </a:rPr>
              <a:t>Подходит, когда:</a:t>
            </a:r>
          </a:p>
          <a:p>
            <a:r>
              <a:rPr lang="ru-RU" dirty="0">
                <a:solidFill>
                  <a:schemeClr val="bg1"/>
                </a:solidFill>
              </a:rPr>
              <a:t>• таблица большая;</a:t>
            </a:r>
          </a:p>
          <a:p>
            <a:r>
              <a:rPr lang="ru-RU" dirty="0">
                <a:solidFill>
                  <a:schemeClr val="bg1"/>
                </a:solidFill>
              </a:rPr>
              <a:t>• изменения можно определить;</a:t>
            </a:r>
          </a:p>
          <a:p>
            <a:r>
              <a:rPr lang="ru-RU" dirty="0">
                <a:solidFill>
                  <a:schemeClr val="bg1"/>
                </a:solidFill>
              </a:rPr>
              <a:t>• источник поддерживает фильтрацию по времени или другому маркеру;</a:t>
            </a:r>
          </a:p>
          <a:p>
            <a:r>
              <a:rPr lang="ru-RU" dirty="0">
                <a:solidFill>
                  <a:schemeClr val="bg1"/>
                </a:solidFill>
              </a:rPr>
              <a:t>• полное чтение слишком дорого.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Но есть нюансы:</a:t>
            </a:r>
          </a:p>
          <a:p>
            <a:r>
              <a:rPr lang="ru-RU" dirty="0">
                <a:solidFill>
                  <a:schemeClr val="bg1"/>
                </a:solidFill>
              </a:rPr>
              <a:t>• записи могут поступать с опозданием;</a:t>
            </a:r>
          </a:p>
          <a:p>
            <a:r>
              <a:rPr lang="ru-RU" dirty="0">
                <a:solidFill>
                  <a:schemeClr val="bg1"/>
                </a:solidFill>
              </a:rPr>
              <a:t>• у нескольких записей может совпадать </a:t>
            </a:r>
            <a:r>
              <a:rPr lang="en" dirty="0" err="1">
                <a:solidFill>
                  <a:schemeClr val="bg1"/>
                </a:solidFill>
              </a:rPr>
              <a:t>updated_at</a:t>
            </a:r>
            <a:r>
              <a:rPr lang="en" dirty="0">
                <a:solidFill>
                  <a:schemeClr val="bg1"/>
                </a:solidFill>
              </a:rPr>
              <a:t>;</a:t>
            </a:r>
          </a:p>
          <a:p>
            <a:r>
              <a:rPr lang="en" dirty="0">
                <a:solidFill>
                  <a:schemeClr val="bg1"/>
                </a:solidFill>
              </a:rPr>
              <a:t>• </a:t>
            </a:r>
            <a:r>
              <a:rPr lang="en" dirty="0" err="1">
                <a:solidFill>
                  <a:schemeClr val="bg1"/>
                </a:solidFill>
              </a:rPr>
              <a:t>updated_at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может обновляться некорректно;</a:t>
            </a:r>
          </a:p>
          <a:p>
            <a:r>
              <a:rPr lang="ru-RU" dirty="0">
                <a:solidFill>
                  <a:schemeClr val="bg1"/>
                </a:solidFill>
              </a:rPr>
              <a:t>• физическое удаление строки обычно не обнаруживается таким запросом.</a:t>
            </a:r>
          </a:p>
          <a:p>
            <a:r>
              <a:rPr lang="ru-RU" dirty="0">
                <a:solidFill>
                  <a:schemeClr val="bg1"/>
                </a:solidFill>
              </a:rPr>
              <a:t>На практике часто используют небольшой временной </a:t>
            </a:r>
            <a:r>
              <a:rPr lang="en" dirty="0">
                <a:solidFill>
                  <a:schemeClr val="bg1"/>
                </a:solidFill>
              </a:rPr>
              <a:t>overlap: </a:t>
            </a:r>
            <a:r>
              <a:rPr lang="ru-RU" dirty="0">
                <a:solidFill>
                  <a:schemeClr val="bg1"/>
                </a:solidFill>
              </a:rPr>
              <a:t>повторно читают часть недавнего интервала и устраняют дубликаты по ключу и версии записи.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02DFD-3C13-1AD1-3EBE-23ED113332FC}"/>
              </a:ext>
            </a:extLst>
          </p:cNvPr>
          <p:cNvSpPr txBox="1"/>
          <p:nvPr/>
        </p:nvSpPr>
        <p:spPr>
          <a:xfrm>
            <a:off x="262365" y="1521853"/>
            <a:ext cx="570681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rgbClr val="FF0000"/>
                </a:solidFill>
              </a:rPr>
              <a:t>CDC </a:t>
            </a:r>
            <a:r>
              <a:rPr lang="ru-RU" dirty="0">
                <a:solidFill>
                  <a:schemeClr val="bg1"/>
                </a:solidFill>
              </a:rPr>
              <a:t>-</a:t>
            </a:r>
            <a:r>
              <a:rPr lang="en" dirty="0">
                <a:solidFill>
                  <a:schemeClr val="bg1"/>
                </a:solidFill>
              </a:rPr>
              <a:t> Change Data Capture</a:t>
            </a:r>
            <a:r>
              <a:rPr lang="ru-RU" dirty="0">
                <a:solidFill>
                  <a:schemeClr val="bg1"/>
                </a:solidFill>
              </a:rPr>
              <a:t> (захват изменений)</a:t>
            </a:r>
            <a:endParaRPr lang="en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CDC </a:t>
            </a:r>
            <a:r>
              <a:rPr lang="ru-RU" dirty="0">
                <a:solidFill>
                  <a:schemeClr val="bg1"/>
                </a:solidFill>
              </a:rPr>
              <a:t>позволяет получать изменения в источнике: вставки, обновления и удаления.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CDC </a:t>
            </a:r>
            <a:r>
              <a:rPr lang="ru-RU" dirty="0">
                <a:solidFill>
                  <a:schemeClr val="bg1"/>
                </a:solidFill>
              </a:rPr>
              <a:t>полезен, когда:</a:t>
            </a:r>
          </a:p>
          <a:p>
            <a:r>
              <a:rPr lang="ru-RU" dirty="0">
                <a:solidFill>
                  <a:schemeClr val="bg1"/>
                </a:solidFill>
              </a:rPr>
              <a:t>• нужна низкая задержка;</a:t>
            </a:r>
          </a:p>
          <a:p>
            <a:r>
              <a:rPr lang="ru-RU" dirty="0">
                <a:solidFill>
                  <a:schemeClr val="bg1"/>
                </a:solidFill>
              </a:rPr>
              <a:t>• изменения происходят часто;</a:t>
            </a:r>
          </a:p>
          <a:p>
            <a:r>
              <a:rPr lang="ru-RU" dirty="0">
                <a:solidFill>
                  <a:schemeClr val="bg1"/>
                </a:solidFill>
              </a:rPr>
              <a:t>• нужно обнаруживать удаления;</a:t>
            </a:r>
          </a:p>
          <a:p>
            <a:r>
              <a:rPr lang="ru-RU" dirty="0">
                <a:solidFill>
                  <a:schemeClr val="bg1"/>
                </a:solidFill>
              </a:rPr>
              <a:t>• читать всю таблицу слишком дорого.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Но </a:t>
            </a:r>
            <a:r>
              <a:rPr lang="en" dirty="0">
                <a:solidFill>
                  <a:schemeClr val="bg1"/>
                </a:solidFill>
              </a:rPr>
              <a:t>CDC </a:t>
            </a:r>
            <a:r>
              <a:rPr lang="ru-RU" dirty="0">
                <a:solidFill>
                  <a:schemeClr val="bg1"/>
                </a:solidFill>
              </a:rPr>
              <a:t>добавляет сложности:</a:t>
            </a:r>
          </a:p>
          <a:p>
            <a:r>
              <a:rPr lang="ru-RU" dirty="0">
                <a:solidFill>
                  <a:schemeClr val="bg1"/>
                </a:solidFill>
              </a:rPr>
              <a:t>• обработка повторных событий;</a:t>
            </a:r>
          </a:p>
          <a:p>
            <a:r>
              <a:rPr lang="ru-RU" dirty="0">
                <a:solidFill>
                  <a:schemeClr val="bg1"/>
                </a:solidFill>
              </a:rPr>
              <a:t>• порядок изменений;</a:t>
            </a:r>
          </a:p>
          <a:p>
            <a:r>
              <a:rPr lang="ru-RU" dirty="0">
                <a:solidFill>
                  <a:schemeClr val="bg1"/>
                </a:solidFill>
              </a:rPr>
              <a:t>• управление позициями чтения;</a:t>
            </a:r>
          </a:p>
          <a:p>
            <a:r>
              <a:rPr lang="ru-RU" dirty="0">
                <a:solidFill>
                  <a:schemeClr val="bg1"/>
                </a:solidFill>
              </a:rPr>
              <a:t>• восстановление после сбоев;</a:t>
            </a:r>
          </a:p>
          <a:p>
            <a:r>
              <a:rPr lang="ru-RU" dirty="0">
                <a:solidFill>
                  <a:schemeClr val="bg1"/>
                </a:solidFill>
              </a:rPr>
              <a:t>• эволюция схемы;</a:t>
            </a:r>
          </a:p>
          <a:p>
            <a:r>
              <a:rPr lang="ru-RU" dirty="0">
                <a:solidFill>
                  <a:schemeClr val="bg1"/>
                </a:solidFill>
              </a:rPr>
              <a:t>• контроль отставания потока.</a:t>
            </a:r>
          </a:p>
        </p:txBody>
      </p:sp>
    </p:spTree>
    <p:extLst>
      <p:ext uri="{BB962C8B-B14F-4D97-AF65-F5344CB8AC3E}">
        <p14:creationId xmlns:p14="http://schemas.microsoft.com/office/powerpoint/2010/main" val="1193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3" grpId="0"/>
      <p:bldP spid="3" grpId="1"/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5AFEA-AEA2-4EC8-7C41-6B2CB53F5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08A5F2-7D2C-F69A-D6DA-2E6B04547FB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C7D1E459-0F2B-0C52-A0FB-BBFF302915D1}"/>
              </a:ext>
            </a:extLst>
          </p:cNvPr>
          <p:cNvSpPr txBox="1">
            <a:spLocks/>
          </p:cNvSpPr>
          <p:nvPr/>
        </p:nvSpPr>
        <p:spPr>
          <a:xfrm>
            <a:off x="147132" y="878577"/>
            <a:ext cx="6481955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3200" dirty="0">
                <a:solidFill>
                  <a:srgbClr val="FF0000"/>
                </a:solidFill>
              </a:rPr>
              <a:t>Incremental load</a:t>
            </a:r>
            <a:r>
              <a:rPr lang="en" sz="3200" dirty="0">
                <a:solidFill>
                  <a:schemeClr val="bg1"/>
                </a:solidFill>
              </a:rPr>
              <a:t>: </a:t>
            </a:r>
            <a:r>
              <a:rPr lang="ru-RU" sz="3200" dirty="0">
                <a:solidFill>
                  <a:schemeClr val="bg1"/>
                </a:solidFill>
              </a:rPr>
              <a:t>что такое </a:t>
            </a:r>
            <a:r>
              <a:rPr lang="en" sz="3200" dirty="0">
                <a:solidFill>
                  <a:schemeClr val="bg1"/>
                </a:solidFill>
              </a:rPr>
              <a:t>watermark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2B3E8F-D0C6-95D8-7936-254AE902E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E096B8-9994-3D95-D510-E91552884CF1}"/>
              </a:ext>
            </a:extLst>
          </p:cNvPr>
          <p:cNvSpPr txBox="1"/>
          <p:nvPr/>
        </p:nvSpPr>
        <p:spPr>
          <a:xfrm>
            <a:off x="147132" y="1665400"/>
            <a:ext cx="57068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Предположим, последний успешный запуск обработал изменения до: 2026-10-15 06:00:00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Это значение - </a:t>
            </a:r>
            <a:r>
              <a:rPr lang="en" dirty="0">
                <a:solidFill>
                  <a:schemeClr val="bg1"/>
                </a:solidFill>
              </a:rPr>
              <a:t>watermark.</a:t>
            </a:r>
          </a:p>
          <a:p>
            <a:r>
              <a:rPr lang="ru-RU" dirty="0">
                <a:solidFill>
                  <a:schemeClr val="bg1"/>
                </a:solidFill>
              </a:rPr>
              <a:t>Следующий запуск выбирает изменения после этой границы.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Последняя успешная граница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</a:p>
          <a:p>
            <a:pPr algn="ctr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↓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Обновить 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watermark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только после успеха</a:t>
            </a:r>
          </a:p>
        </p:txBody>
      </p:sp>
    </p:spTree>
    <p:extLst>
      <p:ext uri="{BB962C8B-B14F-4D97-AF65-F5344CB8AC3E}">
        <p14:creationId xmlns:p14="http://schemas.microsoft.com/office/powerpoint/2010/main" val="350745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F4525-A3FA-F600-AAE1-73CC65AF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FDD6BB3-D4C2-136C-6F80-E935BA3EE00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D3B03B13-DF29-E74D-4933-A27731519E3F}"/>
              </a:ext>
            </a:extLst>
          </p:cNvPr>
          <p:cNvSpPr txBox="1">
            <a:spLocks/>
          </p:cNvSpPr>
          <p:nvPr/>
        </p:nvSpPr>
        <p:spPr>
          <a:xfrm>
            <a:off x="174026" y="983031"/>
            <a:ext cx="6481955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</a:rPr>
              <a:t>Способы трансформации </a:t>
            </a:r>
            <a:r>
              <a:rPr lang="ru-RU" sz="3200" dirty="0">
                <a:solidFill>
                  <a:srgbClr val="FF0000"/>
                </a:solidFill>
              </a:rPr>
              <a:t>данных</a:t>
            </a:r>
            <a:endParaRPr lang="ru-RU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F9307AB-958F-5CDD-153B-E009AC3B3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80F6D-CF70-4285-C42D-769A0DB190CE}"/>
              </a:ext>
            </a:extLst>
          </p:cNvPr>
          <p:cNvSpPr txBox="1"/>
          <p:nvPr/>
        </p:nvSpPr>
        <p:spPr>
          <a:xfrm>
            <a:off x="268417" y="1859339"/>
            <a:ext cx="57068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Технические трансформации</a:t>
            </a:r>
          </a:p>
          <a:p>
            <a:r>
              <a:rPr lang="ru-RU" dirty="0">
                <a:solidFill>
                  <a:schemeClr val="bg1"/>
                </a:solidFill>
              </a:rPr>
              <a:t>• привести типы данных;</a:t>
            </a:r>
          </a:p>
          <a:p>
            <a:r>
              <a:rPr lang="ru-RU" dirty="0">
                <a:solidFill>
                  <a:schemeClr val="bg1"/>
                </a:solidFill>
              </a:rPr>
              <a:t>• </a:t>
            </a:r>
            <a:r>
              <a:rPr lang="ru-RU" dirty="0" err="1">
                <a:solidFill>
                  <a:schemeClr val="bg1"/>
                </a:solidFill>
              </a:rPr>
              <a:t>распарсить</a:t>
            </a:r>
            <a:r>
              <a:rPr lang="ru-RU" dirty="0">
                <a:solidFill>
                  <a:schemeClr val="bg1"/>
                </a:solidFill>
              </a:rPr>
              <a:t> дату и время;</a:t>
            </a:r>
          </a:p>
          <a:p>
            <a:r>
              <a:rPr lang="ru-RU" dirty="0">
                <a:solidFill>
                  <a:schemeClr val="bg1"/>
                </a:solidFill>
              </a:rPr>
              <a:t>• нормализовать кодировку;</a:t>
            </a:r>
          </a:p>
          <a:p>
            <a:r>
              <a:rPr lang="ru-RU" dirty="0">
                <a:solidFill>
                  <a:schemeClr val="bg1"/>
                </a:solidFill>
              </a:rPr>
              <a:t>• переименовать поля;</a:t>
            </a:r>
          </a:p>
          <a:p>
            <a:r>
              <a:rPr lang="ru-RU" dirty="0">
                <a:solidFill>
                  <a:schemeClr val="bg1"/>
                </a:solidFill>
              </a:rPr>
              <a:t>• обработать </a:t>
            </a:r>
            <a:r>
              <a:rPr lang="en" dirty="0">
                <a:solidFill>
                  <a:schemeClr val="bg1"/>
                </a:solidFill>
              </a:rPr>
              <a:t>NULL;</a:t>
            </a:r>
          </a:p>
          <a:p>
            <a:r>
              <a:rPr lang="en" dirty="0">
                <a:solidFill>
                  <a:schemeClr val="bg1"/>
                </a:solidFill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устранить дубликаты.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Бизнес-трансформации</a:t>
            </a:r>
          </a:p>
          <a:p>
            <a:r>
              <a:rPr lang="ru-RU" dirty="0">
                <a:solidFill>
                  <a:schemeClr val="bg1"/>
                </a:solidFill>
              </a:rPr>
              <a:t>• определить чистую выручку;</a:t>
            </a:r>
          </a:p>
          <a:p>
            <a:r>
              <a:rPr lang="ru-RU" dirty="0">
                <a:solidFill>
                  <a:schemeClr val="bg1"/>
                </a:solidFill>
              </a:rPr>
              <a:t>• исключить отменённые продажи из определённого показателя;</a:t>
            </a:r>
          </a:p>
          <a:p>
            <a:r>
              <a:rPr lang="ru-RU" dirty="0">
                <a:solidFill>
                  <a:schemeClr val="bg1"/>
                </a:solidFill>
              </a:rPr>
              <a:t>• привести статусы к единому справочнику;</a:t>
            </a:r>
          </a:p>
          <a:p>
            <a:r>
              <a:rPr lang="ru-RU" dirty="0">
                <a:solidFill>
                  <a:schemeClr val="bg1"/>
                </a:solidFill>
              </a:rPr>
              <a:t>• связать товар с категорией;</a:t>
            </a:r>
          </a:p>
          <a:p>
            <a:r>
              <a:rPr lang="ru-RU" dirty="0">
                <a:solidFill>
                  <a:schemeClr val="bg1"/>
                </a:solidFill>
              </a:rPr>
              <a:t>• рассчитать маржу по согласованному правилу.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9D31B-A6BC-43F5-B682-974FA5F016B1}"/>
              </a:ext>
            </a:extLst>
          </p:cNvPr>
          <p:cNvSpPr txBox="1"/>
          <p:nvPr/>
        </p:nvSpPr>
        <p:spPr>
          <a:xfrm>
            <a:off x="268417" y="1859339"/>
            <a:ext cx="57068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Пример:</a:t>
            </a:r>
          </a:p>
          <a:p>
            <a:r>
              <a:rPr lang="ru-RU" dirty="0">
                <a:solidFill>
                  <a:schemeClr val="bg1"/>
                </a:solidFill>
              </a:rPr>
              <a:t>Исходная запись:</a:t>
            </a:r>
          </a:p>
          <a:p>
            <a:r>
              <a:rPr lang="en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receipt_id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1001</a:t>
            </a:r>
          </a:p>
          <a:p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 = PAID</a:t>
            </a:r>
          </a:p>
          <a:p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quantity = 2</a:t>
            </a:r>
          </a:p>
          <a:p>
            <a:r>
              <a:rPr lang="en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unit_price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100</a:t>
            </a:r>
          </a:p>
          <a:p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discount = 20</a:t>
            </a:r>
          </a:p>
          <a:p>
            <a:endParaRPr lang="en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Трансформация:</a:t>
            </a:r>
          </a:p>
          <a:p>
            <a:r>
              <a:rPr lang="en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gross_amount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quantity × </a:t>
            </a:r>
            <a:r>
              <a:rPr lang="en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unit_price</a:t>
            </a:r>
            <a:endParaRPr lang="en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net_amount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gross_amount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discount</a:t>
            </a:r>
          </a:p>
          <a:p>
            <a:endParaRPr lang="en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Результат:</a:t>
            </a:r>
          </a:p>
          <a:p>
            <a:r>
              <a:rPr lang="en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gross_amount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200</a:t>
            </a:r>
          </a:p>
          <a:p>
            <a:r>
              <a:rPr lang="en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net_amount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180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FD9B1-0A7F-7CAB-138C-995F67DA5B45}"/>
              </a:ext>
            </a:extLst>
          </p:cNvPr>
          <p:cNvSpPr txBox="1"/>
          <p:nvPr/>
        </p:nvSpPr>
        <p:spPr>
          <a:xfrm>
            <a:off x="268417" y="1859339"/>
            <a:ext cx="57068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chemeClr val="bg1"/>
                </a:solidFill>
              </a:rPr>
              <a:t>Python</a:t>
            </a:r>
          </a:p>
          <a:p>
            <a:r>
              <a:rPr lang="ru-RU" dirty="0">
                <a:solidFill>
                  <a:schemeClr val="bg1"/>
                </a:solidFill>
              </a:rPr>
              <a:t>Сложная логика, обработка файлов, вызовы </a:t>
            </a:r>
            <a:r>
              <a:rPr lang="en" dirty="0">
                <a:solidFill>
                  <a:schemeClr val="bg1"/>
                </a:solidFill>
              </a:rPr>
              <a:t>API, </a:t>
            </a:r>
            <a:r>
              <a:rPr lang="ru-RU" dirty="0">
                <a:solidFill>
                  <a:schemeClr val="bg1"/>
                </a:solidFill>
              </a:rPr>
              <a:t>нестандартные преобразования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SQL </a:t>
            </a: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en" dirty="0">
                <a:solidFill>
                  <a:schemeClr val="bg1"/>
                </a:solidFill>
              </a:rPr>
              <a:t>PostgreSQL</a:t>
            </a:r>
          </a:p>
          <a:p>
            <a:r>
              <a:rPr lang="ru-RU" dirty="0">
                <a:solidFill>
                  <a:schemeClr val="bg1"/>
                </a:solidFill>
              </a:rPr>
              <a:t>Небольшие извлечения и операции, которые не создают чрезмерную нагрузку на </a:t>
            </a:r>
            <a:r>
              <a:rPr lang="en" dirty="0">
                <a:solidFill>
                  <a:schemeClr val="bg1"/>
                </a:solidFill>
              </a:rPr>
              <a:t>production</a:t>
            </a:r>
          </a:p>
          <a:p>
            <a:endParaRPr lang="en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SQL </a:t>
            </a: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en" dirty="0" err="1">
                <a:solidFill>
                  <a:schemeClr val="bg1"/>
                </a:solidFill>
              </a:rPr>
              <a:t>ClickHouse</a:t>
            </a:r>
            <a:endParaRPr lang="en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Аналитические преобразования и построение витрин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Processing-</a:t>
            </a:r>
            <a:r>
              <a:rPr lang="ru-RU" dirty="0">
                <a:solidFill>
                  <a:schemeClr val="bg1"/>
                </a:solidFill>
              </a:rPr>
              <a:t>компонент</a:t>
            </a:r>
          </a:p>
          <a:p>
            <a:r>
              <a:rPr lang="ru-RU" dirty="0">
                <a:solidFill>
                  <a:schemeClr val="bg1"/>
                </a:solidFill>
              </a:rPr>
              <a:t>Специализированная обработка больших объёмов или сложных потоков</a:t>
            </a:r>
          </a:p>
        </p:txBody>
      </p:sp>
    </p:spTree>
    <p:extLst>
      <p:ext uri="{BB962C8B-B14F-4D97-AF65-F5344CB8AC3E}">
        <p14:creationId xmlns:p14="http://schemas.microsoft.com/office/powerpoint/2010/main" val="311834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3" grpId="0"/>
      <p:bldP spid="3" grpId="1"/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6550-C8D9-6179-4C2A-F676C9A0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3E92ECF-DFA1-774F-E702-1D8A43878F5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4BF23CEC-78D8-FB6B-8B08-C547BEF3EC1E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6162978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Качество данных: что </a:t>
            </a:r>
            <a:r>
              <a:rPr lang="ru-RU" dirty="0">
                <a:solidFill>
                  <a:srgbClr val="FF0000"/>
                </a:solidFill>
              </a:rPr>
              <a:t>проверять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CB564B5-B0C5-3D90-CA71-E2DA3D860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9640892A-4C72-D5BC-90CA-6D8709AEE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140539"/>
              </p:ext>
            </p:extLst>
          </p:nvPr>
        </p:nvGraphicFramePr>
        <p:xfrm>
          <a:off x="259087" y="1984446"/>
          <a:ext cx="5690093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619">
                  <a:extLst>
                    <a:ext uri="{9D8B030D-6E8A-4147-A177-3AD203B41FA5}">
                      <a16:colId xmlns:a16="http://schemas.microsoft.com/office/drawing/2014/main" val="286826381"/>
                    </a:ext>
                  </a:extLst>
                </a:gridCol>
                <a:gridCol w="344392">
                  <a:extLst>
                    <a:ext uri="{9D8B030D-6E8A-4147-A177-3AD203B41FA5}">
                      <a16:colId xmlns:a16="http://schemas.microsoft.com/office/drawing/2014/main" val="1217629450"/>
                    </a:ext>
                  </a:extLst>
                </a:gridCol>
                <a:gridCol w="3117082">
                  <a:extLst>
                    <a:ext uri="{9D8B030D-6E8A-4147-A177-3AD203B41FA5}">
                      <a16:colId xmlns:a16="http://schemas.microsoft.com/office/drawing/2014/main" val="432926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Проверка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Пример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8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Completeness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-полнота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 ожидаемый интервал пришли данные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92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Uniqueness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- уникальность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Нет повторов одного </a:t>
                      </a: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receipt_id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и </a:t>
                      </a: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line_id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65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Validity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- допустимость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quantity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&gt; 0, статус входит в справочник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09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Consistency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- согласованность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Сумма строк чека совпадает с суммой чека с учётом бизнес-правил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62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Freshness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- свежесть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Последние данные не старше установленного порога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4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Referential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integrity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- ссылочная целостность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У каждого </a:t>
                      </a: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product_id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есть соответствующий товар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16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2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534C2-76F9-B7BA-35DF-3B66864F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FCFC0D7-4CEF-F541-407F-C3CD5B6FBBC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42EB8ECD-ECBA-96CC-E446-CD4CB078CFE9}"/>
              </a:ext>
            </a:extLst>
          </p:cNvPr>
          <p:cNvSpPr txBox="1">
            <a:spLocks/>
          </p:cNvSpPr>
          <p:nvPr/>
        </p:nvSpPr>
        <p:spPr>
          <a:xfrm>
            <a:off x="174026" y="983031"/>
            <a:ext cx="6481955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rgbClr val="FF0000"/>
                </a:solidFill>
              </a:rPr>
              <a:t>Идемпотентность</a:t>
            </a:r>
            <a:r>
              <a:rPr lang="ru-RU" sz="3200" dirty="0">
                <a:solidFill>
                  <a:schemeClr val="bg1"/>
                </a:solidFill>
              </a:rPr>
              <a:t> и повторный запуск</a:t>
            </a:r>
            <a:endParaRPr lang="ru-RU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71D54E-4EC7-10BC-B4D9-76629325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D8641B-3916-B767-14DD-B13B1DC1CC19}"/>
              </a:ext>
            </a:extLst>
          </p:cNvPr>
          <p:cNvSpPr txBox="1"/>
          <p:nvPr/>
        </p:nvSpPr>
        <p:spPr>
          <a:xfrm>
            <a:off x="268417" y="1859339"/>
            <a:ext cx="57068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Представим: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1. </a:t>
            </a:r>
            <a:r>
              <a:rPr lang="en" dirty="0">
                <a:solidFill>
                  <a:schemeClr val="bg1"/>
                </a:solidFill>
              </a:rPr>
              <a:t>Pipeline </a:t>
            </a:r>
            <a:r>
              <a:rPr lang="ru-RU" dirty="0">
                <a:solidFill>
                  <a:schemeClr val="bg1"/>
                </a:solidFill>
              </a:rPr>
              <a:t>прочитал 10 000 записей.</a:t>
            </a:r>
          </a:p>
          <a:p>
            <a:r>
              <a:rPr lang="ru-RU" dirty="0">
                <a:solidFill>
                  <a:schemeClr val="bg1"/>
                </a:solidFill>
              </a:rPr>
              <a:t>2. Загрузил их в </a:t>
            </a:r>
            <a:r>
              <a:rPr lang="en" dirty="0" err="1">
                <a:solidFill>
                  <a:schemeClr val="bg1"/>
                </a:solidFill>
              </a:rPr>
              <a:t>ClickHouse</a:t>
            </a:r>
            <a:r>
              <a:rPr lang="en" dirty="0">
                <a:solidFill>
                  <a:schemeClr val="bg1"/>
                </a:solidFill>
              </a:rPr>
              <a:t>.</a:t>
            </a:r>
          </a:p>
          <a:p>
            <a:r>
              <a:rPr lang="en" dirty="0">
                <a:solidFill>
                  <a:schemeClr val="bg1"/>
                </a:solidFill>
              </a:rPr>
              <a:t>3. </a:t>
            </a:r>
            <a:r>
              <a:rPr lang="ru-RU" dirty="0">
                <a:solidFill>
                  <a:schemeClr val="bg1"/>
                </a:solidFill>
              </a:rPr>
              <a:t>Упал до записи статуса успешного выполнения.</a:t>
            </a:r>
          </a:p>
          <a:p>
            <a:r>
              <a:rPr lang="ru-RU" dirty="0">
                <a:solidFill>
                  <a:schemeClr val="bg1"/>
                </a:solidFill>
              </a:rPr>
              <a:t>4. </a:t>
            </a:r>
            <a:r>
              <a:rPr lang="en" dirty="0">
                <a:solidFill>
                  <a:schemeClr val="bg1"/>
                </a:solidFill>
              </a:rPr>
              <a:t>Airflow </a:t>
            </a:r>
            <a:r>
              <a:rPr lang="ru-RU" dirty="0">
                <a:solidFill>
                  <a:schemeClr val="bg1"/>
                </a:solidFill>
              </a:rPr>
              <a:t>запустил задачу повторно.</a:t>
            </a:r>
          </a:p>
          <a:p>
            <a:r>
              <a:rPr lang="ru-RU" dirty="0">
                <a:solidFill>
                  <a:schemeClr val="bg1"/>
                </a:solidFill>
              </a:rPr>
              <a:t>5. Те же 10 000 записей загрузились ещё раз.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F431E-F306-4074-294D-12C759A9C3F9}"/>
              </a:ext>
            </a:extLst>
          </p:cNvPr>
          <p:cNvSpPr txBox="1"/>
          <p:nvPr/>
        </p:nvSpPr>
        <p:spPr>
          <a:xfrm>
            <a:off x="268416" y="3982854"/>
            <a:ext cx="57068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Способы добиться идемпотентности:</a:t>
            </a:r>
          </a:p>
          <a:p>
            <a:r>
              <a:rPr lang="ru-RU" dirty="0">
                <a:solidFill>
                  <a:schemeClr val="bg1"/>
                </a:solidFill>
              </a:rPr>
              <a:t>• определить бизнес-ключ записи;</a:t>
            </a:r>
          </a:p>
          <a:p>
            <a:r>
              <a:rPr lang="ru-RU" dirty="0">
                <a:solidFill>
                  <a:schemeClr val="bg1"/>
                </a:solidFill>
              </a:rPr>
              <a:t>• хранить идентификатор загрузки или интервала;</a:t>
            </a:r>
          </a:p>
          <a:p>
            <a:r>
              <a:rPr lang="ru-RU" dirty="0">
                <a:solidFill>
                  <a:schemeClr val="bg1"/>
                </a:solidFill>
              </a:rPr>
              <a:t>• загружать данные во временный слой;</a:t>
            </a:r>
          </a:p>
          <a:p>
            <a:r>
              <a:rPr lang="ru-RU" dirty="0">
                <a:solidFill>
                  <a:schemeClr val="bg1"/>
                </a:solidFill>
              </a:rPr>
              <a:t>• </a:t>
            </a:r>
            <a:r>
              <a:rPr lang="ru-RU" dirty="0" err="1">
                <a:solidFill>
                  <a:schemeClr val="bg1"/>
                </a:solidFill>
              </a:rPr>
              <a:t>дедуплицировать</a:t>
            </a:r>
            <a:r>
              <a:rPr lang="ru-RU" dirty="0">
                <a:solidFill>
                  <a:schemeClr val="bg1"/>
                </a:solidFill>
              </a:rPr>
              <a:t> записи по ключу и версии;</a:t>
            </a:r>
          </a:p>
          <a:p>
            <a:r>
              <a:rPr lang="ru-RU" dirty="0">
                <a:solidFill>
                  <a:schemeClr val="bg1"/>
                </a:solidFill>
              </a:rPr>
              <a:t>• использовать корректную стратегию обновления или замены данных;</a:t>
            </a:r>
          </a:p>
          <a:p>
            <a:r>
              <a:rPr lang="ru-RU" dirty="0">
                <a:solidFill>
                  <a:schemeClr val="bg1"/>
                </a:solidFill>
              </a:rPr>
              <a:t>• публиковать результаты только после успешной проверки.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3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9EE9-C3B0-5FE0-6408-3EE784143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0D14DCC-9F5B-2445-09ED-8D508EFBCC9C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A68242F2-35BF-65B5-5DF2-06F58359A459}"/>
              </a:ext>
            </a:extLst>
          </p:cNvPr>
          <p:cNvSpPr txBox="1">
            <a:spLocks/>
          </p:cNvSpPr>
          <p:nvPr/>
        </p:nvSpPr>
        <p:spPr>
          <a:xfrm>
            <a:off x="174026" y="983031"/>
            <a:ext cx="6481955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</a:rPr>
              <a:t>Что делать при </a:t>
            </a:r>
            <a:r>
              <a:rPr lang="ru-RU" sz="3200" dirty="0">
                <a:solidFill>
                  <a:srgbClr val="FF0000"/>
                </a:solidFill>
              </a:rPr>
              <a:t>сбоях</a:t>
            </a:r>
            <a:r>
              <a:rPr lang="ru-RU" sz="3200" dirty="0">
                <a:solidFill>
                  <a:schemeClr val="bg1"/>
                </a:solidFill>
              </a:rPr>
              <a:t>?</a:t>
            </a:r>
            <a:endParaRPr lang="ru-RU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6D6FE7A-ADC4-48A8-3594-565CFDC8D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86366F-D538-779F-2894-E3C63AC97694}"/>
              </a:ext>
            </a:extLst>
          </p:cNvPr>
          <p:cNvSpPr txBox="1"/>
          <p:nvPr/>
        </p:nvSpPr>
        <p:spPr>
          <a:xfrm>
            <a:off x="268417" y="1859339"/>
            <a:ext cx="5706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Сценарий </a:t>
            </a:r>
            <a:r>
              <a:rPr lang="en" dirty="0">
                <a:solidFill>
                  <a:schemeClr val="bg1"/>
                </a:solidFill>
              </a:rPr>
              <a:t>A. 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Источник недоступен</a:t>
            </a:r>
          </a:p>
          <a:p>
            <a:r>
              <a:rPr lang="ru-RU" dirty="0">
                <a:solidFill>
                  <a:schemeClr val="bg1"/>
                </a:solidFill>
              </a:rPr>
              <a:t>Например, </a:t>
            </a:r>
            <a:r>
              <a:rPr lang="en" dirty="0">
                <a:solidFill>
                  <a:schemeClr val="bg1"/>
                </a:solidFill>
              </a:rPr>
              <a:t>PostgreSQL </a:t>
            </a:r>
            <a:r>
              <a:rPr lang="ru-RU" dirty="0">
                <a:solidFill>
                  <a:schemeClr val="bg1"/>
                </a:solidFill>
              </a:rPr>
              <a:t>не отвечает.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41DF1-91A5-D843-725E-317E8CEF1E80}"/>
              </a:ext>
            </a:extLst>
          </p:cNvPr>
          <p:cNvSpPr txBox="1"/>
          <p:nvPr/>
        </p:nvSpPr>
        <p:spPr>
          <a:xfrm>
            <a:off x="268417" y="2782669"/>
            <a:ext cx="57068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Варианты:</a:t>
            </a:r>
          </a:p>
          <a:p>
            <a:r>
              <a:rPr lang="ru-RU" dirty="0">
                <a:solidFill>
                  <a:schemeClr val="bg1"/>
                </a:solidFill>
              </a:rPr>
              <a:t>• ограниченное число повторных попыток;</a:t>
            </a:r>
          </a:p>
          <a:p>
            <a:r>
              <a:rPr lang="ru-RU" dirty="0">
                <a:solidFill>
                  <a:schemeClr val="bg1"/>
                </a:solidFill>
              </a:rPr>
              <a:t>• задержка между попытками;</a:t>
            </a:r>
          </a:p>
          <a:p>
            <a:r>
              <a:rPr lang="ru-RU" dirty="0">
                <a:solidFill>
                  <a:schemeClr val="bg1"/>
                </a:solidFill>
              </a:rPr>
              <a:t>• уведомление после исчерпания попыток;</a:t>
            </a:r>
          </a:p>
          <a:p>
            <a:r>
              <a:rPr lang="ru-RU" dirty="0">
                <a:solidFill>
                  <a:schemeClr val="bg1"/>
                </a:solidFill>
              </a:rPr>
              <a:t>• не продвигать </a:t>
            </a:r>
            <a:r>
              <a:rPr lang="en" dirty="0">
                <a:solidFill>
                  <a:schemeClr val="bg1"/>
                </a:solidFill>
              </a:rPr>
              <a:t>watermark;</a:t>
            </a:r>
          </a:p>
          <a:p>
            <a:r>
              <a:rPr lang="en" dirty="0">
                <a:solidFill>
                  <a:schemeClr val="bg1"/>
                </a:solidFill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сохранить состояние предыдущей успешной загрузки.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20065-308E-56E3-A7A9-C21DA6540B6B}"/>
              </a:ext>
            </a:extLst>
          </p:cNvPr>
          <p:cNvSpPr txBox="1"/>
          <p:nvPr/>
        </p:nvSpPr>
        <p:spPr>
          <a:xfrm>
            <a:off x="268418" y="1859339"/>
            <a:ext cx="5706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Сценарий </a:t>
            </a:r>
            <a:r>
              <a:rPr lang="en" dirty="0">
                <a:solidFill>
                  <a:schemeClr val="bg1"/>
                </a:solidFill>
              </a:rPr>
              <a:t>B. </a:t>
            </a:r>
            <a:r>
              <a:rPr lang="ru-RU" dirty="0">
                <a:solidFill>
                  <a:schemeClr val="bg1"/>
                </a:solidFill>
              </a:rPr>
              <a:t>Загрузка в </a:t>
            </a:r>
            <a:r>
              <a:rPr lang="en" dirty="0" err="1">
                <a:solidFill>
                  <a:schemeClr val="bg1"/>
                </a:solidFill>
              </a:rPr>
              <a:t>ClickHouse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упала на середине</a:t>
            </a:r>
          </a:p>
          <a:p>
            <a:r>
              <a:rPr lang="ru-RU" dirty="0">
                <a:solidFill>
                  <a:schemeClr val="bg1"/>
                </a:solidFill>
              </a:rPr>
              <a:t>Нужно понять, какие данные уже опубликованы.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8C44D-7B9E-6D18-E362-5999D49E9856}"/>
              </a:ext>
            </a:extLst>
          </p:cNvPr>
          <p:cNvSpPr txBox="1"/>
          <p:nvPr/>
        </p:nvSpPr>
        <p:spPr>
          <a:xfrm>
            <a:off x="268417" y="2592752"/>
            <a:ext cx="57068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Возможные решения:</a:t>
            </a:r>
          </a:p>
          <a:p>
            <a:r>
              <a:rPr lang="ru-RU" dirty="0">
                <a:solidFill>
                  <a:schemeClr val="bg1"/>
                </a:solidFill>
              </a:rPr>
              <a:t>• загрузка сначала в </a:t>
            </a:r>
            <a:r>
              <a:rPr lang="en" dirty="0">
                <a:solidFill>
                  <a:schemeClr val="bg1"/>
                </a:solidFill>
              </a:rPr>
              <a:t>staging, </a:t>
            </a:r>
            <a:r>
              <a:rPr lang="ru-RU" dirty="0">
                <a:solidFill>
                  <a:schemeClr val="bg1"/>
                </a:solidFill>
              </a:rPr>
              <a:t>затем публикация;</a:t>
            </a:r>
          </a:p>
          <a:p>
            <a:r>
              <a:rPr lang="ru-RU" dirty="0">
                <a:solidFill>
                  <a:schemeClr val="bg1"/>
                </a:solidFill>
              </a:rPr>
              <a:t>• атомарная замена </a:t>
            </a:r>
            <a:r>
              <a:rPr lang="ru-RU" dirty="0" err="1">
                <a:solidFill>
                  <a:schemeClr val="bg1"/>
                </a:solidFill>
              </a:rPr>
              <a:t>партиции</a:t>
            </a:r>
            <a:r>
              <a:rPr lang="ru-RU" dirty="0">
                <a:solidFill>
                  <a:schemeClr val="bg1"/>
                </a:solidFill>
              </a:rPr>
              <a:t>, если это подходит модели и возможностям системы;</a:t>
            </a:r>
          </a:p>
          <a:p>
            <a:r>
              <a:rPr lang="ru-RU" dirty="0">
                <a:solidFill>
                  <a:schemeClr val="bg1"/>
                </a:solidFill>
              </a:rPr>
              <a:t>• повторная загрузка идемпотентной порции;</a:t>
            </a:r>
          </a:p>
          <a:p>
            <a:r>
              <a:rPr lang="ru-RU" dirty="0">
                <a:solidFill>
                  <a:schemeClr val="bg1"/>
                </a:solidFill>
              </a:rPr>
              <a:t>• контроль по </a:t>
            </a:r>
            <a:r>
              <a:rPr lang="en" dirty="0" err="1">
                <a:solidFill>
                  <a:schemeClr val="bg1"/>
                </a:solidFill>
              </a:rPr>
              <a:t>batch_id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и количеству записей.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9DE6C-C64F-79CF-F846-AE4F205FB4DA}"/>
              </a:ext>
            </a:extLst>
          </p:cNvPr>
          <p:cNvSpPr txBox="1"/>
          <p:nvPr/>
        </p:nvSpPr>
        <p:spPr>
          <a:xfrm>
            <a:off x="268417" y="1849972"/>
            <a:ext cx="5706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Сценарий </a:t>
            </a:r>
            <a:r>
              <a:rPr lang="en" dirty="0">
                <a:solidFill>
                  <a:schemeClr val="bg1"/>
                </a:solidFill>
              </a:rPr>
              <a:t>C. </a:t>
            </a:r>
            <a:r>
              <a:rPr lang="ru-RU" dirty="0">
                <a:solidFill>
                  <a:schemeClr val="bg1"/>
                </a:solidFill>
              </a:rPr>
              <a:t>Данные пришли, но проверка качества не прошла</a:t>
            </a:r>
          </a:p>
          <a:p>
            <a:r>
              <a:rPr lang="ru-RU" dirty="0">
                <a:solidFill>
                  <a:schemeClr val="bg1"/>
                </a:solidFill>
              </a:rPr>
              <a:t>Например, обнаружены неизвестные статусы.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77D8F-0188-88A3-2FC8-A1D6028AEEA3}"/>
              </a:ext>
            </a:extLst>
          </p:cNvPr>
          <p:cNvSpPr txBox="1"/>
          <p:nvPr/>
        </p:nvSpPr>
        <p:spPr>
          <a:xfrm>
            <a:off x="268416" y="2835582"/>
            <a:ext cx="57068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Варианты:</a:t>
            </a:r>
          </a:p>
          <a:p>
            <a:r>
              <a:rPr lang="ru-RU" dirty="0">
                <a:solidFill>
                  <a:schemeClr val="bg1"/>
                </a:solidFill>
              </a:rPr>
              <a:t>• остановить публикацию;</a:t>
            </a:r>
          </a:p>
          <a:p>
            <a:r>
              <a:rPr lang="ru-RU" dirty="0">
                <a:solidFill>
                  <a:schemeClr val="bg1"/>
                </a:solidFill>
              </a:rPr>
              <a:t>• отправить ошибочные записи в </a:t>
            </a:r>
            <a:r>
              <a:rPr lang="en" dirty="0">
                <a:solidFill>
                  <a:schemeClr val="bg1"/>
                </a:solidFill>
              </a:rPr>
              <a:t>quarantine;</a:t>
            </a:r>
          </a:p>
          <a:p>
            <a:r>
              <a:rPr lang="en" dirty="0">
                <a:solidFill>
                  <a:schemeClr val="bg1"/>
                </a:solidFill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сохранить исходные данные для повторной обработки;</a:t>
            </a:r>
          </a:p>
          <a:p>
            <a:r>
              <a:rPr lang="ru-RU" dirty="0">
                <a:solidFill>
                  <a:schemeClr val="bg1"/>
                </a:solidFill>
              </a:rPr>
              <a:t>• уведомить ответственного.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000C22-C4D7-61C3-3139-6D05FFA499C3}"/>
              </a:ext>
            </a:extLst>
          </p:cNvPr>
          <p:cNvSpPr txBox="1"/>
          <p:nvPr/>
        </p:nvSpPr>
        <p:spPr>
          <a:xfrm>
            <a:off x="268416" y="1849972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Сценарий </a:t>
            </a:r>
            <a:r>
              <a:rPr lang="ru-RU" dirty="0" err="1">
                <a:solidFill>
                  <a:schemeClr val="bg1"/>
                </a:solidFill>
              </a:rPr>
              <a:t>D</a:t>
            </a:r>
            <a:r>
              <a:rPr lang="ru-RU" dirty="0">
                <a:solidFill>
                  <a:schemeClr val="bg1"/>
                </a:solidFill>
              </a:rPr>
              <a:t>. </a:t>
            </a:r>
            <a:r>
              <a:rPr lang="ru-RU" dirty="0" err="1">
                <a:solidFill>
                  <a:schemeClr val="bg1"/>
                </a:solidFill>
              </a:rPr>
              <a:t>Pipeline</a:t>
            </a:r>
            <a:r>
              <a:rPr lang="ru-RU" dirty="0">
                <a:solidFill>
                  <a:schemeClr val="bg1"/>
                </a:solidFill>
              </a:rPr>
              <a:t> работает, но отстаёт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E3184-A1A4-DA40-6CEC-FF86693B1C0F}"/>
              </a:ext>
            </a:extLst>
          </p:cNvPr>
          <p:cNvSpPr txBox="1"/>
          <p:nvPr/>
        </p:nvSpPr>
        <p:spPr>
          <a:xfrm>
            <a:off x="268416" y="2302270"/>
            <a:ext cx="6172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Например, загрузка запускается каждые 5 минут, но занимает 12 минут.</a:t>
            </a:r>
          </a:p>
          <a:p>
            <a:r>
              <a:rPr lang="ru-RU" dirty="0">
                <a:solidFill>
                  <a:schemeClr val="bg1"/>
                </a:solidFill>
              </a:rPr>
              <a:t>Это уже не просто ошибка отдельного запуска, а проблема производительности и расписания.</a:t>
            </a:r>
          </a:p>
          <a:p>
            <a:r>
              <a:rPr lang="ru-RU" dirty="0">
                <a:solidFill>
                  <a:schemeClr val="bg1"/>
                </a:solidFill>
              </a:rPr>
              <a:t>Нужно контролировать не только статус задачи, но и </a:t>
            </a:r>
            <a:r>
              <a:rPr lang="en" dirty="0">
                <a:solidFill>
                  <a:schemeClr val="bg1"/>
                </a:solidFill>
              </a:rPr>
              <a:t>lag — </a:t>
            </a:r>
            <a:r>
              <a:rPr lang="ru-RU" dirty="0">
                <a:solidFill>
                  <a:schemeClr val="bg1"/>
                </a:solidFill>
              </a:rPr>
              <a:t>отставание данных от источника.</a:t>
            </a:r>
          </a:p>
        </p:txBody>
      </p:sp>
    </p:spTree>
    <p:extLst>
      <p:ext uri="{BB962C8B-B14F-4D97-AF65-F5344CB8AC3E}">
        <p14:creationId xmlns:p14="http://schemas.microsoft.com/office/powerpoint/2010/main" val="414764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3" grpId="1"/>
      <p:bldP spid="4" grpId="0"/>
      <p:bldP spid="4" grpId="1"/>
      <p:bldP spid="7" grpId="0"/>
      <p:bldP spid="7" grpId="1"/>
      <p:bldP spid="8" grpId="0"/>
      <p:bldP spid="8" grpId="1"/>
      <p:bldP spid="9" grpId="0"/>
      <p:bldP spid="9" grpId="1"/>
      <p:bldP spid="12" grpId="0"/>
      <p:bldP spid="12" grpId="1"/>
      <p:bldP spid="13" grpId="0"/>
      <p:bldP spid="1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07A55-8815-C246-194E-F62B87EE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83DB60D-17A6-5BB6-938A-C7A0FCD88E3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F5C9EB44-E0B5-7EAA-D1BE-F433C197470F}"/>
              </a:ext>
            </a:extLst>
          </p:cNvPr>
          <p:cNvSpPr txBox="1">
            <a:spLocks/>
          </p:cNvSpPr>
          <p:nvPr/>
        </p:nvSpPr>
        <p:spPr>
          <a:xfrm>
            <a:off x="174026" y="983031"/>
            <a:ext cx="6481955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 err="1">
                <a:solidFill>
                  <a:schemeClr val="bg1"/>
                </a:solidFill>
              </a:rPr>
              <a:t>Оркестрация</a:t>
            </a:r>
            <a:r>
              <a:rPr lang="ru-RU" sz="3200" dirty="0">
                <a:solidFill>
                  <a:schemeClr val="bg1"/>
                </a:solidFill>
              </a:rPr>
              <a:t>: роль </a:t>
            </a:r>
            <a:r>
              <a:rPr lang="en" sz="3200" dirty="0">
                <a:solidFill>
                  <a:srgbClr val="FF0000"/>
                </a:solidFill>
              </a:rPr>
              <a:t>Airflow</a:t>
            </a:r>
            <a:endParaRPr lang="ru-RU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16A6AA-A4D2-2545-067A-9C99083A8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9056C6-8D68-5057-BC07-603E110DA7F5}"/>
              </a:ext>
            </a:extLst>
          </p:cNvPr>
          <p:cNvSpPr txBox="1"/>
          <p:nvPr/>
        </p:nvSpPr>
        <p:spPr>
          <a:xfrm>
            <a:off x="268417" y="1859339"/>
            <a:ext cx="5706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dirty="0">
                <a:solidFill>
                  <a:srgbClr val="FF0000"/>
                </a:solidFill>
              </a:rPr>
              <a:t>Airflow</a:t>
            </a:r>
            <a:r>
              <a:rPr lang="en" dirty="0">
                <a:solidFill>
                  <a:schemeClr val="bg1"/>
                </a:solidFill>
              </a:rPr>
              <a:t> — </a:t>
            </a:r>
            <a:r>
              <a:rPr lang="ru-RU" dirty="0">
                <a:solidFill>
                  <a:schemeClr val="bg1"/>
                </a:solidFill>
              </a:rPr>
              <a:t>инструмент </a:t>
            </a:r>
            <a:r>
              <a:rPr lang="ru-RU" dirty="0" err="1">
                <a:solidFill>
                  <a:schemeClr val="bg1"/>
                </a:solidFill>
              </a:rPr>
              <a:t>оркестрации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" dirty="0">
                <a:solidFill>
                  <a:schemeClr val="bg1"/>
                </a:solidFill>
              </a:rPr>
              <a:t>workflow. </a:t>
            </a:r>
            <a:endParaRPr lang="ru-RU" dirty="0">
              <a:solidFill>
                <a:schemeClr val="bg1"/>
              </a:solidFill>
            </a:endParaRPr>
          </a:p>
          <a:p>
            <a:pPr algn="just"/>
            <a:r>
              <a:rPr lang="ru-RU" dirty="0">
                <a:solidFill>
                  <a:schemeClr val="bg1"/>
                </a:solidFill>
              </a:rPr>
              <a:t>Он управляет зависимостями задач, расписанием, повторами и состоянием выполнения.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4A4C3-373A-CC3A-CBD9-38139C65873C}"/>
              </a:ext>
            </a:extLst>
          </p:cNvPr>
          <p:cNvSpPr txBox="1"/>
          <p:nvPr/>
        </p:nvSpPr>
        <p:spPr>
          <a:xfrm>
            <a:off x="268417" y="2808691"/>
            <a:ext cx="57068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Что </a:t>
            </a:r>
            <a:r>
              <a:rPr lang="en" dirty="0">
                <a:solidFill>
                  <a:schemeClr val="bg1"/>
                </a:solidFill>
              </a:rPr>
              <a:t>Airflow </a:t>
            </a:r>
            <a:r>
              <a:rPr lang="ru-RU" dirty="0">
                <a:solidFill>
                  <a:srgbClr val="FF0000"/>
                </a:solidFill>
              </a:rPr>
              <a:t>делает</a:t>
            </a:r>
          </a:p>
          <a:p>
            <a:r>
              <a:rPr lang="ru-RU" dirty="0">
                <a:solidFill>
                  <a:schemeClr val="bg1"/>
                </a:solidFill>
              </a:rPr>
              <a:t>• запускает задачи по расписанию;</a:t>
            </a:r>
          </a:p>
          <a:p>
            <a:r>
              <a:rPr lang="ru-RU" dirty="0">
                <a:solidFill>
                  <a:schemeClr val="bg1"/>
                </a:solidFill>
              </a:rPr>
              <a:t>• обеспечивает порядок выполнения;</a:t>
            </a:r>
          </a:p>
          <a:p>
            <a:r>
              <a:rPr lang="ru-RU" dirty="0">
                <a:solidFill>
                  <a:schemeClr val="bg1"/>
                </a:solidFill>
              </a:rPr>
              <a:t>• управляет зависимостями;</a:t>
            </a:r>
          </a:p>
          <a:p>
            <a:r>
              <a:rPr lang="ru-RU" dirty="0">
                <a:solidFill>
                  <a:schemeClr val="bg1"/>
                </a:solidFill>
              </a:rPr>
              <a:t>• позволяет настроить </a:t>
            </a:r>
            <a:r>
              <a:rPr lang="en" dirty="0">
                <a:solidFill>
                  <a:schemeClr val="bg1"/>
                </a:solidFill>
              </a:rPr>
              <a:t>retry;</a:t>
            </a:r>
          </a:p>
          <a:p>
            <a:r>
              <a:rPr lang="en" dirty="0">
                <a:solidFill>
                  <a:schemeClr val="bg1"/>
                </a:solidFill>
              </a:rPr>
              <a:t>• </a:t>
            </a:r>
            <a:r>
              <a:rPr lang="ru-RU" dirty="0">
                <a:solidFill>
                  <a:schemeClr val="bg1"/>
                </a:solidFill>
              </a:rPr>
              <a:t>хранит историю запусков и статусы;</a:t>
            </a:r>
          </a:p>
          <a:p>
            <a:r>
              <a:rPr lang="ru-RU" dirty="0">
                <a:solidFill>
                  <a:schemeClr val="bg1"/>
                </a:solidFill>
              </a:rPr>
              <a:t>• помогает отслеживать ошибки.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Чего </a:t>
            </a:r>
            <a:r>
              <a:rPr lang="en" dirty="0">
                <a:solidFill>
                  <a:schemeClr val="bg1"/>
                </a:solidFill>
              </a:rPr>
              <a:t>Airflow </a:t>
            </a:r>
            <a:r>
              <a:rPr lang="ru-RU" dirty="0">
                <a:solidFill>
                  <a:schemeClr val="bg1"/>
                </a:solidFill>
              </a:rPr>
              <a:t>сам по себе </a:t>
            </a:r>
            <a:r>
              <a:rPr lang="ru-RU" dirty="0">
                <a:solidFill>
                  <a:srgbClr val="FF0000"/>
                </a:solidFill>
              </a:rPr>
              <a:t>не делает</a:t>
            </a:r>
          </a:p>
          <a:p>
            <a:r>
              <a:rPr lang="ru-RU" dirty="0">
                <a:solidFill>
                  <a:schemeClr val="bg1"/>
                </a:solidFill>
              </a:rPr>
              <a:t>• не гарантирует корректность данных;</a:t>
            </a:r>
          </a:p>
          <a:p>
            <a:r>
              <a:rPr lang="ru-RU" dirty="0">
                <a:solidFill>
                  <a:schemeClr val="bg1"/>
                </a:solidFill>
              </a:rPr>
              <a:t>• не делает операции автоматически идемпотентными;</a:t>
            </a:r>
          </a:p>
          <a:p>
            <a:r>
              <a:rPr lang="ru-RU" dirty="0">
                <a:solidFill>
                  <a:schemeClr val="bg1"/>
                </a:solidFill>
              </a:rPr>
              <a:t>• не заменяет хранилище;</a:t>
            </a:r>
          </a:p>
          <a:p>
            <a:r>
              <a:rPr lang="ru-RU" dirty="0">
                <a:solidFill>
                  <a:schemeClr val="bg1"/>
                </a:solidFill>
              </a:rPr>
              <a:t>• не заменяет систему качества данных;</a:t>
            </a:r>
          </a:p>
          <a:p>
            <a:r>
              <a:rPr lang="ru-RU" dirty="0">
                <a:solidFill>
                  <a:schemeClr val="bg1"/>
                </a:solidFill>
              </a:rPr>
              <a:t>• не превращает любой скрипт в надёжный </a:t>
            </a:r>
            <a:r>
              <a:rPr lang="en" dirty="0">
                <a:solidFill>
                  <a:schemeClr val="bg1"/>
                </a:solidFill>
              </a:rPr>
              <a:t>pipeline.</a:t>
            </a:r>
          </a:p>
        </p:txBody>
      </p:sp>
    </p:spTree>
    <p:extLst>
      <p:ext uri="{BB962C8B-B14F-4D97-AF65-F5344CB8AC3E}">
        <p14:creationId xmlns:p14="http://schemas.microsoft.com/office/powerpoint/2010/main" val="413691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3CF09-EC02-B7D4-D9AD-047BDCFA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CC93F62-8C69-A83A-74A7-C6D9AF8C7B2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30EEEC05-2824-3A42-74D1-2613E30F2499}"/>
              </a:ext>
            </a:extLst>
          </p:cNvPr>
          <p:cNvSpPr txBox="1">
            <a:spLocks/>
          </p:cNvSpPr>
          <p:nvPr/>
        </p:nvSpPr>
        <p:spPr>
          <a:xfrm>
            <a:off x="174026" y="983031"/>
            <a:ext cx="6481955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</a:rPr>
              <a:t>Расписание и </a:t>
            </a:r>
            <a:r>
              <a:rPr lang="en" sz="3200" dirty="0">
                <a:solidFill>
                  <a:schemeClr val="bg1"/>
                </a:solidFill>
              </a:rPr>
              <a:t>freshness</a:t>
            </a:r>
            <a:endParaRPr lang="ru-RU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267BD2C-A37E-6FF5-4B9C-C952DB373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1E766-8D3D-ACB5-CFE6-B8C89F45923E}"/>
              </a:ext>
            </a:extLst>
          </p:cNvPr>
          <p:cNvSpPr txBox="1"/>
          <p:nvPr/>
        </p:nvSpPr>
        <p:spPr>
          <a:xfrm>
            <a:off x="268416" y="1607142"/>
            <a:ext cx="57068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Допустим, </a:t>
            </a:r>
            <a:r>
              <a:rPr lang="en" dirty="0">
                <a:solidFill>
                  <a:schemeClr val="bg1"/>
                </a:solidFill>
              </a:rPr>
              <a:t>pipeline </a:t>
            </a:r>
            <a:r>
              <a:rPr lang="ru-RU" dirty="0">
                <a:solidFill>
                  <a:schemeClr val="bg1"/>
                </a:solidFill>
              </a:rPr>
              <a:t>запускается каждые 10 минут.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Это не гарантирует, что данные обновляются каждые 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10 минут.</a:t>
            </a:r>
          </a:p>
          <a:p>
            <a:pPr algn="just"/>
            <a:endParaRPr lang="ru-RU" dirty="0">
              <a:solidFill>
                <a:schemeClr val="bg1"/>
              </a:solidFill>
            </a:endParaRPr>
          </a:p>
          <a:p>
            <a:pPr algn="just"/>
            <a:r>
              <a:rPr lang="ru-RU" dirty="0">
                <a:solidFill>
                  <a:schemeClr val="bg1"/>
                </a:solidFill>
              </a:rPr>
              <a:t>Если одна загрузка занимает 8 минут, а затем возникает очередь, фактическая задержка будет больше.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Нужно различать: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• </a:t>
            </a:r>
            <a:r>
              <a:rPr lang="en" dirty="0">
                <a:solidFill>
                  <a:schemeClr val="bg1"/>
                </a:solidFill>
              </a:rPr>
              <a:t>schedule interval — </a:t>
            </a:r>
            <a:r>
              <a:rPr lang="ru-RU" dirty="0">
                <a:solidFill>
                  <a:schemeClr val="bg1"/>
                </a:solidFill>
              </a:rPr>
              <a:t>как часто запускается процесс;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• </a:t>
            </a:r>
            <a:r>
              <a:rPr lang="en" dirty="0">
                <a:solidFill>
                  <a:schemeClr val="bg1"/>
                </a:solidFill>
              </a:rPr>
              <a:t>duration — </a:t>
            </a:r>
            <a:r>
              <a:rPr lang="ru-RU" dirty="0">
                <a:solidFill>
                  <a:schemeClr val="bg1"/>
                </a:solidFill>
              </a:rPr>
              <a:t>сколько длится запуск;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• </a:t>
            </a:r>
            <a:r>
              <a:rPr lang="en" dirty="0">
                <a:solidFill>
                  <a:schemeClr val="bg1"/>
                </a:solidFill>
              </a:rPr>
              <a:t>freshness — </a:t>
            </a:r>
            <a:r>
              <a:rPr lang="ru-RU" dirty="0">
                <a:solidFill>
                  <a:schemeClr val="bg1"/>
                </a:solidFill>
              </a:rPr>
              <a:t>насколько свежи данные у потребителя;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• </a:t>
            </a:r>
            <a:r>
              <a:rPr lang="en" dirty="0">
                <a:solidFill>
                  <a:schemeClr val="bg1"/>
                </a:solidFill>
              </a:rPr>
              <a:t>lag — </a:t>
            </a:r>
            <a:r>
              <a:rPr lang="ru-RU" dirty="0">
                <a:solidFill>
                  <a:schemeClr val="bg1"/>
                </a:solidFill>
              </a:rPr>
              <a:t>насколько обработка отстаёт от источника.</a:t>
            </a:r>
          </a:p>
        </p:txBody>
      </p:sp>
    </p:spTree>
    <p:extLst>
      <p:ext uri="{BB962C8B-B14F-4D97-AF65-F5344CB8AC3E}">
        <p14:creationId xmlns:p14="http://schemas.microsoft.com/office/powerpoint/2010/main" val="48515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2174</Words>
  <Application>Microsoft Macintosh PowerPoint</Application>
  <PresentationFormat>Широкоэкранный</PresentationFormat>
  <Paragraphs>425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109</cp:revision>
  <dcterms:created xsi:type="dcterms:W3CDTF">2025-08-19T06:56:36Z</dcterms:created>
  <dcterms:modified xsi:type="dcterms:W3CDTF">2026-10-15T15:31:16Z</dcterms:modified>
</cp:coreProperties>
</file>