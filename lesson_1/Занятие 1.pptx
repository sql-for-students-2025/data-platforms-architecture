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08" r:id="rId2"/>
    <p:sldId id="309" r:id="rId3"/>
    <p:sldId id="344" r:id="rId4"/>
    <p:sldId id="319" r:id="rId5"/>
    <p:sldId id="349" r:id="rId6"/>
    <p:sldId id="350" r:id="rId7"/>
    <p:sldId id="347" r:id="rId8"/>
    <p:sldId id="322" r:id="rId9"/>
    <p:sldId id="346" r:id="rId10"/>
    <p:sldId id="323" r:id="rId11"/>
    <p:sldId id="345" r:id="rId12"/>
    <p:sldId id="348" r:id="rId13"/>
    <p:sldId id="351" r:id="rId14"/>
    <p:sldId id="352" r:id="rId15"/>
    <p:sldId id="363" r:id="rId16"/>
    <p:sldId id="354" r:id="rId17"/>
    <p:sldId id="355" r:id="rId18"/>
    <p:sldId id="356" r:id="rId19"/>
    <p:sldId id="357" r:id="rId20"/>
    <p:sldId id="362" r:id="rId21"/>
    <p:sldId id="343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13" autoAdjust="0"/>
    <p:restoredTop sz="77966"/>
  </p:normalViewPr>
  <p:slideViewPr>
    <p:cSldViewPr snapToGrid="0">
      <p:cViewPr varScale="1">
        <p:scale>
          <a:sx n="120" d="100"/>
          <a:sy n="120" d="100"/>
        </p:scale>
        <p:origin x="2384" y="18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245EE-3F3A-D84E-9B98-0B620E298721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571FC-E455-DB48-8A8B-806C134DD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311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984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Рассмотрим самые популярные архитектуры платформ данных. Познакомимся на практике с некоторыми из них. </a:t>
            </a:r>
            <a:endParaRPr lang="ru-R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7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6DEF-8258-9667-F2D5-10FF2CFA9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CB2EAEF-A337-5B62-8904-7F51CA173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254A70-ABD7-778C-DA40-7FE479327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Поговорим о том, как эволюционировали платформы данных и подход к их архитектуре. Отметим плюсы и минусы каждого подхода.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1B6927-D9C5-3DF6-5171-2E31ABC54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363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мы видим как постепенно эволюционировали системы хранения и обработки данных. </a:t>
            </a:r>
          </a:p>
          <a:p>
            <a:r>
              <a:rPr lang="ru-RU" dirty="0"/>
              <a:t>Важно отметить что эволюция была обусловлена не только ростом объемов данных, но и расширением спектра задач, которые необходимо было выполнять над данными. Т.е. не обязательно необходимо использовать только </a:t>
            </a:r>
            <a:r>
              <a:rPr lang="en-US" dirty="0"/>
              <a:t>Lakehouse</a:t>
            </a:r>
            <a:r>
              <a:rPr lang="ru-RU" dirty="0"/>
              <a:t>.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данных эволюционирует не из-за появления новых модных технологий, а потому что меняются объём, разнообразие, скорость обработки и организационная модель работы с данными.</a:t>
            </a:r>
            <a:endParaRPr lang="ru-RU" dirty="0"/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хранятся под конкретные 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Системы становятся сложнее, нужна гибкость модели</a:t>
            </a:r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организуются в таблицы, появляется декларативный SQL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Нужна независимость данных от приложений</a:t>
            </a:r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БД оптимизируются под транзакции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Возникает отдельная проблема аналитики</a:t>
            </a:r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из разных систем собираются в едином хранилище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Нужна корпоративная аналитика и исторические данные</a:t>
            </a:r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готовятся для быстрых аналитических запросов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Растёт объём и сложность аналитики</a:t>
            </a:r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Запросы начинают выполняться параллельно на множестве узлов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 сервер перестаёт справляться с объёмами</a:t>
            </a:r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Дешёвое распределённое хранение + обработка огромных объёмов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становятся слишком большими и разнообразными для классического DWH</a:t>
            </a:r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Сырые данные можно хранить практически в исходном виде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Появляются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JSON,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semi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unstructured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 отделяется от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появляется S3-подобная модель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Нужно дешёвое, масштабируемое и практически неограниченное хранение</a:t>
            </a:r>
          </a:p>
          <a:p>
            <a:pPr marL="228600" indent="-228600"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начинают обрабатываться непрерывно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недостаточен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real-time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требований</a:t>
            </a:r>
          </a:p>
          <a:p>
            <a:pPr marL="228600" indent="-228600"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Ответственность за данные распределяется между доменными командами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Центральная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становится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bottleneck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Lake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получает возможности управления и аналитики DWH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Хотят совместить гибкость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Lake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удобство DWH</a:t>
            </a:r>
          </a:p>
          <a:p>
            <a:pPr marL="228600" indent="-228600">
              <a:buAutoNum type="arabicPeriod"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ru-RU" dirty="0"/>
              <a:t> ЭВОЛЮЦИЯ </a:t>
            </a:r>
            <a:r>
              <a:rPr lang="en" dirty="0"/>
              <a:t>DATA PLATFORM</a:t>
            </a:r>
          </a:p>
          <a:p>
            <a:pPr marL="228600" indent="-228600">
              <a:buAutoNum type="arabicPeriod"/>
            </a:pPr>
            <a:endParaRPr lang="en" dirty="0"/>
          </a:p>
          <a:p>
            <a:pPr marL="228600" indent="-228600">
              <a:buAutoNum type="arabicPeriod"/>
            </a:pPr>
            <a:r>
              <a:rPr lang="en" dirty="0"/>
              <a:t>       ┌──────────────┐</a:t>
            </a:r>
          </a:p>
          <a:p>
            <a:pPr marL="228600" indent="-228600">
              <a:buAutoNum type="arabicPeriod"/>
            </a:pPr>
            <a:r>
              <a:rPr lang="en" dirty="0"/>
              <a:t>       │ </a:t>
            </a:r>
            <a:r>
              <a:rPr lang="ru-RU" dirty="0"/>
              <a:t>ОБЪЁМ        │ ──► больше данных</a:t>
            </a:r>
          </a:p>
          <a:p>
            <a:pPr marL="228600" indent="-228600">
              <a:buAutoNum type="arabicPeriod"/>
            </a:pPr>
            <a:r>
              <a:rPr lang="ru-RU" dirty="0"/>
              <a:t>       └──────────────┘</a:t>
            </a:r>
          </a:p>
          <a:p>
            <a:pPr marL="228600" indent="-228600">
              <a:buAutoNum type="arabicPeriod"/>
            </a:pPr>
            <a:r>
              <a:rPr lang="ru-RU" dirty="0"/>
              <a:t>               │</a:t>
            </a:r>
          </a:p>
          <a:p>
            <a:pPr marL="228600" indent="-228600">
              <a:buAutoNum type="arabicPeriod"/>
            </a:pPr>
            <a:r>
              <a:rPr lang="ru-RU" dirty="0"/>
              <a:t>       ┌──────────────┐</a:t>
            </a:r>
          </a:p>
          <a:p>
            <a:pPr marL="228600" indent="-228600">
              <a:buAutoNum type="arabicPeriod"/>
            </a:pPr>
            <a:r>
              <a:rPr lang="ru-RU" dirty="0"/>
              <a:t>       │ РАЗНООБРАЗИЕ │ ──► больше типов данных</a:t>
            </a:r>
          </a:p>
          <a:p>
            <a:pPr marL="228600" indent="-228600">
              <a:buAutoNum type="arabicPeriod"/>
            </a:pPr>
            <a:r>
              <a:rPr lang="ru-RU" dirty="0"/>
              <a:t>       └──────────────┘</a:t>
            </a:r>
          </a:p>
          <a:p>
            <a:pPr marL="228600" indent="-228600">
              <a:buAutoNum type="arabicPeriod"/>
            </a:pPr>
            <a:r>
              <a:rPr lang="ru-RU" dirty="0"/>
              <a:t>               │</a:t>
            </a:r>
          </a:p>
          <a:p>
            <a:pPr marL="228600" indent="-228600">
              <a:buAutoNum type="arabicPeriod"/>
            </a:pPr>
            <a:r>
              <a:rPr lang="ru-RU" dirty="0"/>
              <a:t>       ┌──────────────┐</a:t>
            </a:r>
          </a:p>
          <a:p>
            <a:pPr marL="228600" indent="-228600">
              <a:buAutoNum type="arabicPeriod"/>
            </a:pPr>
            <a:r>
              <a:rPr lang="ru-RU" dirty="0"/>
              <a:t>       │ СКОРОСТЬ     │ ──► </a:t>
            </a:r>
            <a:r>
              <a:rPr lang="en" dirty="0"/>
              <a:t>batch → streaming</a:t>
            </a:r>
          </a:p>
          <a:p>
            <a:pPr marL="228600" indent="-228600">
              <a:buAutoNum type="arabicPeriod"/>
            </a:pPr>
            <a:r>
              <a:rPr lang="en" dirty="0"/>
              <a:t>       └──────────────┘</a:t>
            </a:r>
          </a:p>
          <a:p>
            <a:pPr marL="228600" indent="-228600">
              <a:buAutoNum type="arabicPeriod"/>
            </a:pPr>
            <a:r>
              <a:rPr lang="en" dirty="0"/>
              <a:t>               │</a:t>
            </a:r>
          </a:p>
          <a:p>
            <a:pPr marL="228600" indent="-228600">
              <a:buAutoNum type="arabicPeriod"/>
            </a:pPr>
            <a:r>
              <a:rPr lang="en" dirty="0"/>
              <a:t>       ┌──────────────┐</a:t>
            </a:r>
          </a:p>
          <a:p>
            <a:pPr marL="228600" indent="-228600">
              <a:buAutoNum type="arabicPeriod"/>
            </a:pPr>
            <a:r>
              <a:rPr lang="en" dirty="0"/>
              <a:t>       │ </a:t>
            </a:r>
            <a:r>
              <a:rPr lang="ru-RU" dirty="0"/>
              <a:t>ОРГАНИЗАЦИЯ  │ ──► централизованно → </a:t>
            </a:r>
            <a:r>
              <a:rPr lang="en" dirty="0"/>
              <a:t>domains</a:t>
            </a:r>
          </a:p>
          <a:p>
            <a:pPr marL="228600" indent="-228600">
              <a:buAutoNum type="arabicPeriod"/>
            </a:pPr>
            <a:r>
              <a:rPr lang="en" dirty="0"/>
              <a:t>       └──────────────┘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080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Условимся,  что говорим про 90-2000е года. </a:t>
            </a:r>
          </a:p>
          <a:p>
            <a:pPr lvl="0" rtl="0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находятся в разных системах;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имеют разные форматы;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разные идентификаторы;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разное качество;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разные владельцы.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DWH — это не просто «большая база». Это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централизованное аналитическое хранилище с согласованными данными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  <a:p>
            <a:r>
              <a:rPr lang="ru-RU" dirty="0"/>
              <a:t>Например, мы хотим проводить аналитику цен на товары среди всех маркетплейсов. Назовем их Синий, Фиолетовый, Желтый и Магнит Маркет. </a:t>
            </a:r>
          </a:p>
          <a:p>
            <a:r>
              <a:rPr lang="ru-RU" dirty="0"/>
              <a:t>Идея – хотим просмотреть каталоги и собрать данные о продукции вплоть до картинок. </a:t>
            </a:r>
          </a:p>
          <a:p>
            <a:r>
              <a:rPr lang="ru-RU" dirty="0"/>
              <a:t>Все это мы зальем в наш ДВХ и будем анализировать. </a:t>
            </a:r>
          </a:p>
          <a:p>
            <a:r>
              <a:rPr lang="ru-RU" dirty="0"/>
              <a:t>В итоге мы получим огромных размеров БД, а стоить это нам будет очень дорого, так как, чтоб нарастить мощность нам необходимо докупить железо и установить на наш сервер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6246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OLTP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Перевод: Системы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обработĸи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транзаĸций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реальном времени. 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Простыми словами: Это «рабочая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лошадĸа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бизнеса. Сюда пишут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ĸаждое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действие пользователя.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Нагрузĸа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Много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маленьĸих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запросов (INSERT / UPDATE одной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строĸи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Данные: Нормализованы (разбиты на много связанных таблиц, чтобы не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дублировать).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Задача: Быстро записать и быстро найти одну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ĸонĸретную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запись по ID.</a:t>
            </a:r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827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2F214-C3C1-3F16-A407-D6CA95991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BBE95EE-D172-8466-E693-1FF4A8BA8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CCF97CA-E933-78B9-A0C8-F58A1B2D4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оформили заказ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Магнит Доставка. Система записала строку №123, товар "Кеды", цена 5000.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FA6438-8991-FB70-23DD-035D838AF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907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OLAP (Online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Analytical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Processing)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Перевод: Системы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аналитичесĸой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обработĸи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Простыми словами: Это «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ĸальĸулятор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босса». Здесь данные меняются «редко», а чаще читаются миллионами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 раз.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Примеры систем: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Greenplum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Vertica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из жизни: Финансовый отчет за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ĸвартал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 пользуется: Топ-менеджмент, маркетологи, дата-сайентисты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Нагрузĸа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Мало запросов, но они очень тяжелые (читают миллиарды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сеĸунду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Данные: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Денормализованы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(собраны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плосĸие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«витрины» с готовыми итогами).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Задача: Ответить на вопрос «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Сĸольĸо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всего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ĸедов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продали за год по всем городам?».</a:t>
            </a:r>
          </a:p>
          <a:p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Схема взаимодействия (ETL): OLTP (PG) --(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Выгрузĸа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раз в час)--&gt; Трансформация (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Airflow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--(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Загрузĸа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)--&gt; OLAP (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2389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 некоторый процесс который подготавливает данные для отчетности и формирует ее.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нем происходит транспорт данных из одного хранилища в другое с некоторыми трансформациями.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подготовленных данных строится аналитика, которая помогает провести оценку показателей и принять управленческие решения.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Задача: Ответить на вопрос «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Сĸольĸо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всего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ĸедов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продали за год по всем городам?».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9127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4C9BE-B43E-87CB-FF7C-0AC3F935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7C0DED5-E1E1-D699-5105-6F3E0CE06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3F929F6-FECF-FC64-D382-F435209FF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Обычная БД (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это 1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грузчиĸ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ĸоторый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тащит диван на 10-й этаж один.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MPP-система (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это 10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грузчиĸов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ĸаждый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берет по 1/10 дивана (по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ĸусĸу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данных) и бежит на свой этаж, а потом результат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сĸладывается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MPP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появился как эволюция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OLAP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 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Самое главное – горизонтальное масштабирование.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GreenPlum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6F487F-FCF2-D0BA-40E6-8C9EC3EE8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885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B205B-6EF1-887F-CFAA-1B1AB4DA6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E52825D-D1A6-D9C1-6ECF-A9D4B8D50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F77AD3B-C22D-7D30-A25E-1EDE5099A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покупать один огромный компьютер, а использовать много относительно дешёвых машин и распределить между ними данные и вычисления.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сути это технология, которая развивалась параллельно с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MPP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но в своей экосистеме.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Хранение выходит так же дешево. </a:t>
            </a:r>
          </a:p>
          <a:p>
            <a:r>
              <a:rPr lang="en-US" sz="1200" dirty="0">
                <a:solidFill>
                  <a:schemeClr val="bg1"/>
                </a:solidFill>
              </a:rPr>
              <a:t>Hadoop </a:t>
            </a:r>
            <a:r>
              <a:rPr lang="ru-RU" sz="1200" dirty="0">
                <a:solidFill>
                  <a:schemeClr val="bg1"/>
                </a:solidFill>
              </a:rPr>
              <a:t>не умеет эффективно работать с малыми объемами данных. Поэтому на вопрос что было за последние 15 минут с продажами ответить сложно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D27E31-E87E-1D17-D9D6-BFD32839E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879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5F5A-4BDF-4137-7DE8-31A04E1B5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19938CB-E787-20F6-C7E3-F56A7B09B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BBFC56D-B42F-CCA3-DBB4-334A0138E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DataLake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появляется параллельно с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Hadoop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но его технологии и идеи стали одним из главных технических оснований. И возникает другая проблема.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Компания хочет хранить: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CSV;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события;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изображения;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сырые данные;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исторические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snapshots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всё удобно складывать непосредственно в DWH.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Храним данные в исходном или близком к исходному виде и обрабатываем их позже.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сначала сохраняем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↓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потом преобразуем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Далее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Hadoop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сменит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 Storage / S3. 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42F314-EB06-B877-F651-3F25BA7AF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59199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CF967-FE2D-038D-B1ED-304C422A1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9A352FA-6D83-5E37-5038-AD2CC3D56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33E01BE-89B4-603C-3797-50B5C4551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Сначала собираются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вагоны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(накапливаются данные за день).</a:t>
            </a: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Когда поезд полный (наступило время), он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отправляется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Едет долго, но везёт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много груза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за раз.</a:t>
            </a: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Задержка — часы/дни.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B83A06-F8E0-CEBD-9DA6-5AA81C973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6818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0ED3E-C1BF-AEF7-B7FF-0B61422B3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0C9D76E-163C-3D48-692E-628388A42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AFC5DAE-9417-6769-1232-1D931C882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BFB9FD-3F9D-AABB-51E9-050830917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5478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D1856-0238-5070-4355-B1A8D982A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A46C877-AA85-1CBD-2AB6-CDA1EF65A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E6A08DD-7CA0-E91E-92B3-29EAD33EC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Когда за все данные отвечает одна команда, то доработки доставляются медленно.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Проще когда каждый отвечает за свои данные.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хранятся децентрализовано, но при этом правила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орнанизации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централизованы, то есть одинаковы для всех. Правила безопасности, именования полей, формат данных, требования к полноте данных, документация. 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B9F85F-7D3A-14C4-B1AC-4CE2686EE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068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2BFA0-11AB-8294-6387-8FBBE5B74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B68EBEC-9CEC-458C-4A2A-B314856E5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87E0AD3-0217-2204-00F3-8A33CE3F8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WAREHOUSE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ETL → DWH → BI / Analytics Плюсы: ✓ структурированные данные ✓ SQL ✓ качество 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governance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✓ быстрое выполнение аналитики Минусы: ✗ дорого хранить огромные объёмы ✗ не очень удобно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raw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semi-structured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✗ данные часто нужно заранее моделировать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LAKE</a:t>
            </a:r>
          </a:p>
          <a:p>
            <a:endParaRPr lang="e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Sources ──────────────► S3 / HDFS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│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┌──────┼──────┐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▼      ▼      ▼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CSV    JSON  Parquet</a:t>
            </a:r>
          </a:p>
          <a:p>
            <a:endParaRPr lang="e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Плюсы: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✓ дешёвое хранение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✓ практически любой формат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✓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raw data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✓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масштабирование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Минусы: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✗ сложно управлять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✗ качество может быть низким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✗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schema-on-read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✗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сложно обеспечить единые правила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✗ аналитика поверх «просто файлов» неудобна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Основная идея — добавить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управляемость и семантику таблиц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Кто-то изменил структуру JSON.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Кто-то перезаписал файл.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Кто-то загрузил неправильные данные.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Возникает вопрос: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это вообще таблица? Какая у неё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Какая версия данных? Кто её изменил?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S3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│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┌──────▼──────┐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│ Table Format │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│ + Metadata   │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└──────┬──────┘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▼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Logical Table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│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┌───────┼───────┐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▼       ▼       ▼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SQL     BI       ML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важно не создать ощущение, что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Lakehouse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финальная точка эволюции.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 решает проблемы Data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Lake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но добавляет свои: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сложность инфраструктуры;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оптимизация файлов;</a:t>
            </a:r>
          </a:p>
          <a:p>
            <a:pPr lvl="0" rtl="0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compaction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lvl="0" rtl="0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partitioning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lvl="0" rtl="0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evolution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lvl="0" rtl="0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concurrency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lvl="0" rtl="0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governance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стоимость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сложность выбора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Поэтому появляется новая проблема: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сделать огромный распределённый слой данных удобным для пользователей и управляемым для организации?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12C6B7-F448-DF79-321C-346B2605D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0687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87EB-8CE8-3330-7BAF-29F2AEE8C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A269B8D-6CB1-07B2-08B6-AC7AF1098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E81EEC0-7484-2CFA-25D9-5CD36B350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мы видим как постепенно эволюционировали системы хранения и обработки данных. </a:t>
            </a:r>
          </a:p>
          <a:p>
            <a:r>
              <a:rPr lang="ru-RU" dirty="0"/>
              <a:t>Важно отметить что эволюция была обусловлена не только ростом объемов данных, но и расширением спектра задач, которые необходимо было выполнять над данными. Т.е. не обязательно необходимо использовать только </a:t>
            </a:r>
            <a:r>
              <a:rPr lang="en-US" dirty="0"/>
              <a:t>Lakehouse</a:t>
            </a:r>
            <a:r>
              <a:rPr lang="ru-RU" dirty="0"/>
              <a:t>.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данных эволюционирует не из-за появления новых модных технологий, а потому что меняются объём, разнообразие, скорость обработки и организационная модель работы с данными.</a:t>
            </a:r>
            <a:endParaRPr lang="ru-RU" dirty="0"/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хранятся под конкретные приложения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Системы становятся сложнее, нужна гибкость модели</a:t>
            </a:r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организуются в таблицы, появляется декларативный SQL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Нужна независимость данных от приложений</a:t>
            </a:r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БД оптимизируются под транзакции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Возникает отдельная проблема аналитики</a:t>
            </a:r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из разных систем собираются в едином хранилище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Нужна корпоративная аналитика и исторические данные</a:t>
            </a:r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готовятся для быстрых аналитических запросов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Растёт объём и сложность аналитики</a:t>
            </a:r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Запросы начинают выполняться параллельно на множестве узлов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 сервер перестаёт справляться с объёмами</a:t>
            </a:r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Дешёвое распределённое хранение + обработка огромных объёмов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становятся слишком большими и разнообразными для классического DWH</a:t>
            </a:r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Сырые данные можно хранить практически в исходном виде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Появляются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JSON,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semi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unstructured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 отделяется от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появляется S3-подобная модель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Нужно дешёвое, масштабируемое и практически неограниченное хранение</a:t>
            </a:r>
          </a:p>
          <a:p>
            <a:pPr marL="228600" indent="-228600"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Данные начинают обрабатываться непрерывно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недостаточен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real-time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требований</a:t>
            </a:r>
          </a:p>
          <a:p>
            <a:pPr marL="228600" indent="-228600"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Ответственность за данные распределяется между доменными командами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Центральная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становится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bottleneck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Lake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получает возможности управления и аналитики DWH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Хотят совместить гибкость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Lake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удобство DWH</a:t>
            </a:r>
          </a:p>
          <a:p>
            <a:pPr marL="228600" indent="-228600">
              <a:buAutoNum type="arabicPeriod"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ru-RU" dirty="0"/>
              <a:t> ЭВОЛЮЦИЯ </a:t>
            </a:r>
            <a:r>
              <a:rPr lang="en" dirty="0"/>
              <a:t>DATA PLATFORM</a:t>
            </a:r>
          </a:p>
          <a:p>
            <a:pPr marL="228600" indent="-228600">
              <a:buAutoNum type="arabicPeriod"/>
            </a:pPr>
            <a:endParaRPr lang="en" dirty="0"/>
          </a:p>
          <a:p>
            <a:pPr marL="228600" indent="-228600">
              <a:buAutoNum type="arabicPeriod"/>
            </a:pPr>
            <a:r>
              <a:rPr lang="en" dirty="0"/>
              <a:t>       ┌──────────────┐</a:t>
            </a:r>
          </a:p>
          <a:p>
            <a:pPr marL="228600" indent="-228600">
              <a:buAutoNum type="arabicPeriod"/>
            </a:pPr>
            <a:r>
              <a:rPr lang="en" dirty="0"/>
              <a:t>       │ </a:t>
            </a:r>
            <a:r>
              <a:rPr lang="ru-RU" dirty="0"/>
              <a:t>ОБЪЁМ        │ ──► больше данных</a:t>
            </a:r>
          </a:p>
          <a:p>
            <a:pPr marL="228600" indent="-228600">
              <a:buAutoNum type="arabicPeriod"/>
            </a:pPr>
            <a:r>
              <a:rPr lang="ru-RU" dirty="0"/>
              <a:t>       └──────────────┘</a:t>
            </a:r>
          </a:p>
          <a:p>
            <a:pPr marL="228600" indent="-228600">
              <a:buAutoNum type="arabicPeriod"/>
            </a:pPr>
            <a:r>
              <a:rPr lang="ru-RU" dirty="0"/>
              <a:t>               │</a:t>
            </a:r>
          </a:p>
          <a:p>
            <a:pPr marL="228600" indent="-228600">
              <a:buAutoNum type="arabicPeriod"/>
            </a:pPr>
            <a:r>
              <a:rPr lang="ru-RU" dirty="0"/>
              <a:t>       ┌──────────────┐</a:t>
            </a:r>
          </a:p>
          <a:p>
            <a:pPr marL="228600" indent="-228600">
              <a:buAutoNum type="arabicPeriod"/>
            </a:pPr>
            <a:r>
              <a:rPr lang="ru-RU" dirty="0"/>
              <a:t>       │ РАЗНООБРАЗИЕ │ ──► больше типов данных</a:t>
            </a:r>
          </a:p>
          <a:p>
            <a:pPr marL="228600" indent="-228600">
              <a:buAutoNum type="arabicPeriod"/>
            </a:pPr>
            <a:r>
              <a:rPr lang="ru-RU" dirty="0"/>
              <a:t>       └──────────────┘</a:t>
            </a:r>
          </a:p>
          <a:p>
            <a:pPr marL="228600" indent="-228600">
              <a:buAutoNum type="arabicPeriod"/>
            </a:pPr>
            <a:r>
              <a:rPr lang="ru-RU" dirty="0"/>
              <a:t>               │</a:t>
            </a:r>
          </a:p>
          <a:p>
            <a:pPr marL="228600" indent="-228600">
              <a:buAutoNum type="arabicPeriod"/>
            </a:pPr>
            <a:r>
              <a:rPr lang="ru-RU" dirty="0"/>
              <a:t>       ┌──────────────┐</a:t>
            </a:r>
          </a:p>
          <a:p>
            <a:pPr marL="228600" indent="-228600">
              <a:buAutoNum type="arabicPeriod"/>
            </a:pPr>
            <a:r>
              <a:rPr lang="ru-RU" dirty="0"/>
              <a:t>       │ СКОРОСТЬ     │ ──► </a:t>
            </a:r>
            <a:r>
              <a:rPr lang="en" dirty="0"/>
              <a:t>batch → streaming</a:t>
            </a:r>
          </a:p>
          <a:p>
            <a:pPr marL="228600" indent="-228600">
              <a:buAutoNum type="arabicPeriod"/>
            </a:pPr>
            <a:r>
              <a:rPr lang="en" dirty="0"/>
              <a:t>       └──────────────┘</a:t>
            </a:r>
          </a:p>
          <a:p>
            <a:pPr marL="228600" indent="-228600">
              <a:buAutoNum type="arabicPeriod"/>
            </a:pPr>
            <a:r>
              <a:rPr lang="en" dirty="0"/>
              <a:t>               │</a:t>
            </a:r>
          </a:p>
          <a:p>
            <a:pPr marL="228600" indent="-228600">
              <a:buAutoNum type="arabicPeriod"/>
            </a:pPr>
            <a:r>
              <a:rPr lang="en" dirty="0"/>
              <a:t>       ┌──────────────┐</a:t>
            </a:r>
          </a:p>
          <a:p>
            <a:pPr marL="228600" indent="-228600">
              <a:buAutoNum type="arabicPeriod"/>
            </a:pPr>
            <a:r>
              <a:rPr lang="en" dirty="0"/>
              <a:t>       │ </a:t>
            </a:r>
            <a:r>
              <a:rPr lang="ru-RU" dirty="0"/>
              <a:t>ОРГАНИЗАЦИЯ  │ ──► централизованно → </a:t>
            </a:r>
            <a:r>
              <a:rPr lang="en" dirty="0"/>
              <a:t>domains</a:t>
            </a:r>
          </a:p>
          <a:p>
            <a:pPr marL="228600" indent="-228600">
              <a:buAutoNum type="arabicPeriod"/>
            </a:pPr>
            <a:r>
              <a:rPr lang="en" dirty="0"/>
              <a:t>       └──────────────┘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EBA64E-71F9-A210-B15D-AE4C3AF12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884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46C2F-22D0-397A-1737-2D42D508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B2E20A4-5E0A-5696-B3CB-D24659CC4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C1BC17A-3A2F-537A-DB85-2E771BC80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6FEE38-0983-F5E6-B88C-33120CCDF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75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7550" y="3448718"/>
            <a:ext cx="4361039" cy="22254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lvl="0"/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17" name="Текст 49">
            <a:extLst>
              <a:ext uri="{FF2B5EF4-FFF2-40B4-BE49-F238E27FC236}">
                <a16:creationId xmlns:a16="http://schemas.microsoft.com/office/drawing/2014/main" id="{5571E40E-E04B-FA9F-068F-44BCFEB229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4083" y="3448718"/>
            <a:ext cx="4361039" cy="2225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A037DA-9FAF-515A-92C7-E19877702939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A05145-B248-C94C-DC68-7B12E4D5D5ED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513118D-C903-A2FB-4AA2-92B99E8034A5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E26FE57E-5F3A-70FD-024C-5D5363954F8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203755BE-9D0C-5152-C51C-292980F48F8D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B02685DE-BDA2-A180-AAC2-6A6336D91829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3B440F1A-2B1A-0363-DE61-8411E5061A02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FDE4094F-F928-F071-8EDE-5D61EE96D59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20549A1D-AFEA-BFB4-CBEF-DA44D0E3CF1E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DA97E0D-A6F3-4ED7-6F4A-D4835EC2550A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03F2F32-0455-BFBD-5B52-6B8136951CE7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04CF4E74-47F0-5D04-6365-C78E6667D4C0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38266A2-C1C1-F2A0-0C99-88B218EC144E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2F14325-A2F1-946E-4889-E1B6174A17A2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6" name="Текст 47">
            <a:extLst>
              <a:ext uri="{FF2B5EF4-FFF2-40B4-BE49-F238E27FC236}">
                <a16:creationId xmlns:a16="http://schemas.microsoft.com/office/drawing/2014/main" id="{D7B98EE6-1D14-A7E1-223F-07278DB232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18" name="Текст 49">
            <a:extLst>
              <a:ext uri="{FF2B5EF4-FFF2-40B4-BE49-F238E27FC236}">
                <a16:creationId xmlns:a16="http://schemas.microsoft.com/office/drawing/2014/main" id="{E8E5E985-7059-1829-0725-4DF8618F9F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49A614C0-E14F-24D2-0261-44052F7F65A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26684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ловок+ рисунок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2B4EE6E3-AF88-DDDA-D09E-15C1D87550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14159" y="977030"/>
            <a:ext cx="5006366" cy="5217770"/>
          </a:xfrm>
          <a:custGeom>
            <a:avLst/>
            <a:gdLst>
              <a:gd name="connsiteX0" fmla="*/ 233146 w 5006366"/>
              <a:gd name="connsiteY0" fmla="*/ 0 h 5549030"/>
              <a:gd name="connsiteX1" fmla="*/ 4773220 w 5006366"/>
              <a:gd name="connsiteY1" fmla="*/ 0 h 5549030"/>
              <a:gd name="connsiteX2" fmla="*/ 5006366 w 5006366"/>
              <a:gd name="connsiteY2" fmla="*/ 233146 h 5549030"/>
              <a:gd name="connsiteX3" fmla="*/ 5006366 w 5006366"/>
              <a:gd name="connsiteY3" fmla="*/ 5315884 h 5549030"/>
              <a:gd name="connsiteX4" fmla="*/ 4773220 w 5006366"/>
              <a:gd name="connsiteY4" fmla="*/ 5549030 h 5549030"/>
              <a:gd name="connsiteX5" fmla="*/ 233146 w 5006366"/>
              <a:gd name="connsiteY5" fmla="*/ 5549030 h 5549030"/>
              <a:gd name="connsiteX6" fmla="*/ 0 w 5006366"/>
              <a:gd name="connsiteY6" fmla="*/ 5315884 h 5549030"/>
              <a:gd name="connsiteX7" fmla="*/ 0 w 5006366"/>
              <a:gd name="connsiteY7" fmla="*/ 233146 h 5549030"/>
              <a:gd name="connsiteX8" fmla="*/ 233146 w 5006366"/>
              <a:gd name="connsiteY8" fmla="*/ 0 h 554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6366" h="5549030">
                <a:moveTo>
                  <a:pt x="233146" y="0"/>
                </a:moveTo>
                <a:lnTo>
                  <a:pt x="4773220" y="0"/>
                </a:lnTo>
                <a:cubicBezTo>
                  <a:pt x="4901983" y="0"/>
                  <a:pt x="5006366" y="104383"/>
                  <a:pt x="5006366" y="233146"/>
                </a:cubicBezTo>
                <a:lnTo>
                  <a:pt x="5006366" y="5315884"/>
                </a:lnTo>
                <a:cubicBezTo>
                  <a:pt x="5006366" y="5444647"/>
                  <a:pt x="4901983" y="5549030"/>
                  <a:pt x="4773220" y="5549030"/>
                </a:cubicBezTo>
                <a:lnTo>
                  <a:pt x="233146" y="5549030"/>
                </a:lnTo>
                <a:cubicBezTo>
                  <a:pt x="104383" y="5549030"/>
                  <a:pt x="0" y="5444647"/>
                  <a:pt x="0" y="5315884"/>
                </a:cubicBezTo>
                <a:lnTo>
                  <a:pt x="0" y="233146"/>
                </a:lnTo>
                <a:cubicBezTo>
                  <a:pt x="0" y="104383"/>
                  <a:pt x="104383" y="0"/>
                  <a:pt x="233146" y="0"/>
                </a:cubicBezTo>
                <a:close/>
              </a:path>
            </a:pathLst>
          </a:custGeom>
          <a:ln w="19050">
            <a:solidFill>
              <a:srgbClr val="FFF654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9D54ED-6100-2AE2-44D3-3FBF40D4B78C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56D976-7CC1-9686-0F06-FCA772F2517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2079E93-C969-E4A2-381C-8137ABD932F6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2FF0FB04-4B68-2831-0DAB-A017CA788FD5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05AC7EB7-BE06-A997-B000-D1F19539BE99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7F98DD0F-340B-9C59-6BBC-A959CEF5845C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50F1D4C6-65C7-7768-EB62-97032AA0C758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6E0D7566-CBD5-5F33-25DB-7EDB4C1B943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F23540EC-3531-E5FB-516B-9FDA9073367A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F28BCF0-AB96-AF0F-7D93-35029978176B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541060A-82E3-D711-496D-66B48945AF33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BE1A0F03-3BD3-2A53-86DF-3C018DDFD99C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01DC482-6C44-D5D1-74E4-48F30614EE08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81DB554-4CD2-5A37-4BDA-DB3B60FB0535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9" name="Полилиния 18">
            <a:extLst>
              <a:ext uri="{FF2B5EF4-FFF2-40B4-BE49-F238E27FC236}">
                <a16:creationId xmlns:a16="http://schemas.microsoft.com/office/drawing/2014/main" id="{B71710D9-5000-80EB-82DA-E4E405F15A03}"/>
              </a:ext>
            </a:extLst>
          </p:cNvPr>
          <p:cNvSpPr/>
          <p:nvPr userDrawn="1"/>
        </p:nvSpPr>
        <p:spPr>
          <a:xfrm>
            <a:off x="6059329" y="300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EB521677-7ACA-798D-B3D7-9DF8F004AA53}"/>
              </a:ext>
            </a:extLst>
          </p:cNvPr>
          <p:cNvSpPr/>
          <p:nvPr userDrawn="1"/>
        </p:nvSpPr>
        <p:spPr>
          <a:xfrm>
            <a:off x="7138785" y="314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1" name="Полилиния 20">
            <a:extLst>
              <a:ext uri="{FF2B5EF4-FFF2-40B4-BE49-F238E27FC236}">
                <a16:creationId xmlns:a16="http://schemas.microsoft.com/office/drawing/2014/main" id="{FC7AE11D-70F3-DE95-59A7-6D153CACC950}"/>
              </a:ext>
            </a:extLst>
          </p:cNvPr>
          <p:cNvSpPr/>
          <p:nvPr userDrawn="1"/>
        </p:nvSpPr>
        <p:spPr>
          <a:xfrm>
            <a:off x="8170896" y="301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B5880652-F6FC-A87D-AF2C-8F0F2CC6DD9C}"/>
              </a:ext>
            </a:extLst>
          </p:cNvPr>
          <p:cNvSpPr/>
          <p:nvPr userDrawn="1"/>
        </p:nvSpPr>
        <p:spPr>
          <a:xfrm rot="5400000">
            <a:off x="9468333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667E032D-27E4-95DC-C30F-D8F574F20267}"/>
              </a:ext>
            </a:extLst>
          </p:cNvPr>
          <p:cNvSpPr/>
          <p:nvPr userDrawn="1"/>
        </p:nvSpPr>
        <p:spPr>
          <a:xfrm rot="5400000">
            <a:off x="9468333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F9686EEA-E1CB-F0BD-3217-CCB166F01077}"/>
              </a:ext>
            </a:extLst>
          </p:cNvPr>
          <p:cNvSpPr/>
          <p:nvPr userDrawn="1"/>
        </p:nvSpPr>
        <p:spPr>
          <a:xfrm>
            <a:off x="10313141" y="302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5" name="Полилиния 44">
            <a:extLst>
              <a:ext uri="{FF2B5EF4-FFF2-40B4-BE49-F238E27FC236}">
                <a16:creationId xmlns:a16="http://schemas.microsoft.com/office/drawing/2014/main" id="{65D007B7-2EC6-8DD0-5DE0-9A7C6F4BC4E6}"/>
              </a:ext>
            </a:extLst>
          </p:cNvPr>
          <p:cNvSpPr/>
          <p:nvPr userDrawn="1"/>
        </p:nvSpPr>
        <p:spPr>
          <a:xfrm rot="5400000">
            <a:off x="6416161" y="1214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6" name="Полилиния 45">
            <a:extLst>
              <a:ext uri="{FF2B5EF4-FFF2-40B4-BE49-F238E27FC236}">
                <a16:creationId xmlns:a16="http://schemas.microsoft.com/office/drawing/2014/main" id="{01637A07-C3CB-115D-07A5-84F103254223}"/>
              </a:ext>
            </a:extLst>
          </p:cNvPr>
          <p:cNvSpPr/>
          <p:nvPr userDrawn="1"/>
        </p:nvSpPr>
        <p:spPr>
          <a:xfrm rot="5400000">
            <a:off x="6416161" y="1666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7" name="Полилиния 46">
            <a:extLst>
              <a:ext uri="{FF2B5EF4-FFF2-40B4-BE49-F238E27FC236}">
                <a16:creationId xmlns:a16="http://schemas.microsoft.com/office/drawing/2014/main" id="{BE1EB756-A5E8-D426-BF57-70326BFCBF52}"/>
              </a:ext>
            </a:extLst>
          </p:cNvPr>
          <p:cNvSpPr/>
          <p:nvPr userDrawn="1"/>
        </p:nvSpPr>
        <p:spPr>
          <a:xfrm>
            <a:off x="7260970" y="1428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B8A825C2-3235-C8A2-4E5C-A2CD7335CE41}"/>
              </a:ext>
            </a:extLst>
          </p:cNvPr>
          <p:cNvSpPr/>
          <p:nvPr userDrawn="1"/>
        </p:nvSpPr>
        <p:spPr>
          <a:xfrm>
            <a:off x="9274499" y="1429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AAA2E5FA-D2D1-6DE0-0FB2-50EEB9146011}"/>
              </a:ext>
            </a:extLst>
          </p:cNvPr>
          <p:cNvSpPr/>
          <p:nvPr userDrawn="1"/>
        </p:nvSpPr>
        <p:spPr>
          <a:xfrm>
            <a:off x="10336066" y="1429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DF8FBF4F-20D4-2A87-C3DF-A623132EDCB0}"/>
              </a:ext>
            </a:extLst>
          </p:cNvPr>
          <p:cNvSpPr/>
          <p:nvPr userDrawn="1"/>
        </p:nvSpPr>
        <p:spPr>
          <a:xfrm>
            <a:off x="11201513" y="1429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7" name="Полилиния 56">
            <a:extLst>
              <a:ext uri="{FF2B5EF4-FFF2-40B4-BE49-F238E27FC236}">
                <a16:creationId xmlns:a16="http://schemas.microsoft.com/office/drawing/2014/main" id="{ED7CDC0A-88AB-9150-78E9-8360286E9BCB}"/>
              </a:ext>
            </a:extLst>
          </p:cNvPr>
          <p:cNvSpPr/>
          <p:nvPr userDrawn="1"/>
        </p:nvSpPr>
        <p:spPr>
          <a:xfrm>
            <a:off x="6125307" y="2551363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8" name="Полилиния 57">
            <a:extLst>
              <a:ext uri="{FF2B5EF4-FFF2-40B4-BE49-F238E27FC236}">
                <a16:creationId xmlns:a16="http://schemas.microsoft.com/office/drawing/2014/main" id="{D1E8AAAD-C779-143D-828B-22B2113D0953}"/>
              </a:ext>
            </a:extLst>
          </p:cNvPr>
          <p:cNvSpPr/>
          <p:nvPr userDrawn="1"/>
        </p:nvSpPr>
        <p:spPr>
          <a:xfrm>
            <a:off x="7204763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9" name="Полилиния 58">
            <a:extLst>
              <a:ext uri="{FF2B5EF4-FFF2-40B4-BE49-F238E27FC236}">
                <a16:creationId xmlns:a16="http://schemas.microsoft.com/office/drawing/2014/main" id="{8FCE0B0E-5D5E-C054-F5DF-0C799D1D2ACD}"/>
              </a:ext>
            </a:extLst>
          </p:cNvPr>
          <p:cNvSpPr/>
          <p:nvPr userDrawn="1"/>
        </p:nvSpPr>
        <p:spPr>
          <a:xfrm>
            <a:off x="8236874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0" name="Полилиния 59">
            <a:extLst>
              <a:ext uri="{FF2B5EF4-FFF2-40B4-BE49-F238E27FC236}">
                <a16:creationId xmlns:a16="http://schemas.microsoft.com/office/drawing/2014/main" id="{BBF42A67-A4AF-C571-0E87-7B690FCF62F4}"/>
              </a:ext>
            </a:extLst>
          </p:cNvPr>
          <p:cNvSpPr/>
          <p:nvPr userDrawn="1"/>
        </p:nvSpPr>
        <p:spPr>
          <a:xfrm rot="5400000">
            <a:off x="9534311" y="233911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18827D43-F7CC-842B-CE52-CE297463F98B}"/>
              </a:ext>
            </a:extLst>
          </p:cNvPr>
          <p:cNvSpPr/>
          <p:nvPr userDrawn="1"/>
        </p:nvSpPr>
        <p:spPr>
          <a:xfrm rot="5400000">
            <a:off x="9534311" y="2790999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AEA31EE0-2696-FF64-5357-40266C8385EE}"/>
              </a:ext>
            </a:extLst>
          </p:cNvPr>
          <p:cNvSpPr/>
          <p:nvPr userDrawn="1"/>
        </p:nvSpPr>
        <p:spPr>
          <a:xfrm>
            <a:off x="10379120" y="255347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9" name="Полилиния 68">
            <a:extLst>
              <a:ext uri="{FF2B5EF4-FFF2-40B4-BE49-F238E27FC236}">
                <a16:creationId xmlns:a16="http://schemas.microsoft.com/office/drawing/2014/main" id="{98539B6A-FAC6-ED68-EA9C-F2AE50E85AFA}"/>
              </a:ext>
            </a:extLst>
          </p:cNvPr>
          <p:cNvSpPr/>
          <p:nvPr userDrawn="1"/>
        </p:nvSpPr>
        <p:spPr>
          <a:xfrm rot="5400000">
            <a:off x="6416161" y="3390462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0" name="Полилиния 69">
            <a:extLst>
              <a:ext uri="{FF2B5EF4-FFF2-40B4-BE49-F238E27FC236}">
                <a16:creationId xmlns:a16="http://schemas.microsoft.com/office/drawing/2014/main" id="{27A83EEE-6701-E5BE-4471-D6708AB28A14}"/>
              </a:ext>
            </a:extLst>
          </p:cNvPr>
          <p:cNvSpPr/>
          <p:nvPr userDrawn="1"/>
        </p:nvSpPr>
        <p:spPr>
          <a:xfrm rot="5400000">
            <a:off x="6416161" y="3842350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1" name="Полилиния 70">
            <a:extLst>
              <a:ext uri="{FF2B5EF4-FFF2-40B4-BE49-F238E27FC236}">
                <a16:creationId xmlns:a16="http://schemas.microsoft.com/office/drawing/2014/main" id="{998F0B30-210B-A885-15A4-9B9A2CC80748}"/>
              </a:ext>
            </a:extLst>
          </p:cNvPr>
          <p:cNvSpPr/>
          <p:nvPr userDrawn="1"/>
        </p:nvSpPr>
        <p:spPr>
          <a:xfrm>
            <a:off x="7260970" y="3604828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2" name="Полилиния 71">
            <a:extLst>
              <a:ext uri="{FF2B5EF4-FFF2-40B4-BE49-F238E27FC236}">
                <a16:creationId xmlns:a16="http://schemas.microsoft.com/office/drawing/2014/main" id="{108740CC-3FD2-F420-F0CC-A88E00F590EF}"/>
              </a:ext>
            </a:extLst>
          </p:cNvPr>
          <p:cNvSpPr/>
          <p:nvPr userDrawn="1"/>
        </p:nvSpPr>
        <p:spPr>
          <a:xfrm>
            <a:off x="9274499" y="3606110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3" name="Полилиния 72">
            <a:extLst>
              <a:ext uri="{FF2B5EF4-FFF2-40B4-BE49-F238E27FC236}">
                <a16:creationId xmlns:a16="http://schemas.microsoft.com/office/drawing/2014/main" id="{1D1FE4B8-F38E-510B-1D7A-26CD8CF9750D}"/>
              </a:ext>
            </a:extLst>
          </p:cNvPr>
          <p:cNvSpPr/>
          <p:nvPr userDrawn="1"/>
        </p:nvSpPr>
        <p:spPr>
          <a:xfrm>
            <a:off x="10336066" y="3606132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4" name="Полилиния 73">
            <a:extLst>
              <a:ext uri="{FF2B5EF4-FFF2-40B4-BE49-F238E27FC236}">
                <a16:creationId xmlns:a16="http://schemas.microsoft.com/office/drawing/2014/main" id="{80B8C87D-5992-1461-154B-33369FDE3496}"/>
              </a:ext>
            </a:extLst>
          </p:cNvPr>
          <p:cNvSpPr/>
          <p:nvPr userDrawn="1"/>
        </p:nvSpPr>
        <p:spPr>
          <a:xfrm>
            <a:off x="11201513" y="3606131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1" name="Полилиния 80">
            <a:extLst>
              <a:ext uri="{FF2B5EF4-FFF2-40B4-BE49-F238E27FC236}">
                <a16:creationId xmlns:a16="http://schemas.microsoft.com/office/drawing/2014/main" id="{63AD56DB-1133-5816-70C7-4D8288DF2CE3}"/>
              </a:ext>
            </a:extLst>
          </p:cNvPr>
          <p:cNvSpPr/>
          <p:nvPr userDrawn="1"/>
        </p:nvSpPr>
        <p:spPr>
          <a:xfrm>
            <a:off x="6059329" y="4618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2" name="Полилиния 81">
            <a:extLst>
              <a:ext uri="{FF2B5EF4-FFF2-40B4-BE49-F238E27FC236}">
                <a16:creationId xmlns:a16="http://schemas.microsoft.com/office/drawing/2014/main" id="{234167F8-112D-922E-DDFF-0E7EE38CD87D}"/>
              </a:ext>
            </a:extLst>
          </p:cNvPr>
          <p:cNvSpPr/>
          <p:nvPr userDrawn="1"/>
        </p:nvSpPr>
        <p:spPr>
          <a:xfrm>
            <a:off x="7138785" y="4632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3" name="Полилиния 82">
            <a:extLst>
              <a:ext uri="{FF2B5EF4-FFF2-40B4-BE49-F238E27FC236}">
                <a16:creationId xmlns:a16="http://schemas.microsoft.com/office/drawing/2014/main" id="{5F70E7A4-9B0D-7FC0-F165-C3F11FEA4AAD}"/>
              </a:ext>
            </a:extLst>
          </p:cNvPr>
          <p:cNvSpPr/>
          <p:nvPr userDrawn="1"/>
        </p:nvSpPr>
        <p:spPr>
          <a:xfrm>
            <a:off x="8170896" y="4619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4" name="Полилиния 83">
            <a:extLst>
              <a:ext uri="{FF2B5EF4-FFF2-40B4-BE49-F238E27FC236}">
                <a16:creationId xmlns:a16="http://schemas.microsoft.com/office/drawing/2014/main" id="{CBA0A953-9D66-C9DF-E869-39B7CF15C8EE}"/>
              </a:ext>
            </a:extLst>
          </p:cNvPr>
          <p:cNvSpPr/>
          <p:nvPr userDrawn="1"/>
        </p:nvSpPr>
        <p:spPr>
          <a:xfrm rot="5400000">
            <a:off x="9468333" y="4406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2F8A2BFF-8199-C49F-32C2-F02A0F36E5D7}"/>
              </a:ext>
            </a:extLst>
          </p:cNvPr>
          <p:cNvSpPr/>
          <p:nvPr userDrawn="1"/>
        </p:nvSpPr>
        <p:spPr>
          <a:xfrm rot="5400000">
            <a:off x="9468333" y="4858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AE035941-6B4D-88F6-6604-BAD90612AA7D}"/>
              </a:ext>
            </a:extLst>
          </p:cNvPr>
          <p:cNvSpPr/>
          <p:nvPr userDrawn="1"/>
        </p:nvSpPr>
        <p:spPr>
          <a:xfrm>
            <a:off x="10313141" y="4620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EFEAF20A-7C93-A9E8-9BA1-25242F8739BE}"/>
              </a:ext>
            </a:extLst>
          </p:cNvPr>
          <p:cNvSpPr/>
          <p:nvPr userDrawn="1"/>
        </p:nvSpPr>
        <p:spPr>
          <a:xfrm rot="5400000">
            <a:off x="6416161" y="5532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4051F98-B824-DA6E-B161-16534E2CDB60}"/>
              </a:ext>
            </a:extLst>
          </p:cNvPr>
          <p:cNvSpPr/>
          <p:nvPr userDrawn="1"/>
        </p:nvSpPr>
        <p:spPr>
          <a:xfrm rot="5400000">
            <a:off x="6416161" y="5984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FE60269F-0694-6311-A4E1-B7B375BBBD2C}"/>
              </a:ext>
            </a:extLst>
          </p:cNvPr>
          <p:cNvSpPr/>
          <p:nvPr userDrawn="1"/>
        </p:nvSpPr>
        <p:spPr>
          <a:xfrm>
            <a:off x="7260970" y="5746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CFDEE74C-4488-0A8E-20A2-6760919CF396}"/>
              </a:ext>
            </a:extLst>
          </p:cNvPr>
          <p:cNvSpPr/>
          <p:nvPr userDrawn="1"/>
        </p:nvSpPr>
        <p:spPr>
          <a:xfrm>
            <a:off x="9274499" y="5747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EFDF8DA6-AB7D-55B6-136B-3FE9E54B517E}"/>
              </a:ext>
            </a:extLst>
          </p:cNvPr>
          <p:cNvSpPr/>
          <p:nvPr userDrawn="1"/>
        </p:nvSpPr>
        <p:spPr>
          <a:xfrm>
            <a:off x="10336066" y="5747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CAE54391-B254-6D7F-CFDE-C3D1C029AA52}"/>
              </a:ext>
            </a:extLst>
          </p:cNvPr>
          <p:cNvSpPr/>
          <p:nvPr userDrawn="1"/>
        </p:nvSpPr>
        <p:spPr>
          <a:xfrm>
            <a:off x="11201513" y="5747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97FED8FB-2EB0-0EA4-FC4E-627BDE29ED9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4" name="Текст 47">
            <a:extLst>
              <a:ext uri="{FF2B5EF4-FFF2-40B4-BE49-F238E27FC236}">
                <a16:creationId xmlns:a16="http://schemas.microsoft.com/office/drawing/2014/main" id="{1BFB37B9-D655-8460-080C-8ECE8BB0EC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70" y="2983550"/>
            <a:ext cx="5864638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5" name="Текст 49">
            <a:extLst>
              <a:ext uri="{FF2B5EF4-FFF2-40B4-BE49-F238E27FC236}">
                <a16:creationId xmlns:a16="http://schemas.microsoft.com/office/drawing/2014/main" id="{3045662F-B4C9-05B0-C43D-FD906561C4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397313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392453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C5B05954-ADE9-F8D2-1402-05D4228D5BA5}"/>
              </a:ext>
            </a:extLst>
          </p:cNvPr>
          <p:cNvSpPr/>
          <p:nvPr userDrawn="1"/>
        </p:nvSpPr>
        <p:spPr>
          <a:xfrm>
            <a:off x="6308567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57701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2F2CC53-9CF8-8C15-2005-CBAF4DD74E40}"/>
              </a:ext>
            </a:extLst>
          </p:cNvPr>
          <p:cNvSpPr/>
          <p:nvPr userDrawn="1"/>
        </p:nvSpPr>
        <p:spPr>
          <a:xfrm>
            <a:off x="11149965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15" name="Текст 49">
            <a:extLst>
              <a:ext uri="{FF2B5EF4-FFF2-40B4-BE49-F238E27FC236}">
                <a16:creationId xmlns:a16="http://schemas.microsoft.com/office/drawing/2014/main" id="{3C098731-4900-EEAE-A0DE-7E1FA6D1EB6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557701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AE58351-2F18-2F8E-D3C4-7B2FAC9DB44B}"/>
              </a:ext>
            </a:extLst>
          </p:cNvPr>
          <p:cNvSpPr/>
          <p:nvPr userDrawn="1"/>
        </p:nvSpPr>
        <p:spPr>
          <a:xfrm>
            <a:off x="381561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36" name="Текст 49">
            <a:extLst>
              <a:ext uri="{FF2B5EF4-FFF2-40B4-BE49-F238E27FC236}">
                <a16:creationId xmlns:a16="http://schemas.microsoft.com/office/drawing/2014/main" id="{29BEC1B6-2A87-9C1E-11E1-B024A88DC4AF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30695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F8C1A5A9-18AC-47F2-B9FF-458324400456}"/>
              </a:ext>
            </a:extLst>
          </p:cNvPr>
          <p:cNvSpPr/>
          <p:nvPr userDrawn="1"/>
        </p:nvSpPr>
        <p:spPr>
          <a:xfrm>
            <a:off x="5222959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0" name="Текст 49">
            <a:extLst>
              <a:ext uri="{FF2B5EF4-FFF2-40B4-BE49-F238E27FC236}">
                <a16:creationId xmlns:a16="http://schemas.microsoft.com/office/drawing/2014/main" id="{09EDF421-4786-F27F-D421-4F6F76E3D7F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30695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24377A-3A62-E490-EA1E-ABDEAA77012D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79E22D-0B37-D7E0-4324-60CA7A969605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B5FC86D-82C4-7452-6AEE-B6009692D4F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150283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C5558111-5D92-CBC2-140A-A52A7C89FF4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12062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B706BABA-D911-0475-C385-C5E80501CF18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048ABD2A-F0AE-506F-BAD8-1B97F314D56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9A422709-24F0-78EA-337F-28F2C9E7C04F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34398F6A-F4A3-AA13-BD57-C1C8EB129644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9EA2CF7-E426-6FA4-1586-2DA7D0B2C2AE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9C5A4B-0A59-C72C-6B13-40B77DDFE6CE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05F6695F-4435-AC1F-EDFD-37951B12BD21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8BC434FB-16BA-9077-D2B0-AE75E731B43E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52FDA3D7-0F1D-0F9E-FA83-0B30310C1F90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8027AB9B-F1F7-ABDD-3BD7-D7F59809FD97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A184EB10-7F97-7A9E-B27B-254F1C42DFA2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18AED02-3F30-8086-D3FE-F4B5FA1B87FE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53DE7102-3EE6-3BF1-617F-C94638783E8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7" name="Текст 47">
            <a:extLst>
              <a:ext uri="{FF2B5EF4-FFF2-40B4-BE49-F238E27FC236}">
                <a16:creationId xmlns:a16="http://schemas.microsoft.com/office/drawing/2014/main" id="{029659CF-2E80-2A2F-6532-5B5D4E2188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8" name="Текст 49">
            <a:extLst>
              <a:ext uri="{FF2B5EF4-FFF2-40B4-BE49-F238E27FC236}">
                <a16:creationId xmlns:a16="http://schemas.microsoft.com/office/drawing/2014/main" id="{35B448D5-CA83-7334-D9E8-31596C010B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415544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+ текст + 3 картинки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Рисунок 49">
            <a:extLst>
              <a:ext uri="{FF2B5EF4-FFF2-40B4-BE49-F238E27FC236}">
                <a16:creationId xmlns:a16="http://schemas.microsoft.com/office/drawing/2014/main" id="{BBC756FC-6985-DC58-059F-954967BF1BD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0962" y="2294120"/>
            <a:ext cx="3720160" cy="2718148"/>
          </a:xfrm>
          <a:custGeom>
            <a:avLst/>
            <a:gdLst>
              <a:gd name="connsiteX0" fmla="*/ 252625 w 3720160"/>
              <a:gd name="connsiteY0" fmla="*/ 0 h 2718148"/>
              <a:gd name="connsiteX1" fmla="*/ 3467535 w 3720160"/>
              <a:gd name="connsiteY1" fmla="*/ 0 h 2718148"/>
              <a:gd name="connsiteX2" fmla="*/ 3720160 w 3720160"/>
              <a:gd name="connsiteY2" fmla="*/ 252625 h 2718148"/>
              <a:gd name="connsiteX3" fmla="*/ 3720160 w 3720160"/>
              <a:gd name="connsiteY3" fmla="*/ 2465523 h 2718148"/>
              <a:gd name="connsiteX4" fmla="*/ 3467535 w 3720160"/>
              <a:gd name="connsiteY4" fmla="*/ 2718148 h 2718148"/>
              <a:gd name="connsiteX5" fmla="*/ 252625 w 3720160"/>
              <a:gd name="connsiteY5" fmla="*/ 2718148 h 2718148"/>
              <a:gd name="connsiteX6" fmla="*/ 0 w 3720160"/>
              <a:gd name="connsiteY6" fmla="*/ 2465523 h 2718148"/>
              <a:gd name="connsiteX7" fmla="*/ 0 w 3720160"/>
              <a:gd name="connsiteY7" fmla="*/ 252625 h 2718148"/>
              <a:gd name="connsiteX8" fmla="*/ 252625 w 3720160"/>
              <a:gd name="connsiteY8" fmla="*/ 0 h 2718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0160" h="2718148">
                <a:moveTo>
                  <a:pt x="252625" y="0"/>
                </a:moveTo>
                <a:lnTo>
                  <a:pt x="3467535" y="0"/>
                </a:lnTo>
                <a:cubicBezTo>
                  <a:pt x="3607056" y="0"/>
                  <a:pt x="3720160" y="113104"/>
                  <a:pt x="3720160" y="252625"/>
                </a:cubicBezTo>
                <a:lnTo>
                  <a:pt x="3720160" y="2465523"/>
                </a:lnTo>
                <a:cubicBezTo>
                  <a:pt x="3720160" y="2605044"/>
                  <a:pt x="3607056" y="2718148"/>
                  <a:pt x="3467535" y="2718148"/>
                </a:cubicBezTo>
                <a:lnTo>
                  <a:pt x="252625" y="2718148"/>
                </a:lnTo>
                <a:cubicBezTo>
                  <a:pt x="113104" y="2718148"/>
                  <a:pt x="0" y="2605044"/>
                  <a:pt x="0" y="2465523"/>
                </a:cubicBezTo>
                <a:lnTo>
                  <a:pt x="0" y="252625"/>
                </a:lnTo>
                <a:cubicBezTo>
                  <a:pt x="0" y="113104"/>
                  <a:pt x="113104" y="0"/>
                  <a:pt x="252625" y="0"/>
                </a:cubicBezTo>
                <a:close/>
              </a:path>
            </a:pathLst>
          </a:custGeom>
          <a:ln w="1905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2" name="Текст 49">
            <a:extLst>
              <a:ext uri="{FF2B5EF4-FFF2-40B4-BE49-F238E27FC236}">
                <a16:creationId xmlns:a16="http://schemas.microsoft.com/office/drawing/2014/main" id="{96323D60-D7C7-6034-389E-1649AA92DE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3793" y="5507125"/>
            <a:ext cx="3215907" cy="3440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Текст с коротким описанием</a:t>
            </a:r>
            <a:endParaRPr lang="ru-RS" dirty="0"/>
          </a:p>
        </p:txBody>
      </p:sp>
      <p:sp>
        <p:nvSpPr>
          <p:cNvPr id="53" name="Текст 49">
            <a:extLst>
              <a:ext uri="{FF2B5EF4-FFF2-40B4-BE49-F238E27FC236}">
                <a16:creationId xmlns:a16="http://schemas.microsoft.com/office/drawing/2014/main" id="{C7C56440-A80C-9F09-0834-FAA9448B96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3793" y="5181818"/>
            <a:ext cx="3225183" cy="314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Подзаголовок</a:t>
            </a:r>
            <a:endParaRPr lang="ru-RS" dirty="0"/>
          </a:p>
        </p:txBody>
      </p:sp>
      <p:sp>
        <p:nvSpPr>
          <p:cNvPr id="54" name="Рисунок 53">
            <a:extLst>
              <a:ext uri="{FF2B5EF4-FFF2-40B4-BE49-F238E27FC236}">
                <a16:creationId xmlns:a16="http://schemas.microsoft.com/office/drawing/2014/main" id="{42D7E80B-0F49-6740-634C-265A3839533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38978" y="2294120"/>
            <a:ext cx="3720160" cy="2718148"/>
          </a:xfrm>
          <a:custGeom>
            <a:avLst/>
            <a:gdLst>
              <a:gd name="connsiteX0" fmla="*/ 252625 w 3720160"/>
              <a:gd name="connsiteY0" fmla="*/ 0 h 2718148"/>
              <a:gd name="connsiteX1" fmla="*/ 3467535 w 3720160"/>
              <a:gd name="connsiteY1" fmla="*/ 0 h 2718148"/>
              <a:gd name="connsiteX2" fmla="*/ 3720160 w 3720160"/>
              <a:gd name="connsiteY2" fmla="*/ 252625 h 2718148"/>
              <a:gd name="connsiteX3" fmla="*/ 3720160 w 3720160"/>
              <a:gd name="connsiteY3" fmla="*/ 2465523 h 2718148"/>
              <a:gd name="connsiteX4" fmla="*/ 3467535 w 3720160"/>
              <a:gd name="connsiteY4" fmla="*/ 2718148 h 2718148"/>
              <a:gd name="connsiteX5" fmla="*/ 252625 w 3720160"/>
              <a:gd name="connsiteY5" fmla="*/ 2718148 h 2718148"/>
              <a:gd name="connsiteX6" fmla="*/ 0 w 3720160"/>
              <a:gd name="connsiteY6" fmla="*/ 2465523 h 2718148"/>
              <a:gd name="connsiteX7" fmla="*/ 0 w 3720160"/>
              <a:gd name="connsiteY7" fmla="*/ 252625 h 2718148"/>
              <a:gd name="connsiteX8" fmla="*/ 252625 w 3720160"/>
              <a:gd name="connsiteY8" fmla="*/ 0 h 2718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0160" h="2718148">
                <a:moveTo>
                  <a:pt x="252625" y="0"/>
                </a:moveTo>
                <a:lnTo>
                  <a:pt x="3467535" y="0"/>
                </a:lnTo>
                <a:cubicBezTo>
                  <a:pt x="3607056" y="0"/>
                  <a:pt x="3720160" y="113104"/>
                  <a:pt x="3720160" y="252625"/>
                </a:cubicBezTo>
                <a:lnTo>
                  <a:pt x="3720160" y="2465523"/>
                </a:lnTo>
                <a:cubicBezTo>
                  <a:pt x="3720160" y="2605044"/>
                  <a:pt x="3607056" y="2718148"/>
                  <a:pt x="3467535" y="2718148"/>
                </a:cubicBezTo>
                <a:lnTo>
                  <a:pt x="252625" y="2718148"/>
                </a:lnTo>
                <a:cubicBezTo>
                  <a:pt x="113104" y="2718148"/>
                  <a:pt x="0" y="2605044"/>
                  <a:pt x="0" y="2465523"/>
                </a:cubicBezTo>
                <a:lnTo>
                  <a:pt x="0" y="252625"/>
                </a:lnTo>
                <a:cubicBezTo>
                  <a:pt x="0" y="113104"/>
                  <a:pt x="113104" y="0"/>
                  <a:pt x="252625" y="0"/>
                </a:cubicBezTo>
                <a:close/>
              </a:path>
            </a:pathLst>
          </a:custGeom>
          <a:ln w="1905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ru-RS"/>
          </a:p>
        </p:txBody>
      </p:sp>
      <p:sp>
        <p:nvSpPr>
          <p:cNvPr id="55" name="Текст 49">
            <a:extLst>
              <a:ext uri="{FF2B5EF4-FFF2-40B4-BE49-F238E27FC236}">
                <a16:creationId xmlns:a16="http://schemas.microsoft.com/office/drawing/2014/main" id="{8E4EF7BE-A9B5-3791-E1CE-29FAA5ED5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41809" y="5507125"/>
            <a:ext cx="3215907" cy="3440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Текст с коротким описанием</a:t>
            </a:r>
            <a:endParaRPr lang="ru-RS" dirty="0"/>
          </a:p>
        </p:txBody>
      </p:sp>
      <p:sp>
        <p:nvSpPr>
          <p:cNvPr id="56" name="Текст 49">
            <a:extLst>
              <a:ext uri="{FF2B5EF4-FFF2-40B4-BE49-F238E27FC236}">
                <a16:creationId xmlns:a16="http://schemas.microsoft.com/office/drawing/2014/main" id="{6CCC91CA-A42A-249B-5C5B-DC550245066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41809" y="5181818"/>
            <a:ext cx="3225183" cy="314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Подзаголовок</a:t>
            </a:r>
            <a:endParaRPr lang="ru-RS" dirty="0"/>
          </a:p>
        </p:txBody>
      </p:sp>
      <p:sp>
        <p:nvSpPr>
          <p:cNvPr id="57" name="Рисунок 56">
            <a:extLst>
              <a:ext uri="{FF2B5EF4-FFF2-40B4-BE49-F238E27FC236}">
                <a16:creationId xmlns:a16="http://schemas.microsoft.com/office/drawing/2014/main" id="{7F17CAFA-B08C-B7E1-C11F-5B1A34DFA0D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09520" y="2294120"/>
            <a:ext cx="3720160" cy="2718148"/>
          </a:xfrm>
          <a:custGeom>
            <a:avLst/>
            <a:gdLst>
              <a:gd name="connsiteX0" fmla="*/ 252625 w 3720160"/>
              <a:gd name="connsiteY0" fmla="*/ 0 h 2718148"/>
              <a:gd name="connsiteX1" fmla="*/ 3467535 w 3720160"/>
              <a:gd name="connsiteY1" fmla="*/ 0 h 2718148"/>
              <a:gd name="connsiteX2" fmla="*/ 3720160 w 3720160"/>
              <a:gd name="connsiteY2" fmla="*/ 252625 h 2718148"/>
              <a:gd name="connsiteX3" fmla="*/ 3720160 w 3720160"/>
              <a:gd name="connsiteY3" fmla="*/ 2465523 h 2718148"/>
              <a:gd name="connsiteX4" fmla="*/ 3467535 w 3720160"/>
              <a:gd name="connsiteY4" fmla="*/ 2718148 h 2718148"/>
              <a:gd name="connsiteX5" fmla="*/ 252625 w 3720160"/>
              <a:gd name="connsiteY5" fmla="*/ 2718148 h 2718148"/>
              <a:gd name="connsiteX6" fmla="*/ 0 w 3720160"/>
              <a:gd name="connsiteY6" fmla="*/ 2465523 h 2718148"/>
              <a:gd name="connsiteX7" fmla="*/ 0 w 3720160"/>
              <a:gd name="connsiteY7" fmla="*/ 252625 h 2718148"/>
              <a:gd name="connsiteX8" fmla="*/ 252625 w 3720160"/>
              <a:gd name="connsiteY8" fmla="*/ 0 h 2718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0160" h="2718148">
                <a:moveTo>
                  <a:pt x="252625" y="0"/>
                </a:moveTo>
                <a:lnTo>
                  <a:pt x="3467535" y="0"/>
                </a:lnTo>
                <a:cubicBezTo>
                  <a:pt x="3607056" y="0"/>
                  <a:pt x="3720160" y="113104"/>
                  <a:pt x="3720160" y="252625"/>
                </a:cubicBezTo>
                <a:lnTo>
                  <a:pt x="3720160" y="2465523"/>
                </a:lnTo>
                <a:cubicBezTo>
                  <a:pt x="3720160" y="2605044"/>
                  <a:pt x="3607056" y="2718148"/>
                  <a:pt x="3467535" y="2718148"/>
                </a:cubicBezTo>
                <a:lnTo>
                  <a:pt x="252625" y="2718148"/>
                </a:lnTo>
                <a:cubicBezTo>
                  <a:pt x="113104" y="2718148"/>
                  <a:pt x="0" y="2605044"/>
                  <a:pt x="0" y="2465523"/>
                </a:cubicBezTo>
                <a:lnTo>
                  <a:pt x="0" y="252625"/>
                </a:lnTo>
                <a:cubicBezTo>
                  <a:pt x="0" y="113104"/>
                  <a:pt x="113104" y="0"/>
                  <a:pt x="252625" y="0"/>
                </a:cubicBezTo>
                <a:close/>
              </a:path>
            </a:pathLst>
          </a:custGeom>
          <a:ln w="1905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ru-RS"/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C4920EB5-BDB4-5170-6E15-055160B304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12351" y="5507125"/>
            <a:ext cx="3215907" cy="3440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Текст с коротким описанием</a:t>
            </a:r>
            <a:endParaRPr lang="ru-RS" dirty="0"/>
          </a:p>
        </p:txBody>
      </p:sp>
      <p:sp>
        <p:nvSpPr>
          <p:cNvPr id="59" name="Текст 49">
            <a:extLst>
              <a:ext uri="{FF2B5EF4-FFF2-40B4-BE49-F238E27FC236}">
                <a16:creationId xmlns:a16="http://schemas.microsoft.com/office/drawing/2014/main" id="{03547A6E-51CB-CF4B-0A19-8B62C9916F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12351" y="5181818"/>
            <a:ext cx="3225183" cy="314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Подзаголовок</a:t>
            </a:r>
            <a:endParaRPr lang="ru-R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708763B-971C-3A2E-5718-C94DF720FA45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BD40532-3785-F8BF-7707-34A283B1393A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A5899FD-6FAC-BC9E-A965-8ABBD6459433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E4AA9E39-53E1-536A-3CAD-51DB2A9228C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BB277149-A084-2940-F53D-437E8EBA1ABD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73544487-2951-832E-AA8A-80769A45F3B2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6BEC7406-A8AF-FEB5-D645-91E06E93F1FA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C810D4CA-0AD8-A710-AE58-C093F8F45C7E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51A6476B-9619-F270-D668-3D1DE8B42139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0A0797B9-8AB9-8C6E-A61C-EB60C1CBF6C1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41BD9E56-CC94-C1EE-D047-8B35F970A4A0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17526839-5FE5-6841-FB42-A755AB13CE2E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B2130DA9-E316-3698-9CC0-23E73332D9C6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D2AE17A9-4252-B2B2-00CB-A14A00F41ABF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2962BB-4AC5-BDC0-ABF3-3C262646FA7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16" name="Текст 47">
            <a:extLst>
              <a:ext uri="{FF2B5EF4-FFF2-40B4-BE49-F238E27FC236}">
                <a16:creationId xmlns:a16="http://schemas.microsoft.com/office/drawing/2014/main" id="{FFAC2EA0-57A1-6DC6-2C46-0D16F4812F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10712131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в одну или две строки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46650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  <p:sldLayoutId id="2147483666" r:id="rId16"/>
    <p:sldLayoutId id="21474836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0974E-30D5-E715-3C79-B1960E905E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16" y="5483591"/>
            <a:ext cx="981784" cy="878825"/>
          </a:xfrm>
        </p:spPr>
      </p:pic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5" y="1452638"/>
            <a:ext cx="11740945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>
                <a:solidFill>
                  <a:schemeClr val="bg1"/>
                </a:solidFill>
              </a:rPr>
              <a:t>Современная архитектура платформ </a:t>
            </a:r>
            <a:r>
              <a:rPr lang="ru-RU" b="0" dirty="0"/>
              <a:t>данных</a:t>
            </a:r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5" y="2545167"/>
            <a:ext cx="8205646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Эволюция архитектур данных: OLTP/OLAP, DWH, Data </a:t>
            </a:r>
            <a:r>
              <a:rPr lang="ru-RU" dirty="0" err="1"/>
              <a:t>Lake</a:t>
            </a:r>
            <a:r>
              <a:rPr lang="ru-RU" dirty="0"/>
              <a:t>, </a:t>
            </a:r>
            <a:r>
              <a:rPr lang="ru-RU" dirty="0" err="1"/>
              <a:t>Lakehouse</a:t>
            </a:r>
            <a:r>
              <a:rPr lang="ru-RU" dirty="0"/>
              <a:t>, Data </a:t>
            </a:r>
            <a:r>
              <a:rPr lang="ru-RU" dirty="0" err="1"/>
              <a:t>Mesh</a:t>
            </a:r>
            <a:r>
              <a:rPr lang="ru-RU" dirty="0"/>
              <a:t>, MPP, </a:t>
            </a:r>
            <a:r>
              <a:rPr lang="ru-RU" dirty="0" err="1"/>
              <a:t>batch</a:t>
            </a:r>
            <a:r>
              <a:rPr lang="ru-RU" dirty="0"/>
              <a:t> и </a:t>
            </a:r>
            <a:r>
              <a:rPr lang="ru-RU" dirty="0" err="1"/>
              <a:t>streaming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5C364C6C-FA1E-48B4-BD75-D2450E2124F0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Гальбинский</a:t>
            </a: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E1CD5484-8C8F-40A0-B3CF-96EC781C5BD1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Главный разработчик (инженер данных)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887C2E3-CC98-0D0E-CC2D-1140A9662F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7550" y="3448718"/>
            <a:ext cx="4361039" cy="2225442"/>
          </a:xfrm>
        </p:spPr>
        <p:txBody>
          <a:bodyPr>
            <a:noAutofit/>
          </a:bodyPr>
          <a:lstStyle/>
          <a:p>
            <a:r>
              <a:rPr lang="ru-RU" dirty="0"/>
              <a:t>Опыт в сфере работы с данными – более 5 лет.</a:t>
            </a:r>
          </a:p>
          <a:p>
            <a:r>
              <a:rPr lang="ru-RU" dirty="0"/>
              <a:t>Опыт работы в должностях аналитик, </a:t>
            </a:r>
            <a:r>
              <a:rPr lang="en-US" dirty="0"/>
              <a:t>bi-</a:t>
            </a:r>
            <a:r>
              <a:rPr lang="ru-RU" dirty="0"/>
              <a:t>разработчик, инженер данных.</a:t>
            </a:r>
          </a:p>
          <a:p>
            <a:r>
              <a:rPr lang="ru-RU" dirty="0"/>
              <a:t>Текущий рабочий стек – </a:t>
            </a:r>
            <a:r>
              <a:rPr lang="en-US" dirty="0"/>
              <a:t>Python, SQL, Apache Airflow, Apache Kafka, Teradata, </a:t>
            </a:r>
            <a:r>
              <a:rPr lang="en-US" dirty="0" err="1"/>
              <a:t>ClickHouse</a:t>
            </a:r>
            <a:r>
              <a:rPr lang="en-US" dirty="0"/>
              <a:t>, PostgreSQL, </a:t>
            </a:r>
            <a:r>
              <a:rPr lang="en-US" dirty="0" err="1"/>
              <a:t>GreenPlum</a:t>
            </a:r>
            <a:r>
              <a:rPr lang="ru-RU" dirty="0"/>
              <a:t>, </a:t>
            </a:r>
            <a:r>
              <a:rPr lang="en-US" dirty="0"/>
              <a:t>Docker, Kubernetes, Terraform. </a:t>
            </a:r>
            <a:endParaRPr lang="ru-RU" dirty="0"/>
          </a:p>
          <a:p>
            <a:r>
              <a:rPr lang="ru-RU" dirty="0"/>
              <a:t>Работает в </a:t>
            </a:r>
            <a:r>
              <a:rPr lang="en-US" dirty="0" err="1"/>
              <a:t>MagnitTECH</a:t>
            </a:r>
            <a:r>
              <a:rPr lang="en-US" dirty="0"/>
              <a:t> </a:t>
            </a:r>
            <a:r>
              <a:rPr lang="ru-RU" dirty="0"/>
              <a:t>более 3-х лет.</a:t>
            </a:r>
            <a:endParaRPr lang="ru-RS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20AA7C9F-0DB8-9F70-AFC9-C446531959D2}"/>
              </a:ext>
            </a:extLst>
          </p:cNvPr>
          <p:cNvSpPr/>
          <p:nvPr/>
        </p:nvSpPr>
        <p:spPr>
          <a:xfrm>
            <a:off x="390684" y="3448718"/>
            <a:ext cx="670560" cy="670560"/>
          </a:xfrm>
          <a:prstGeom prst="ellipse">
            <a:avLst/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grpSp>
        <p:nvGrpSpPr>
          <p:cNvPr id="11" name="Рисунок 22">
            <a:extLst>
              <a:ext uri="{FF2B5EF4-FFF2-40B4-BE49-F238E27FC236}">
                <a16:creationId xmlns:a16="http://schemas.microsoft.com/office/drawing/2014/main" id="{BD20FFE4-E30F-B7B0-B710-209DD091F471}"/>
              </a:ext>
            </a:extLst>
          </p:cNvPr>
          <p:cNvGrpSpPr/>
          <p:nvPr/>
        </p:nvGrpSpPr>
        <p:grpSpPr>
          <a:xfrm>
            <a:off x="547757" y="3602946"/>
            <a:ext cx="345418" cy="326630"/>
            <a:chOff x="5528877" y="4553325"/>
            <a:chExt cx="1174498" cy="1110615"/>
          </a:xfrm>
          <a:solidFill>
            <a:srgbClr val="FFF654"/>
          </a:solidFill>
        </p:grpSpPr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5F81F9A2-9A12-EE7A-9C10-67FB9CDE6114}"/>
                </a:ext>
              </a:extLst>
            </p:cNvPr>
            <p:cNvSpPr/>
            <p:nvPr/>
          </p:nvSpPr>
          <p:spPr>
            <a:xfrm>
              <a:off x="5897495" y="4553325"/>
              <a:ext cx="438150" cy="163829"/>
            </a:xfrm>
            <a:custGeom>
              <a:avLst/>
              <a:gdLst>
                <a:gd name="connsiteX0" fmla="*/ 80010 w 438150"/>
                <a:gd name="connsiteY0" fmla="*/ 97155 h 163829"/>
                <a:gd name="connsiteX1" fmla="*/ 81915 w 438150"/>
                <a:gd name="connsiteY1" fmla="*/ 95250 h 163829"/>
                <a:gd name="connsiteX2" fmla="*/ 356235 w 438150"/>
                <a:gd name="connsiteY2" fmla="*/ 95250 h 163829"/>
                <a:gd name="connsiteX3" fmla="*/ 358140 w 438150"/>
                <a:gd name="connsiteY3" fmla="*/ 97155 h 163829"/>
                <a:gd name="connsiteX4" fmla="*/ 358140 w 438150"/>
                <a:gd name="connsiteY4" fmla="*/ 163830 h 163829"/>
                <a:gd name="connsiteX5" fmla="*/ 438150 w 438150"/>
                <a:gd name="connsiteY5" fmla="*/ 163830 h 163829"/>
                <a:gd name="connsiteX6" fmla="*/ 438150 w 438150"/>
                <a:gd name="connsiteY6" fmla="*/ 37148 h 163829"/>
                <a:gd name="connsiteX7" fmla="*/ 415290 w 438150"/>
                <a:gd name="connsiteY7" fmla="*/ 14288 h 163829"/>
                <a:gd name="connsiteX8" fmla="*/ 20955 w 438150"/>
                <a:gd name="connsiteY8" fmla="*/ 14288 h 163829"/>
                <a:gd name="connsiteX9" fmla="*/ 0 w 438150"/>
                <a:gd name="connsiteY9" fmla="*/ 37148 h 163829"/>
                <a:gd name="connsiteX10" fmla="*/ 0 w 438150"/>
                <a:gd name="connsiteY10" fmla="*/ 163830 h 163829"/>
                <a:gd name="connsiteX11" fmla="*/ 80963 w 438150"/>
                <a:gd name="connsiteY11" fmla="*/ 163830 h 163829"/>
                <a:gd name="connsiteX12" fmla="*/ 80963 w 438150"/>
                <a:gd name="connsiteY12" fmla="*/ 97155 h 163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8150" h="163829">
                  <a:moveTo>
                    <a:pt x="80010" y="97155"/>
                  </a:moveTo>
                  <a:cubicBezTo>
                    <a:pt x="80010" y="96203"/>
                    <a:pt x="80963" y="95250"/>
                    <a:pt x="81915" y="95250"/>
                  </a:cubicBezTo>
                  <a:lnTo>
                    <a:pt x="356235" y="95250"/>
                  </a:lnTo>
                  <a:cubicBezTo>
                    <a:pt x="357188" y="95250"/>
                    <a:pt x="358140" y="96203"/>
                    <a:pt x="358140" y="97155"/>
                  </a:cubicBezTo>
                  <a:lnTo>
                    <a:pt x="358140" y="163830"/>
                  </a:lnTo>
                  <a:lnTo>
                    <a:pt x="438150" y="163830"/>
                  </a:lnTo>
                  <a:lnTo>
                    <a:pt x="438150" y="37148"/>
                  </a:lnTo>
                  <a:cubicBezTo>
                    <a:pt x="438150" y="24765"/>
                    <a:pt x="427673" y="14288"/>
                    <a:pt x="415290" y="14288"/>
                  </a:cubicBezTo>
                  <a:cubicBezTo>
                    <a:pt x="283845" y="-4763"/>
                    <a:pt x="152400" y="-4763"/>
                    <a:pt x="20955" y="14288"/>
                  </a:cubicBezTo>
                  <a:cubicBezTo>
                    <a:pt x="9525" y="14288"/>
                    <a:pt x="0" y="24765"/>
                    <a:pt x="0" y="37148"/>
                  </a:cubicBezTo>
                  <a:lnTo>
                    <a:pt x="0" y="163830"/>
                  </a:lnTo>
                  <a:lnTo>
                    <a:pt x="80963" y="163830"/>
                  </a:lnTo>
                  <a:lnTo>
                    <a:pt x="80963" y="971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43BB6EA9-F89B-2378-905C-2B6E3604CF24}"/>
                </a:ext>
              </a:extLst>
            </p:cNvPr>
            <p:cNvSpPr/>
            <p:nvPr/>
          </p:nvSpPr>
          <p:spPr>
            <a:xfrm>
              <a:off x="5553642" y="5301990"/>
              <a:ext cx="1126807" cy="361950"/>
            </a:xfrm>
            <a:custGeom>
              <a:avLst/>
              <a:gdLst>
                <a:gd name="connsiteX0" fmla="*/ 0 w 1126807"/>
                <a:gd name="connsiteY0" fmla="*/ 0 h 361950"/>
                <a:gd name="connsiteX1" fmla="*/ 0 w 1126807"/>
                <a:gd name="connsiteY1" fmla="*/ 340042 h 361950"/>
                <a:gd name="connsiteX2" fmla="*/ 22860 w 1126807"/>
                <a:gd name="connsiteY2" fmla="*/ 361950 h 361950"/>
                <a:gd name="connsiteX3" fmla="*/ 1103948 w 1126807"/>
                <a:gd name="connsiteY3" fmla="*/ 361950 h 361950"/>
                <a:gd name="connsiteX4" fmla="*/ 1126808 w 1126807"/>
                <a:gd name="connsiteY4" fmla="*/ 340042 h 361950"/>
                <a:gd name="connsiteX5" fmla="*/ 1126808 w 1126807"/>
                <a:gd name="connsiteY5" fmla="*/ 952 h 361950"/>
                <a:gd name="connsiteX6" fmla="*/ 580073 w 1126807"/>
                <a:gd name="connsiteY6" fmla="*/ 77152 h 361950"/>
                <a:gd name="connsiteX7" fmla="*/ 0 w 1126807"/>
                <a:gd name="connsiteY7" fmla="*/ 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6807" h="361950">
                  <a:moveTo>
                    <a:pt x="0" y="0"/>
                  </a:moveTo>
                  <a:lnTo>
                    <a:pt x="0" y="340042"/>
                  </a:lnTo>
                  <a:cubicBezTo>
                    <a:pt x="0" y="352425"/>
                    <a:pt x="10477" y="361950"/>
                    <a:pt x="22860" y="361950"/>
                  </a:cubicBezTo>
                  <a:lnTo>
                    <a:pt x="1103948" y="361950"/>
                  </a:lnTo>
                  <a:cubicBezTo>
                    <a:pt x="1116330" y="361950"/>
                    <a:pt x="1126808" y="352425"/>
                    <a:pt x="1126808" y="340042"/>
                  </a:cubicBezTo>
                  <a:lnTo>
                    <a:pt x="1126808" y="952"/>
                  </a:lnTo>
                  <a:cubicBezTo>
                    <a:pt x="935355" y="57150"/>
                    <a:pt x="746760" y="77152"/>
                    <a:pt x="580073" y="77152"/>
                  </a:cubicBezTo>
                  <a:cubicBezTo>
                    <a:pt x="304800" y="77152"/>
                    <a:pt x="85725" y="24765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C78349F9-8D88-7D18-EFE3-127749000F29}"/>
                </a:ext>
              </a:extLst>
            </p:cNvPr>
            <p:cNvSpPr/>
            <p:nvPr/>
          </p:nvSpPr>
          <p:spPr>
            <a:xfrm>
              <a:off x="5528877" y="4760017"/>
              <a:ext cx="1174498" cy="552450"/>
            </a:xfrm>
            <a:custGeom>
              <a:avLst/>
              <a:gdLst>
                <a:gd name="connsiteX0" fmla="*/ 1155383 w 1174498"/>
                <a:gd name="connsiteY0" fmla="*/ 0 h 552450"/>
                <a:gd name="connsiteX1" fmla="*/ 20003 w 1174498"/>
                <a:gd name="connsiteY1" fmla="*/ 0 h 552450"/>
                <a:gd name="connsiteX2" fmla="*/ 0 w 1174498"/>
                <a:gd name="connsiteY2" fmla="*/ 20003 h 552450"/>
                <a:gd name="connsiteX3" fmla="*/ 0 w 1174498"/>
                <a:gd name="connsiteY3" fmla="*/ 425768 h 552450"/>
                <a:gd name="connsiteX4" fmla="*/ 39053 w 1174498"/>
                <a:gd name="connsiteY4" fmla="*/ 478155 h 552450"/>
                <a:gd name="connsiteX5" fmla="*/ 528638 w 1174498"/>
                <a:gd name="connsiteY5" fmla="*/ 551498 h 552450"/>
                <a:gd name="connsiteX6" fmla="*/ 528638 w 1174498"/>
                <a:gd name="connsiteY6" fmla="*/ 520065 h 552450"/>
                <a:gd name="connsiteX7" fmla="*/ 586740 w 1174498"/>
                <a:gd name="connsiteY7" fmla="*/ 461963 h 552450"/>
                <a:gd name="connsiteX8" fmla="*/ 627698 w 1174498"/>
                <a:gd name="connsiteY8" fmla="*/ 479107 h 552450"/>
                <a:gd name="connsiteX9" fmla="*/ 644843 w 1174498"/>
                <a:gd name="connsiteY9" fmla="*/ 520065 h 552450"/>
                <a:gd name="connsiteX10" fmla="*/ 644843 w 1174498"/>
                <a:gd name="connsiteY10" fmla="*/ 552450 h 552450"/>
                <a:gd name="connsiteX11" fmla="*/ 1135380 w 1174498"/>
                <a:gd name="connsiteY11" fmla="*/ 478155 h 552450"/>
                <a:gd name="connsiteX12" fmla="*/ 1174433 w 1174498"/>
                <a:gd name="connsiteY12" fmla="*/ 425768 h 552450"/>
                <a:gd name="connsiteX13" fmla="*/ 1174433 w 1174498"/>
                <a:gd name="connsiteY13" fmla="*/ 20003 h 552450"/>
                <a:gd name="connsiteX14" fmla="*/ 1155383 w 1174498"/>
                <a:gd name="connsiteY14" fmla="*/ 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74498" h="552450">
                  <a:moveTo>
                    <a:pt x="1155383" y="0"/>
                  </a:moveTo>
                  <a:lnTo>
                    <a:pt x="20003" y="0"/>
                  </a:lnTo>
                  <a:cubicBezTo>
                    <a:pt x="9525" y="0"/>
                    <a:pt x="0" y="8572"/>
                    <a:pt x="0" y="20003"/>
                  </a:cubicBezTo>
                  <a:lnTo>
                    <a:pt x="0" y="425768"/>
                  </a:lnTo>
                  <a:cubicBezTo>
                    <a:pt x="0" y="450532"/>
                    <a:pt x="16193" y="471488"/>
                    <a:pt x="39053" y="478155"/>
                  </a:cubicBezTo>
                  <a:cubicBezTo>
                    <a:pt x="115253" y="500063"/>
                    <a:pt x="297180" y="543878"/>
                    <a:pt x="528638" y="551498"/>
                  </a:cubicBezTo>
                  <a:lnTo>
                    <a:pt x="528638" y="520065"/>
                  </a:lnTo>
                  <a:cubicBezTo>
                    <a:pt x="528638" y="488632"/>
                    <a:pt x="554355" y="461963"/>
                    <a:pt x="586740" y="461963"/>
                  </a:cubicBezTo>
                  <a:cubicBezTo>
                    <a:pt x="602933" y="461963"/>
                    <a:pt x="617220" y="468630"/>
                    <a:pt x="627698" y="479107"/>
                  </a:cubicBezTo>
                  <a:cubicBezTo>
                    <a:pt x="638175" y="489585"/>
                    <a:pt x="644843" y="503873"/>
                    <a:pt x="644843" y="520065"/>
                  </a:cubicBezTo>
                  <a:lnTo>
                    <a:pt x="644843" y="552450"/>
                  </a:lnTo>
                  <a:cubicBezTo>
                    <a:pt x="797243" y="549593"/>
                    <a:pt x="964883" y="529590"/>
                    <a:pt x="1135380" y="478155"/>
                  </a:cubicBezTo>
                  <a:cubicBezTo>
                    <a:pt x="1158240" y="471488"/>
                    <a:pt x="1174433" y="449580"/>
                    <a:pt x="1174433" y="425768"/>
                  </a:cubicBezTo>
                  <a:lnTo>
                    <a:pt x="1174433" y="20003"/>
                  </a:lnTo>
                  <a:cubicBezTo>
                    <a:pt x="1175385" y="8572"/>
                    <a:pt x="1165860" y="0"/>
                    <a:pt x="115538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Краткая справка </a:t>
            </a:r>
            <a:r>
              <a:rPr lang="ru-RU" dirty="0">
                <a:solidFill>
                  <a:srgbClr val="FF0000"/>
                </a:solidFill>
              </a:rPr>
              <a:t>о преподавателе</a:t>
            </a:r>
            <a:endParaRPr lang="ru-RS" dirty="0"/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01576549-4752-1FD1-4766-65749DCC5D01}"/>
              </a:ext>
            </a:extLst>
          </p:cNvPr>
          <p:cNvSpPr txBox="1">
            <a:spLocks/>
          </p:cNvSpPr>
          <p:nvPr/>
        </p:nvSpPr>
        <p:spPr>
          <a:xfrm>
            <a:off x="259086" y="2124515"/>
            <a:ext cx="10569876" cy="529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Никакой воды, только то, что необходимо</a:t>
            </a:r>
          </a:p>
          <a:p>
            <a:endParaRPr lang="ru-RS" dirty="0"/>
          </a:p>
          <a:p>
            <a:endParaRPr lang="ru-RS" dirty="0"/>
          </a:p>
          <a:p>
            <a:endParaRPr lang="ru-RS" dirty="0"/>
          </a:p>
          <a:p>
            <a:endParaRPr lang="ru-RS" dirty="0"/>
          </a:p>
          <a:p>
            <a:endParaRPr lang="ru-R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5C1EC2-703E-4449-ECB1-49960F9476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12071" y="1937652"/>
            <a:ext cx="3122035" cy="4162714"/>
          </a:xfrm>
          <a:prstGeom prst="round2DiagRect">
            <a:avLst/>
          </a:prstGeom>
          <a:ln>
            <a:solidFill>
              <a:srgbClr val="FFFF0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072991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3614F-C1ED-C01C-F83E-C896058A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89304FE-154E-33ED-F458-EC76AE5B42EE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A5BCD9F3-647A-0BD5-8DD6-6391EA67FFC2}"/>
              </a:ext>
            </a:extLst>
          </p:cNvPr>
          <p:cNvSpPr txBox="1">
            <a:spLocks/>
          </p:cNvSpPr>
          <p:nvPr/>
        </p:nvSpPr>
        <p:spPr>
          <a:xfrm>
            <a:off x="145876" y="1039033"/>
            <a:ext cx="5950124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Краткая справка </a:t>
            </a:r>
            <a:r>
              <a:rPr lang="ru-RU" dirty="0">
                <a:solidFill>
                  <a:srgbClr val="FF0000"/>
                </a:solidFill>
              </a:rPr>
              <a:t>о курсе</a:t>
            </a:r>
            <a:endParaRPr lang="ru-RS" dirty="0"/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587406B8-569E-E6DF-CAE5-85F42D973B3C}"/>
              </a:ext>
            </a:extLst>
          </p:cNvPr>
          <p:cNvSpPr txBox="1">
            <a:spLocks/>
          </p:cNvSpPr>
          <p:nvPr/>
        </p:nvSpPr>
        <p:spPr>
          <a:xfrm>
            <a:off x="145876" y="2006722"/>
            <a:ext cx="5836913" cy="14222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/>
              <a:t>Курс является обзорным</a:t>
            </a:r>
            <a:endParaRPr lang="en-US" sz="1800" dirty="0"/>
          </a:p>
          <a:p>
            <a:endParaRPr lang="en-US" sz="1800" dirty="0"/>
          </a:p>
          <a:p>
            <a:r>
              <a:rPr lang="ru-RU" sz="1800" dirty="0"/>
              <a:t>Материалы занятий будут размещаться на публичном репозитории в </a:t>
            </a:r>
            <a:r>
              <a:rPr lang="en-US" sz="1800" dirty="0"/>
              <a:t>GitHub</a:t>
            </a:r>
            <a:endParaRPr lang="ru-R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6F2DA-C3B4-50E8-8A69-6B4AB4010A71}"/>
              </a:ext>
            </a:extLst>
          </p:cNvPr>
          <p:cNvSpPr txBox="1"/>
          <p:nvPr/>
        </p:nvSpPr>
        <p:spPr>
          <a:xfrm>
            <a:off x="-334187" y="5634300"/>
            <a:ext cx="631697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700" dirty="0">
                <a:solidFill>
                  <a:schemeClr val="bg1"/>
                </a:solidFill>
              </a:rPr>
              <a:t>https://</a:t>
            </a:r>
            <a:r>
              <a:rPr lang="en" sz="1700" dirty="0" err="1">
                <a:solidFill>
                  <a:schemeClr val="bg1"/>
                </a:solidFill>
              </a:rPr>
              <a:t>github.com</a:t>
            </a:r>
            <a:r>
              <a:rPr lang="en" sz="1700" dirty="0">
                <a:solidFill>
                  <a:schemeClr val="bg1"/>
                </a:solidFill>
              </a:rPr>
              <a:t>/sql-for-students-2025/data-platforms-architecture</a:t>
            </a:r>
            <a:endParaRPr lang="ru-RU" sz="1700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293FB8-8DF8-63A0-B482-067F64330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794" y="3566450"/>
            <a:ext cx="1930400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51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466875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Главный вопрос </a:t>
            </a:r>
            <a:r>
              <a:rPr lang="ru-RU" dirty="0"/>
              <a:t>инженерии данных</a:t>
            </a:r>
            <a:endParaRPr lang="ru-RS" dirty="0">
              <a:solidFill>
                <a:srgbClr val="EE0F01"/>
              </a:solidFill>
            </a:endParaRP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B89C43-CDAB-DCFC-6E44-09ADDC93368A}"/>
              </a:ext>
            </a:extLst>
          </p:cNvPr>
          <p:cNvSpPr txBox="1">
            <a:spLocks/>
          </p:cNvSpPr>
          <p:nvPr/>
        </p:nvSpPr>
        <p:spPr>
          <a:xfrm>
            <a:off x="259087" y="4227502"/>
            <a:ext cx="4608748" cy="13018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Храним там, где </a:t>
            </a:r>
            <a:r>
              <a:rPr lang="ru-RU" dirty="0">
                <a:solidFill>
                  <a:srgbClr val="FF0000"/>
                </a:solidFill>
              </a:rPr>
              <a:t>дешево</a:t>
            </a:r>
            <a:r>
              <a:rPr lang="ru-RU" dirty="0"/>
              <a:t>. Считаем там, где </a:t>
            </a:r>
            <a:r>
              <a:rPr lang="ru-RU" dirty="0">
                <a:solidFill>
                  <a:srgbClr val="FF0000"/>
                </a:solidFill>
              </a:rPr>
              <a:t>быстро</a:t>
            </a:r>
            <a:r>
              <a:rPr lang="ru-RU" dirty="0"/>
              <a:t>. Отдаем оттуда, где </a:t>
            </a:r>
            <a:r>
              <a:rPr lang="ru-RU" dirty="0">
                <a:solidFill>
                  <a:srgbClr val="FF0000"/>
                </a:solidFill>
              </a:rPr>
              <a:t>удобно</a:t>
            </a:r>
            <a:r>
              <a:rPr lang="ru-RU" dirty="0"/>
              <a:t>.</a:t>
            </a: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0F2F6C29-271F-CBE4-E4C7-A40E7682B4FC}"/>
              </a:ext>
            </a:extLst>
          </p:cNvPr>
          <p:cNvSpPr txBox="1">
            <a:spLocks/>
          </p:cNvSpPr>
          <p:nvPr/>
        </p:nvSpPr>
        <p:spPr>
          <a:xfrm>
            <a:off x="259087" y="2778077"/>
            <a:ext cx="4608748" cy="13018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/>
              <a:t>Архитеĸтура</a:t>
            </a:r>
            <a:r>
              <a:rPr lang="ru-RU" dirty="0"/>
              <a:t> данных — это то, </a:t>
            </a:r>
            <a:r>
              <a:rPr lang="ru-RU" dirty="0" err="1"/>
              <a:t>ĸаĸ</a:t>
            </a:r>
            <a:r>
              <a:rPr lang="ru-RU" dirty="0"/>
              <a:t>, где мы храним</a:t>
            </a:r>
            <a:r>
              <a:rPr lang="en-US" dirty="0"/>
              <a:t> </a:t>
            </a:r>
            <a:r>
              <a:rPr lang="ru-RU" dirty="0"/>
              <a:t>данные и с </a:t>
            </a:r>
            <a:r>
              <a:rPr lang="ru-RU" dirty="0" err="1"/>
              <a:t>ĸаĸой</a:t>
            </a:r>
            <a:r>
              <a:rPr lang="ru-RU" dirty="0"/>
              <a:t> </a:t>
            </a:r>
            <a:r>
              <a:rPr lang="ru-RU" dirty="0" err="1"/>
              <a:t>сĸоростью</a:t>
            </a:r>
            <a:r>
              <a:rPr lang="ru-RU" dirty="0"/>
              <a:t> отдаем их обратно пользователю.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0944BA-96BD-3156-B025-FEC4F043E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847" y="2204901"/>
            <a:ext cx="35052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7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7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6FE78-F22F-2202-9760-72E4DDB97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2050816-E9D5-1E94-C59D-DCC57038B39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B3C0B83E-8101-F9B4-E6F8-7205806D56F5}"/>
              </a:ext>
            </a:extLst>
          </p:cNvPr>
          <p:cNvSpPr txBox="1">
            <a:spLocks/>
          </p:cNvSpPr>
          <p:nvPr/>
        </p:nvSpPr>
        <p:spPr>
          <a:xfrm>
            <a:off x="277517" y="1347981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Эволюция хранилищ: </a:t>
            </a:r>
            <a:r>
              <a:rPr lang="ru-RU" dirty="0"/>
              <a:t>от DWH </a:t>
            </a:r>
            <a:r>
              <a:rPr lang="ru-RU" dirty="0" err="1"/>
              <a:t>ĸ</a:t>
            </a:r>
            <a:r>
              <a:rPr lang="ru-RU" dirty="0"/>
              <a:t> </a:t>
            </a:r>
            <a:r>
              <a:rPr lang="ru-RU" dirty="0" err="1"/>
              <a:t>Lakehouse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3F63AB-4037-7426-7C60-B4C725D62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85" y="2821763"/>
            <a:ext cx="42037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2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4131E-D9BF-5C8C-A503-E8B923616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DA55A3EE-90FB-A1FD-B1BA-FE66930FB548}"/>
              </a:ext>
            </a:extLst>
          </p:cNvPr>
          <p:cNvCxnSpPr>
            <a:cxnSpLocks/>
          </p:cNvCxnSpPr>
          <p:nvPr/>
        </p:nvCxnSpPr>
        <p:spPr>
          <a:xfrm>
            <a:off x="10048381" y="3872201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B597DB28-D2F1-ADB6-F56F-6834915C3471}"/>
              </a:ext>
            </a:extLst>
          </p:cNvPr>
          <p:cNvCxnSpPr>
            <a:cxnSpLocks/>
          </p:cNvCxnSpPr>
          <p:nvPr/>
        </p:nvCxnSpPr>
        <p:spPr>
          <a:xfrm>
            <a:off x="1063838" y="3862873"/>
            <a:ext cx="0" cy="796909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8DDACBA1-8C6C-C499-A355-0656B462939D}"/>
              </a:ext>
            </a:extLst>
          </p:cNvPr>
          <p:cNvCxnSpPr>
            <a:cxnSpLocks/>
          </p:cNvCxnSpPr>
          <p:nvPr/>
        </p:nvCxnSpPr>
        <p:spPr>
          <a:xfrm>
            <a:off x="6554431" y="3065965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F44230F7-BD39-91FF-A4E5-931CD2A0C7B4}"/>
              </a:ext>
            </a:extLst>
          </p:cNvPr>
          <p:cNvCxnSpPr>
            <a:cxnSpLocks/>
          </p:cNvCxnSpPr>
          <p:nvPr/>
        </p:nvCxnSpPr>
        <p:spPr>
          <a:xfrm>
            <a:off x="3247434" y="3862873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E3FEEAA7-DFD7-3A4A-1706-2010C36B4E62}"/>
              </a:ext>
            </a:extLst>
          </p:cNvPr>
          <p:cNvCxnSpPr>
            <a:cxnSpLocks/>
          </p:cNvCxnSpPr>
          <p:nvPr/>
        </p:nvCxnSpPr>
        <p:spPr>
          <a:xfrm>
            <a:off x="7765764" y="3862873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7F21EEDB-A757-8BF7-0DC0-D5005D128E92}"/>
              </a:ext>
            </a:extLst>
          </p:cNvPr>
          <p:cNvCxnSpPr>
            <a:cxnSpLocks/>
          </p:cNvCxnSpPr>
          <p:nvPr/>
        </p:nvCxnSpPr>
        <p:spPr>
          <a:xfrm>
            <a:off x="4328143" y="3065965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05AE222C-C860-29D3-2009-6525122578FE}"/>
              </a:ext>
            </a:extLst>
          </p:cNvPr>
          <p:cNvCxnSpPr>
            <a:cxnSpLocks/>
          </p:cNvCxnSpPr>
          <p:nvPr/>
        </p:nvCxnSpPr>
        <p:spPr>
          <a:xfrm>
            <a:off x="5416237" y="3862873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9D2D09FC-E5F3-F225-1EDA-A350A797FD90}"/>
              </a:ext>
            </a:extLst>
          </p:cNvPr>
          <p:cNvCxnSpPr>
            <a:cxnSpLocks/>
          </p:cNvCxnSpPr>
          <p:nvPr/>
        </p:nvCxnSpPr>
        <p:spPr>
          <a:xfrm>
            <a:off x="8901504" y="3054233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1391838-E5D3-ED80-5B73-980B8DC6891A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6</a:t>
            </a:fld>
            <a:endParaRPr lang="ru-RS"/>
          </a:p>
        </p:txBody>
      </p:sp>
      <p:sp>
        <p:nvSpPr>
          <p:cNvPr id="32" name="Текст 3">
            <a:extLst>
              <a:ext uri="{FF2B5EF4-FFF2-40B4-BE49-F238E27FC236}">
                <a16:creationId xmlns:a16="http://schemas.microsoft.com/office/drawing/2014/main" id="{228AC905-6376-A775-A59D-DBCAC27FA3E1}"/>
              </a:ext>
            </a:extLst>
          </p:cNvPr>
          <p:cNvSpPr txBox="1">
            <a:spLocks/>
          </p:cNvSpPr>
          <p:nvPr/>
        </p:nvSpPr>
        <p:spPr>
          <a:xfrm>
            <a:off x="260669" y="1183590"/>
            <a:ext cx="11262637" cy="558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Таймлайн эволюции </a:t>
            </a:r>
            <a:r>
              <a:rPr lang="ru-RU" dirty="0">
                <a:solidFill>
                  <a:srgbClr val="FF0000"/>
                </a:solidFill>
              </a:rPr>
              <a:t>хранилищ</a:t>
            </a:r>
            <a:endParaRPr lang="ru-RS" dirty="0">
              <a:solidFill>
                <a:srgbClr val="FF0000"/>
              </a:solidFill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FCCE3278-A8AD-9103-A1ED-F04579D57762}"/>
              </a:ext>
            </a:extLst>
          </p:cNvPr>
          <p:cNvCxnSpPr/>
          <p:nvPr/>
        </p:nvCxnSpPr>
        <p:spPr>
          <a:xfrm>
            <a:off x="326571" y="3862873"/>
            <a:ext cx="11548522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AED4E0A7-1492-6E8E-59EE-915C9E07C7F8}"/>
              </a:ext>
            </a:extLst>
          </p:cNvPr>
          <p:cNvSpPr/>
          <p:nvPr/>
        </p:nvSpPr>
        <p:spPr>
          <a:xfrm>
            <a:off x="991212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FE7F3478-2E30-9143-6849-32611DBB1000}"/>
              </a:ext>
            </a:extLst>
          </p:cNvPr>
          <p:cNvSpPr/>
          <p:nvPr/>
        </p:nvSpPr>
        <p:spPr>
          <a:xfrm>
            <a:off x="6489728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3D8BB378-2BD7-4805-7723-2F071A83FC26}"/>
              </a:ext>
            </a:extLst>
          </p:cNvPr>
          <p:cNvSpPr/>
          <p:nvPr/>
        </p:nvSpPr>
        <p:spPr>
          <a:xfrm>
            <a:off x="3183607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6EAB3DCC-4F51-67B0-2DED-1E562638B04C}"/>
              </a:ext>
            </a:extLst>
          </p:cNvPr>
          <p:cNvSpPr/>
          <p:nvPr/>
        </p:nvSpPr>
        <p:spPr>
          <a:xfrm>
            <a:off x="7702269" y="3778900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8FD8BB8A-44B0-C5B6-34D2-371F7D88F3F0}"/>
              </a:ext>
            </a:extLst>
          </p:cNvPr>
          <p:cNvSpPr/>
          <p:nvPr/>
        </p:nvSpPr>
        <p:spPr>
          <a:xfrm>
            <a:off x="5343607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517A951C-D446-212D-C1BC-2AA52E350245}"/>
              </a:ext>
            </a:extLst>
          </p:cNvPr>
          <p:cNvSpPr/>
          <p:nvPr/>
        </p:nvSpPr>
        <p:spPr>
          <a:xfrm>
            <a:off x="4263607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9DAB7341-5C04-9E1C-CBF1-8C5957E6FC49}"/>
              </a:ext>
            </a:extLst>
          </p:cNvPr>
          <p:cNvSpPr/>
          <p:nvPr/>
        </p:nvSpPr>
        <p:spPr>
          <a:xfrm>
            <a:off x="9983035" y="3798628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7E6A3B1A-DD7E-7834-32CA-663958768EB4}"/>
              </a:ext>
            </a:extLst>
          </p:cNvPr>
          <p:cNvSpPr/>
          <p:nvPr/>
        </p:nvSpPr>
        <p:spPr>
          <a:xfrm>
            <a:off x="8839867" y="3784202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Текст 1">
            <a:extLst>
              <a:ext uri="{FF2B5EF4-FFF2-40B4-BE49-F238E27FC236}">
                <a16:creationId xmlns:a16="http://schemas.microsoft.com/office/drawing/2014/main" id="{59DC744A-7EBE-65E6-D987-89C383DFD3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5913" y="4684550"/>
            <a:ext cx="1763035" cy="529228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ctr">
              <a:lnSpc>
                <a:spcPct val="114000"/>
              </a:lnSpc>
              <a:spcBef>
                <a:spcPts val="0"/>
              </a:spcBef>
              <a:buNone/>
            </a:pPr>
            <a:r>
              <a:rPr lang="en-US" sz="1200" dirty="0"/>
              <a:t>1960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1200" dirty="0"/>
              <a:t>Иерархические БД</a:t>
            </a:r>
            <a:endParaRPr lang="ru-RS" sz="1200" dirty="0"/>
          </a:p>
        </p:txBody>
      </p:sp>
      <p:sp>
        <p:nvSpPr>
          <p:cNvPr id="38" name="Текст 1">
            <a:extLst>
              <a:ext uri="{FF2B5EF4-FFF2-40B4-BE49-F238E27FC236}">
                <a16:creationId xmlns:a16="http://schemas.microsoft.com/office/drawing/2014/main" id="{5393113E-0CC7-0709-F3C4-0100E823A698}"/>
              </a:ext>
            </a:extLst>
          </p:cNvPr>
          <p:cNvSpPr txBox="1">
            <a:spLocks/>
          </p:cNvSpPr>
          <p:nvPr/>
        </p:nvSpPr>
        <p:spPr>
          <a:xfrm>
            <a:off x="1195738" y="2537199"/>
            <a:ext cx="1948575" cy="51870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200" dirty="0"/>
              <a:t>1970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200" dirty="0"/>
              <a:t>Реляционные БД (</a:t>
            </a:r>
            <a:r>
              <a:rPr lang="en-US" sz="1200" dirty="0"/>
              <a:t>OLTP)</a:t>
            </a:r>
            <a:endParaRPr lang="ru-RU" dirty="0"/>
          </a:p>
        </p:txBody>
      </p:sp>
      <p:sp>
        <p:nvSpPr>
          <p:cNvPr id="40" name="Текст 1">
            <a:extLst>
              <a:ext uri="{FF2B5EF4-FFF2-40B4-BE49-F238E27FC236}">
                <a16:creationId xmlns:a16="http://schemas.microsoft.com/office/drawing/2014/main" id="{05786ECC-EA53-EEA6-7050-B1B9776948D8}"/>
              </a:ext>
            </a:extLst>
          </p:cNvPr>
          <p:cNvSpPr txBox="1">
            <a:spLocks/>
          </p:cNvSpPr>
          <p:nvPr/>
        </p:nvSpPr>
        <p:spPr>
          <a:xfrm>
            <a:off x="2540599" y="4733118"/>
            <a:ext cx="1413670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200" dirty="0"/>
              <a:t>1980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Data Warehouse</a:t>
            </a:r>
          </a:p>
        </p:txBody>
      </p:sp>
      <p:sp>
        <p:nvSpPr>
          <p:cNvPr id="42" name="Текст 1">
            <a:extLst>
              <a:ext uri="{FF2B5EF4-FFF2-40B4-BE49-F238E27FC236}">
                <a16:creationId xmlns:a16="http://schemas.microsoft.com/office/drawing/2014/main" id="{BD7196F3-0931-87C3-DBBA-0C65AB2AECB1}"/>
              </a:ext>
            </a:extLst>
          </p:cNvPr>
          <p:cNvSpPr txBox="1">
            <a:spLocks/>
          </p:cNvSpPr>
          <p:nvPr/>
        </p:nvSpPr>
        <p:spPr>
          <a:xfrm>
            <a:off x="3538309" y="2577285"/>
            <a:ext cx="1579667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1990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OLAP</a:t>
            </a:r>
            <a:endParaRPr lang="ru-RU" sz="1200" dirty="0"/>
          </a:p>
        </p:txBody>
      </p:sp>
      <p:sp>
        <p:nvSpPr>
          <p:cNvPr id="44" name="Текст 1">
            <a:extLst>
              <a:ext uri="{FF2B5EF4-FFF2-40B4-BE49-F238E27FC236}">
                <a16:creationId xmlns:a16="http://schemas.microsoft.com/office/drawing/2014/main" id="{5F882C06-ED18-6B18-5712-6B8D49A6E78E}"/>
              </a:ext>
            </a:extLst>
          </p:cNvPr>
          <p:cNvSpPr txBox="1">
            <a:spLocks/>
          </p:cNvSpPr>
          <p:nvPr/>
        </p:nvSpPr>
        <p:spPr>
          <a:xfrm>
            <a:off x="4706751" y="4733118"/>
            <a:ext cx="1413670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2000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MPP</a:t>
            </a:r>
            <a:endParaRPr lang="ru-RU" sz="1200" dirty="0"/>
          </a:p>
        </p:txBody>
      </p:sp>
      <p:sp>
        <p:nvSpPr>
          <p:cNvPr id="46" name="Текст 1">
            <a:extLst>
              <a:ext uri="{FF2B5EF4-FFF2-40B4-BE49-F238E27FC236}">
                <a16:creationId xmlns:a16="http://schemas.microsoft.com/office/drawing/2014/main" id="{14AF4614-9D02-9C64-3ED9-E26B5775779F}"/>
              </a:ext>
            </a:extLst>
          </p:cNvPr>
          <p:cNvSpPr txBox="1">
            <a:spLocks/>
          </p:cNvSpPr>
          <p:nvPr/>
        </p:nvSpPr>
        <p:spPr>
          <a:xfrm>
            <a:off x="5748584" y="2538507"/>
            <a:ext cx="1611693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2005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Hadoop</a:t>
            </a:r>
            <a:endParaRPr lang="ru-RU" sz="1200" dirty="0"/>
          </a:p>
        </p:txBody>
      </p:sp>
      <p:sp>
        <p:nvSpPr>
          <p:cNvPr id="48" name="Текст 1">
            <a:extLst>
              <a:ext uri="{FF2B5EF4-FFF2-40B4-BE49-F238E27FC236}">
                <a16:creationId xmlns:a16="http://schemas.microsoft.com/office/drawing/2014/main" id="{22DCDB9A-6B2C-2C75-EA5A-11F4C5A87BA6}"/>
              </a:ext>
            </a:extLst>
          </p:cNvPr>
          <p:cNvSpPr txBox="1">
            <a:spLocks/>
          </p:cNvSpPr>
          <p:nvPr/>
        </p:nvSpPr>
        <p:spPr>
          <a:xfrm>
            <a:off x="7058929" y="4707442"/>
            <a:ext cx="1413670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2010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Data Lake</a:t>
            </a:r>
            <a:endParaRPr lang="ru-RU" sz="1200" dirty="0"/>
          </a:p>
        </p:txBody>
      </p:sp>
      <p:sp>
        <p:nvSpPr>
          <p:cNvPr id="50" name="Текст 1">
            <a:extLst>
              <a:ext uri="{FF2B5EF4-FFF2-40B4-BE49-F238E27FC236}">
                <a16:creationId xmlns:a16="http://schemas.microsoft.com/office/drawing/2014/main" id="{00D0E656-20A4-9123-8732-FB2CB34F669F}"/>
              </a:ext>
            </a:extLst>
          </p:cNvPr>
          <p:cNvSpPr txBox="1">
            <a:spLocks/>
          </p:cNvSpPr>
          <p:nvPr/>
        </p:nvSpPr>
        <p:spPr>
          <a:xfrm>
            <a:off x="8104006" y="2511969"/>
            <a:ext cx="1611679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2010+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Streaming</a:t>
            </a:r>
            <a:endParaRPr lang="ru-RU" sz="1200" dirty="0"/>
          </a:p>
        </p:txBody>
      </p:sp>
      <p:sp>
        <p:nvSpPr>
          <p:cNvPr id="52" name="Текст 1">
            <a:extLst>
              <a:ext uri="{FF2B5EF4-FFF2-40B4-BE49-F238E27FC236}">
                <a16:creationId xmlns:a16="http://schemas.microsoft.com/office/drawing/2014/main" id="{E4B818D4-B83E-3582-E9D6-6F9AFDBFF1BB}"/>
              </a:ext>
            </a:extLst>
          </p:cNvPr>
          <p:cNvSpPr txBox="1">
            <a:spLocks/>
          </p:cNvSpPr>
          <p:nvPr/>
        </p:nvSpPr>
        <p:spPr>
          <a:xfrm>
            <a:off x="9341546" y="4733118"/>
            <a:ext cx="1413670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  <a:lvl1pPr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2019</a:t>
            </a:r>
          </a:p>
          <a:p>
            <a:r>
              <a:rPr lang="en-US" dirty="0"/>
              <a:t>Data Mesh</a:t>
            </a:r>
            <a:endParaRPr lang="ru-RU" dirty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72D3EF7-9F52-BDC0-6ABA-83DBA602CF26}"/>
              </a:ext>
            </a:extLst>
          </p:cNvPr>
          <p:cNvCxnSpPr>
            <a:cxnSpLocks/>
          </p:cNvCxnSpPr>
          <p:nvPr/>
        </p:nvCxnSpPr>
        <p:spPr>
          <a:xfrm>
            <a:off x="2170026" y="3066404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Овал 12">
            <a:extLst>
              <a:ext uri="{FF2B5EF4-FFF2-40B4-BE49-F238E27FC236}">
                <a16:creationId xmlns:a16="http://schemas.microsoft.com/office/drawing/2014/main" id="{DD6B0B7C-6725-5E7C-FFB1-D793F0A00824}"/>
              </a:ext>
            </a:extLst>
          </p:cNvPr>
          <p:cNvSpPr/>
          <p:nvPr/>
        </p:nvSpPr>
        <p:spPr>
          <a:xfrm>
            <a:off x="2103607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C066A0F5-9512-DF18-EC00-F8912D95C892}"/>
              </a:ext>
            </a:extLst>
          </p:cNvPr>
          <p:cNvCxnSpPr>
            <a:cxnSpLocks/>
          </p:cNvCxnSpPr>
          <p:nvPr/>
        </p:nvCxnSpPr>
        <p:spPr>
          <a:xfrm>
            <a:off x="11240235" y="3064470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Овал 6">
            <a:extLst>
              <a:ext uri="{FF2B5EF4-FFF2-40B4-BE49-F238E27FC236}">
                <a16:creationId xmlns:a16="http://schemas.microsoft.com/office/drawing/2014/main" id="{B0E5129F-DB41-FA25-338F-125D676D92AC}"/>
              </a:ext>
            </a:extLst>
          </p:cNvPr>
          <p:cNvSpPr/>
          <p:nvPr/>
        </p:nvSpPr>
        <p:spPr>
          <a:xfrm>
            <a:off x="11178598" y="3785203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Текст 1">
            <a:extLst>
              <a:ext uri="{FF2B5EF4-FFF2-40B4-BE49-F238E27FC236}">
                <a16:creationId xmlns:a16="http://schemas.microsoft.com/office/drawing/2014/main" id="{594354A5-F873-9F0D-194E-6363B26FF58E}"/>
              </a:ext>
            </a:extLst>
          </p:cNvPr>
          <p:cNvSpPr txBox="1">
            <a:spLocks/>
          </p:cNvSpPr>
          <p:nvPr/>
        </p:nvSpPr>
        <p:spPr>
          <a:xfrm>
            <a:off x="10442737" y="2512970"/>
            <a:ext cx="1611679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2020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Lakehouse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60501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36" grpId="0" uiExpand="1" build="p"/>
      <p:bldP spid="38" grpId="0"/>
      <p:bldP spid="40" grpId="0"/>
      <p:bldP spid="42" grpId="0"/>
      <p:bldP spid="44" grpId="0"/>
      <p:bldP spid="46" grpId="0"/>
      <p:bldP spid="48" grpId="0"/>
      <p:bldP spid="50" grpId="0"/>
      <p:bldP spid="52" grpId="0"/>
      <p:bldP spid="13" grpId="0" animBg="1"/>
      <p:bldP spid="7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7A1B-2D50-276A-1072-2707E2619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4692D80-0FD2-D3E4-EE05-9A536A7ADA6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7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8FB70151-C98F-A4DA-DCF8-CFCBF02CA23C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Хранилище данных: </a:t>
            </a:r>
            <a:r>
              <a:rPr lang="en-US" dirty="0"/>
              <a:t>Data Warehouse</a:t>
            </a:r>
            <a:endParaRPr lang="ru-RU" dirty="0"/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1B51B93B-69F6-89AA-43E9-D39FE3DAF9A1}"/>
              </a:ext>
            </a:extLst>
          </p:cNvPr>
          <p:cNvSpPr txBox="1">
            <a:spLocks/>
          </p:cNvSpPr>
          <p:nvPr/>
        </p:nvSpPr>
        <p:spPr>
          <a:xfrm>
            <a:off x="259086" y="2127154"/>
            <a:ext cx="5427437" cy="6463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800" dirty="0">
                <a:solidFill>
                  <a:srgbClr val="FF0000"/>
                </a:solidFill>
                <a:latin typeface="+mn-lt"/>
              </a:rPr>
              <a:t>Идея</a:t>
            </a:r>
            <a:r>
              <a:rPr lang="ru-RU" sz="1800" dirty="0">
                <a:latin typeface="+mn-lt"/>
              </a:rPr>
              <a:t>: Собрать данные из всех OLTP-систем в одну «чистую </a:t>
            </a:r>
            <a:r>
              <a:rPr lang="ru-RU" sz="1800" dirty="0" err="1">
                <a:latin typeface="+mn-lt"/>
              </a:rPr>
              <a:t>ĸомнату</a:t>
            </a:r>
            <a:r>
              <a:rPr lang="ru-RU" sz="1800" dirty="0">
                <a:latin typeface="+mn-lt"/>
              </a:rPr>
              <a:t>».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9BAA60-1728-FB34-7391-FA9C2518D905}"/>
              </a:ext>
            </a:extLst>
          </p:cNvPr>
          <p:cNvSpPr txBox="1"/>
          <p:nvPr/>
        </p:nvSpPr>
        <p:spPr>
          <a:xfrm>
            <a:off x="259086" y="2811195"/>
            <a:ext cx="5427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solidFill>
                  <a:srgbClr val="FF0000"/>
                </a:solidFill>
              </a:rPr>
              <a:t>Каĸ</a:t>
            </a:r>
            <a:r>
              <a:rPr lang="ru-RU" dirty="0">
                <a:solidFill>
                  <a:srgbClr val="FF0000"/>
                </a:solidFill>
              </a:rPr>
              <a:t> выглядит</a:t>
            </a:r>
            <a:r>
              <a:rPr lang="ru-RU" dirty="0">
                <a:solidFill>
                  <a:schemeClr val="bg1"/>
                </a:solidFill>
              </a:rPr>
              <a:t>: Это огромный </a:t>
            </a:r>
            <a:r>
              <a:rPr lang="ru-RU" dirty="0" err="1">
                <a:solidFill>
                  <a:schemeClr val="bg1"/>
                </a:solidFill>
              </a:rPr>
              <a:t>PostgreSQL</a:t>
            </a:r>
            <a:r>
              <a:rPr lang="ru-RU" dirty="0">
                <a:solidFill>
                  <a:schemeClr val="bg1"/>
                </a:solidFill>
              </a:rPr>
              <a:t> или Oracle с очень </a:t>
            </a:r>
            <a:r>
              <a:rPr lang="ru-RU" dirty="0" err="1">
                <a:solidFill>
                  <a:schemeClr val="bg1"/>
                </a:solidFill>
              </a:rPr>
              <a:t>жестĸой</a:t>
            </a:r>
            <a:r>
              <a:rPr lang="ru-RU" dirty="0">
                <a:solidFill>
                  <a:schemeClr val="bg1"/>
                </a:solidFill>
              </a:rPr>
              <a:t> схемой.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8D32F2-2CB0-B985-076D-CCD31391CAEC}"/>
              </a:ext>
            </a:extLst>
          </p:cNvPr>
          <p:cNvSpPr txBox="1"/>
          <p:nvPr/>
        </p:nvSpPr>
        <p:spPr>
          <a:xfrm>
            <a:off x="259086" y="3457526"/>
            <a:ext cx="54274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rgbClr val="FF0000"/>
                </a:solidFill>
              </a:rPr>
              <a:t>Боль</a:t>
            </a:r>
            <a:r>
              <a:rPr lang="ru-RU" dirty="0">
                <a:solidFill>
                  <a:schemeClr val="bg1"/>
                </a:solidFill>
              </a:rPr>
              <a:t>: Стоит бешеных денег (лицензии), плохо масштабируется, и если данных стало в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10 раз больше — надо </a:t>
            </a:r>
            <a:r>
              <a:rPr lang="ru-RU" dirty="0" err="1">
                <a:solidFill>
                  <a:schemeClr val="bg1"/>
                </a:solidFill>
              </a:rPr>
              <a:t>поĸупать</a:t>
            </a:r>
            <a:r>
              <a:rPr lang="ru-RU" dirty="0">
                <a:solidFill>
                  <a:schemeClr val="bg1"/>
                </a:solidFill>
              </a:rPr>
              <a:t> новый супер-сервер (</a:t>
            </a:r>
            <a:r>
              <a:rPr lang="ru-RU" dirty="0" err="1">
                <a:solidFill>
                  <a:schemeClr val="bg1"/>
                </a:solidFill>
              </a:rPr>
              <a:t>вертиĸальный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сĸейлинг</a:t>
            </a:r>
            <a:r>
              <a:rPr lang="ru-RU" dirty="0">
                <a:solidFill>
                  <a:schemeClr val="bg1"/>
                </a:solidFill>
              </a:rPr>
              <a:t>).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3BC9B4-3DDC-42CE-F991-45E48041F5A9}"/>
              </a:ext>
            </a:extLst>
          </p:cNvPr>
          <p:cNvGrpSpPr/>
          <p:nvPr/>
        </p:nvGrpSpPr>
        <p:grpSpPr>
          <a:xfrm>
            <a:off x="580934" y="5059869"/>
            <a:ext cx="4391290" cy="1135730"/>
            <a:chOff x="580934" y="5059869"/>
            <a:chExt cx="4391290" cy="1135730"/>
          </a:xfrm>
        </p:grpSpPr>
        <p:sp>
          <p:nvSpPr>
            <p:cNvPr id="7" name="Скругленный прямоугольник 6">
              <a:extLst>
                <a:ext uri="{FF2B5EF4-FFF2-40B4-BE49-F238E27FC236}">
                  <a16:creationId xmlns:a16="http://schemas.microsoft.com/office/drawing/2014/main" id="{AD0EE952-0000-1E9A-A90C-FE4C34001185}"/>
                </a:ext>
              </a:extLst>
            </p:cNvPr>
            <p:cNvSpPr/>
            <p:nvPr/>
          </p:nvSpPr>
          <p:spPr>
            <a:xfrm>
              <a:off x="580934" y="5059869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Данные по продажам</a:t>
              </a:r>
            </a:p>
          </p:txBody>
        </p:sp>
        <p:sp>
          <p:nvSpPr>
            <p:cNvPr id="8" name="Скругленный прямоугольник 7">
              <a:extLst>
                <a:ext uri="{FF2B5EF4-FFF2-40B4-BE49-F238E27FC236}">
                  <a16:creationId xmlns:a16="http://schemas.microsoft.com/office/drawing/2014/main" id="{E5748297-5886-A774-0905-0CD6F39B4E16}"/>
                </a:ext>
              </a:extLst>
            </p:cNvPr>
            <p:cNvSpPr/>
            <p:nvPr/>
          </p:nvSpPr>
          <p:spPr>
            <a:xfrm>
              <a:off x="580934" y="5477239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Данные лояльности</a:t>
              </a:r>
            </a:p>
          </p:txBody>
        </p:sp>
        <p:sp>
          <p:nvSpPr>
            <p:cNvPr id="10" name="Скругленный прямоугольник 9">
              <a:extLst>
                <a:ext uri="{FF2B5EF4-FFF2-40B4-BE49-F238E27FC236}">
                  <a16:creationId xmlns:a16="http://schemas.microsoft.com/office/drawing/2014/main" id="{750F88D2-8A78-5AE4-4A33-F1211E1777C0}"/>
                </a:ext>
              </a:extLst>
            </p:cNvPr>
            <p:cNvSpPr/>
            <p:nvPr/>
          </p:nvSpPr>
          <p:spPr>
            <a:xfrm>
              <a:off x="580934" y="5894609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Данные об остатках</a:t>
              </a:r>
            </a:p>
          </p:txBody>
        </p:sp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9A27D031-8DBF-F88E-6B76-0C6BA1627E00}"/>
                </a:ext>
              </a:extLst>
            </p:cNvPr>
            <p:cNvSpPr/>
            <p:nvPr/>
          </p:nvSpPr>
          <p:spPr>
            <a:xfrm>
              <a:off x="1713048" y="5477239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DWH</a:t>
              </a:r>
              <a:endParaRPr lang="ru-RU" sz="1000" dirty="0"/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395272D8-F34C-77C5-B27C-B3AC8B383DAD}"/>
                </a:ext>
              </a:extLst>
            </p:cNvPr>
            <p:cNvSpPr/>
            <p:nvPr/>
          </p:nvSpPr>
          <p:spPr>
            <a:xfrm>
              <a:off x="2845162" y="5477239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Команда </a:t>
              </a:r>
              <a:r>
                <a:rPr lang="en-US" sz="1000" dirty="0"/>
                <a:t>DWH</a:t>
              </a:r>
              <a:endParaRPr lang="ru-RU" sz="1000" dirty="0"/>
            </a:p>
          </p:txBody>
        </p:sp>
        <p:sp>
          <p:nvSpPr>
            <p:cNvPr id="13" name="Скругленный прямоугольник 12">
              <a:extLst>
                <a:ext uri="{FF2B5EF4-FFF2-40B4-BE49-F238E27FC236}">
                  <a16:creationId xmlns:a16="http://schemas.microsoft.com/office/drawing/2014/main" id="{415A757D-D6B7-2B48-BF42-161AC05B22ED}"/>
                </a:ext>
              </a:extLst>
            </p:cNvPr>
            <p:cNvSpPr/>
            <p:nvPr/>
          </p:nvSpPr>
          <p:spPr>
            <a:xfrm>
              <a:off x="3977276" y="5477239"/>
              <a:ext cx="994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Пользователи</a:t>
              </a:r>
            </a:p>
          </p:txBody>
        </p:sp>
        <p:cxnSp>
          <p:nvCxnSpPr>
            <p:cNvPr id="14" name="Прямая со стрелкой 13">
              <a:extLst>
                <a:ext uri="{FF2B5EF4-FFF2-40B4-BE49-F238E27FC236}">
                  <a16:creationId xmlns:a16="http://schemas.microsoft.com/office/drawing/2014/main" id="{9CB5683C-6641-A2C6-A09C-BA11855F9266}"/>
                </a:ext>
              </a:extLst>
            </p:cNvPr>
            <p:cNvCxnSpPr>
              <a:stCxn id="7" idx="3"/>
              <a:endCxn id="11" idx="1"/>
            </p:cNvCxnSpPr>
            <p:nvPr/>
          </p:nvCxnSpPr>
          <p:spPr>
            <a:xfrm>
              <a:off x="1444882" y="5210364"/>
              <a:ext cx="268166" cy="41737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 стрелкой 14">
              <a:extLst>
                <a:ext uri="{FF2B5EF4-FFF2-40B4-BE49-F238E27FC236}">
                  <a16:creationId xmlns:a16="http://schemas.microsoft.com/office/drawing/2014/main" id="{32E6AD48-14CC-2115-DCED-9D55985903EB}"/>
                </a:ext>
              </a:extLst>
            </p:cNvPr>
            <p:cNvCxnSpPr>
              <a:stCxn id="8" idx="3"/>
              <a:endCxn id="11" idx="1"/>
            </p:cNvCxnSpPr>
            <p:nvPr/>
          </p:nvCxnSpPr>
          <p:spPr>
            <a:xfrm>
              <a:off x="1444882" y="5627734"/>
              <a:ext cx="26816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 стрелкой 15">
              <a:extLst>
                <a:ext uri="{FF2B5EF4-FFF2-40B4-BE49-F238E27FC236}">
                  <a16:creationId xmlns:a16="http://schemas.microsoft.com/office/drawing/2014/main" id="{08939F43-BDEA-79FD-9E54-8A49D333417F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 flipV="1">
              <a:off x="1444882" y="5627734"/>
              <a:ext cx="268166" cy="41737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1E3EAC1F-108B-C81A-3A94-A01B4EEF2D52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>
              <a:off x="2576996" y="5627734"/>
              <a:ext cx="26816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>
              <a:extLst>
                <a:ext uri="{FF2B5EF4-FFF2-40B4-BE49-F238E27FC236}">
                  <a16:creationId xmlns:a16="http://schemas.microsoft.com/office/drawing/2014/main" id="{1CB03430-6CD6-1106-7421-CEB03D921236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>
              <a:off x="3709110" y="5627734"/>
              <a:ext cx="26816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72B4BE3-6535-AD61-E514-ACB458FB1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01" y="1731039"/>
            <a:ext cx="34671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61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3" grpId="0"/>
      <p:bldP spid="6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">
            <a:extLst>
              <a:ext uri="{FF2B5EF4-FFF2-40B4-BE49-F238E27FC236}">
                <a16:creationId xmlns:a16="http://schemas.microsoft.com/office/drawing/2014/main" id="{52515E32-1DB7-14E1-F814-CEB436C2899C}"/>
              </a:ext>
            </a:extLst>
          </p:cNvPr>
          <p:cNvSpPr txBox="1">
            <a:spLocks/>
          </p:cNvSpPr>
          <p:nvPr/>
        </p:nvSpPr>
        <p:spPr>
          <a:xfrm>
            <a:off x="612578" y="3936015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- Оптимизированы для частых коротких транзакций</a:t>
            </a:r>
          </a:p>
          <a:p>
            <a:r>
              <a:rPr lang="ru-RU" dirty="0"/>
              <a:t>- Большое количество операций записи</a:t>
            </a:r>
          </a:p>
          <a:p>
            <a:r>
              <a:rPr lang="ru-RU" dirty="0"/>
              <a:t>- Нормализованные схемы данных</a:t>
            </a:r>
          </a:p>
          <a:p>
            <a:r>
              <a:rPr lang="ru-RU" dirty="0"/>
              <a:t>- Поддержка ACID</a:t>
            </a:r>
          </a:p>
          <a:p>
            <a:r>
              <a:rPr lang="ru-RU" dirty="0"/>
              <a:t>- Примеры: </a:t>
            </a:r>
            <a:r>
              <a:rPr lang="ru-RU" dirty="0" err="1"/>
              <a:t>PostgreSQL</a:t>
            </a:r>
            <a:r>
              <a:rPr lang="ru-RU" dirty="0"/>
              <a:t>, MySQL, Oracle, MS SQL Server</a:t>
            </a:r>
            <a:endParaRPr lang="ru-RS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DC8405B7-E02D-9A2E-0E4D-41516C718F08}"/>
              </a:ext>
            </a:extLst>
          </p:cNvPr>
          <p:cNvSpPr txBox="1">
            <a:spLocks/>
          </p:cNvSpPr>
          <p:nvPr/>
        </p:nvSpPr>
        <p:spPr>
          <a:xfrm>
            <a:off x="612578" y="3475364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OLTP (Online Transaction Processing)</a:t>
            </a:r>
            <a:endParaRPr lang="ru-RS" dirty="0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ECD38B59-45C4-2FE0-1FDD-B643FDE86D85}"/>
              </a:ext>
            </a:extLst>
          </p:cNvPr>
          <p:cNvSpPr txBox="1">
            <a:spLocks/>
          </p:cNvSpPr>
          <p:nvPr/>
        </p:nvSpPr>
        <p:spPr>
          <a:xfrm>
            <a:off x="6552103" y="3938241"/>
            <a:ext cx="476319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- Быстрые операции вставки/обновления</a:t>
            </a:r>
          </a:p>
          <a:p>
            <a:r>
              <a:rPr lang="ru-RU" dirty="0"/>
              <a:t>- Поддержка высокой конкуренции</a:t>
            </a:r>
          </a:p>
          <a:p>
            <a:r>
              <a:rPr lang="ru-RU" dirty="0"/>
              <a:t>- Операции с небольшими объемами данных</a:t>
            </a:r>
          </a:p>
          <a:p>
            <a:r>
              <a:rPr lang="ru-RU" dirty="0"/>
              <a:t>- Примеры использования: банковские транзакции, интернет-магазины</a:t>
            </a:r>
            <a:endParaRPr lang="ru-RS" dirty="0"/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F226D868-9FB7-7E39-8F74-5A16EA43DF73}"/>
              </a:ext>
            </a:extLst>
          </p:cNvPr>
          <p:cNvSpPr txBox="1">
            <a:spLocks/>
          </p:cNvSpPr>
          <p:nvPr/>
        </p:nvSpPr>
        <p:spPr>
          <a:xfrm>
            <a:off x="6552103" y="3475365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Характеристики</a:t>
            </a:r>
            <a:endParaRPr lang="ru-RS" dirty="0"/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95F6E4E8-89AF-408A-8F4E-41E49081FA60}"/>
              </a:ext>
            </a:extLst>
          </p:cNvPr>
          <p:cNvSpPr/>
          <p:nvPr/>
        </p:nvSpPr>
        <p:spPr>
          <a:xfrm>
            <a:off x="11315297" y="5719577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rgbClr val="FFF654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3F7880-FFEA-0045-DBE3-933C17EC63F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8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7EF86DF-4AFD-7611-C187-D42F0DCB2CC8}"/>
              </a:ext>
            </a:extLst>
          </p:cNvPr>
          <p:cNvSpPr txBox="1">
            <a:spLocks/>
          </p:cNvSpPr>
          <p:nvPr/>
        </p:nvSpPr>
        <p:spPr>
          <a:xfrm>
            <a:off x="315237" y="1631268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же такое </a:t>
            </a:r>
            <a:r>
              <a:rPr lang="en-US" dirty="0">
                <a:solidFill>
                  <a:srgbClr val="FF0000"/>
                </a:solidFill>
              </a:rPr>
              <a:t>OLTP?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8" name="Полилиния 16">
            <a:extLst>
              <a:ext uri="{FF2B5EF4-FFF2-40B4-BE49-F238E27FC236}">
                <a16:creationId xmlns:a16="http://schemas.microsoft.com/office/drawing/2014/main" id="{5AC999CB-5538-48C5-BCB9-C35068D958A1}"/>
              </a:ext>
            </a:extLst>
          </p:cNvPr>
          <p:cNvSpPr/>
          <p:nvPr/>
        </p:nvSpPr>
        <p:spPr>
          <a:xfrm>
            <a:off x="5375956" y="5719576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chemeClr val="bg1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14207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CE4C8-A7AF-9EBF-6295-B7B6EE47C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61F5F15-5528-C024-0894-39A2855117D1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9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CF7E6E47-9A20-3277-7A8F-2846684E5685}"/>
              </a:ext>
            </a:extLst>
          </p:cNvPr>
          <p:cNvSpPr txBox="1">
            <a:spLocks/>
          </p:cNvSpPr>
          <p:nvPr/>
        </p:nvSpPr>
        <p:spPr>
          <a:xfrm>
            <a:off x="259087" y="983032"/>
            <a:ext cx="5836913" cy="6477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Пример</a:t>
            </a:r>
            <a:r>
              <a:rPr lang="ru-RU" dirty="0">
                <a:solidFill>
                  <a:srgbClr val="FF0000"/>
                </a:solidFill>
              </a:rPr>
              <a:t> использования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28E13808-C243-5D5B-24FF-A00A1E928BCD}"/>
              </a:ext>
            </a:extLst>
          </p:cNvPr>
          <p:cNvSpPr/>
          <p:nvPr/>
        </p:nvSpPr>
        <p:spPr>
          <a:xfrm>
            <a:off x="361507" y="1612124"/>
            <a:ext cx="5507665" cy="60198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Заходим в приложение</a:t>
            </a: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C3B53A42-4DCE-8136-35CC-C34546A7B0F2}"/>
              </a:ext>
            </a:extLst>
          </p:cNvPr>
          <p:cNvSpPr/>
          <p:nvPr/>
        </p:nvSpPr>
        <p:spPr>
          <a:xfrm>
            <a:off x="361508" y="2565502"/>
            <a:ext cx="5507664" cy="60198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Выбираем нужный товар</a:t>
            </a: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0641B8A-0165-4411-5AA8-25AEBBD68060}"/>
              </a:ext>
            </a:extLst>
          </p:cNvPr>
          <p:cNvSpPr/>
          <p:nvPr/>
        </p:nvSpPr>
        <p:spPr>
          <a:xfrm>
            <a:off x="361508" y="3519464"/>
            <a:ext cx="5507664" cy="60198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Оформляем и оплачиваем заказ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B390F79D-308C-4217-AE5C-78B960B4AB1F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3115340" y="2214104"/>
            <a:ext cx="0" cy="3513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ECC93262-2FB3-2BFA-0003-2596293BF462}"/>
              </a:ext>
            </a:extLst>
          </p:cNvPr>
          <p:cNvCxnSpPr>
            <a:cxnSpLocks/>
          </p:cNvCxnSpPr>
          <p:nvPr/>
        </p:nvCxnSpPr>
        <p:spPr>
          <a:xfrm>
            <a:off x="3115340" y="3167482"/>
            <a:ext cx="0" cy="3513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D71DE2C-7F44-FA2B-173B-42167F702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05" y="4473426"/>
            <a:ext cx="3225800" cy="6096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41C9AD0-E90E-8C0D-2954-0E652F9A4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05" y="6010176"/>
            <a:ext cx="3898900" cy="660400"/>
          </a:xfrm>
          <a:prstGeom prst="rect">
            <a:avLst/>
          </a:prstGeom>
        </p:spPr>
      </p:pic>
      <p:cxnSp>
        <p:nvCxnSpPr>
          <p:cNvPr id="30" name="Соединительная линия уступом 29">
            <a:extLst>
              <a:ext uri="{FF2B5EF4-FFF2-40B4-BE49-F238E27FC236}">
                <a16:creationId xmlns:a16="http://schemas.microsoft.com/office/drawing/2014/main" id="{024A965D-661A-BBFB-D9B4-75FA231B1EA5}"/>
              </a:ext>
            </a:extLst>
          </p:cNvPr>
          <p:cNvCxnSpPr>
            <a:cxnSpLocks/>
            <a:endCxn id="26" idx="3"/>
          </p:cNvCxnSpPr>
          <p:nvPr/>
        </p:nvCxnSpPr>
        <p:spPr>
          <a:xfrm rot="5400000">
            <a:off x="3512029" y="4196720"/>
            <a:ext cx="656782" cy="50623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Соединительная линия уступом 32">
            <a:extLst>
              <a:ext uri="{FF2B5EF4-FFF2-40B4-BE49-F238E27FC236}">
                <a16:creationId xmlns:a16="http://schemas.microsoft.com/office/drawing/2014/main" id="{CF26125B-99E1-95BA-EEEF-3C440C14A653}"/>
              </a:ext>
            </a:extLst>
          </p:cNvPr>
          <p:cNvCxnSpPr>
            <a:cxnSpLocks/>
            <a:endCxn id="41" idx="3"/>
          </p:cNvCxnSpPr>
          <p:nvPr/>
        </p:nvCxnSpPr>
        <p:spPr>
          <a:xfrm rot="5400000">
            <a:off x="3640154" y="4424195"/>
            <a:ext cx="1429232" cy="82373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Соединительная линия уступом 38">
            <a:extLst>
              <a:ext uri="{FF2B5EF4-FFF2-40B4-BE49-F238E27FC236}">
                <a16:creationId xmlns:a16="http://schemas.microsoft.com/office/drawing/2014/main" id="{343F071E-6501-875F-D47E-0B728D7DDB56}"/>
              </a:ext>
            </a:extLst>
          </p:cNvPr>
          <p:cNvCxnSpPr>
            <a:cxnSpLocks/>
            <a:endCxn id="28" idx="3"/>
          </p:cNvCxnSpPr>
          <p:nvPr/>
        </p:nvCxnSpPr>
        <p:spPr>
          <a:xfrm rot="5400000">
            <a:off x="3753304" y="4628545"/>
            <a:ext cx="2218932" cy="120473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E5D0C2D4-5CAE-7F19-9A5B-BD7EA26BF6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505" y="5245876"/>
            <a:ext cx="3581400" cy="6096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67A599-FAF5-8C9A-02D6-1EFCD4DE4C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705" y="1700310"/>
            <a:ext cx="42799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1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6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">
            <a:extLst>
              <a:ext uri="{FF2B5EF4-FFF2-40B4-BE49-F238E27FC236}">
                <a16:creationId xmlns:a16="http://schemas.microsoft.com/office/drawing/2014/main" id="{52515E32-1DB7-14E1-F814-CEB436C2899C}"/>
              </a:ext>
            </a:extLst>
          </p:cNvPr>
          <p:cNvSpPr txBox="1">
            <a:spLocks/>
          </p:cNvSpPr>
          <p:nvPr/>
        </p:nvSpPr>
        <p:spPr>
          <a:xfrm>
            <a:off x="612578" y="3936015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- Оптимизированы для сложных аналитических запросов</a:t>
            </a:r>
          </a:p>
          <a:p>
            <a:r>
              <a:rPr lang="ru-RU" dirty="0"/>
              <a:t>- Преимущественно операции чтения</a:t>
            </a:r>
          </a:p>
          <a:p>
            <a:r>
              <a:rPr lang="ru-RU" dirty="0"/>
              <a:t>- </a:t>
            </a:r>
            <a:r>
              <a:rPr lang="ru-RU" dirty="0" err="1"/>
              <a:t>Денормализованные</a:t>
            </a:r>
            <a:r>
              <a:rPr lang="ru-RU" dirty="0"/>
              <a:t> схемы </a:t>
            </a:r>
            <a:endParaRPr lang="en-US" dirty="0"/>
          </a:p>
          <a:p>
            <a:r>
              <a:rPr lang="ru-RU" dirty="0"/>
              <a:t>- Работа с большими объемами данных</a:t>
            </a:r>
          </a:p>
          <a:p>
            <a:r>
              <a:rPr lang="ru-RU" dirty="0"/>
              <a:t>- Примеры: </a:t>
            </a:r>
            <a:r>
              <a:rPr lang="ru-RU" dirty="0" err="1"/>
              <a:t>ClickHouse</a:t>
            </a:r>
            <a:r>
              <a:rPr lang="ru-RU" dirty="0"/>
              <a:t>, </a:t>
            </a:r>
            <a:r>
              <a:rPr lang="en-US" dirty="0" err="1"/>
              <a:t>GreenPlum</a:t>
            </a:r>
            <a:r>
              <a:rPr lang="ru-RU" dirty="0"/>
              <a:t>, Google </a:t>
            </a:r>
            <a:r>
              <a:rPr lang="ru-RU" dirty="0" err="1"/>
              <a:t>BigQuery</a:t>
            </a:r>
            <a:endParaRPr lang="ru-RS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DC8405B7-E02D-9A2E-0E4D-41516C718F08}"/>
              </a:ext>
            </a:extLst>
          </p:cNvPr>
          <p:cNvSpPr txBox="1">
            <a:spLocks/>
          </p:cNvSpPr>
          <p:nvPr/>
        </p:nvSpPr>
        <p:spPr>
          <a:xfrm>
            <a:off x="612578" y="3475364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OLAP (Online Analytical Processing)</a:t>
            </a:r>
            <a:endParaRPr lang="ru-RS" dirty="0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ECD38B59-45C4-2FE0-1FDD-B643FDE86D85}"/>
              </a:ext>
            </a:extLst>
          </p:cNvPr>
          <p:cNvSpPr txBox="1">
            <a:spLocks/>
          </p:cNvSpPr>
          <p:nvPr/>
        </p:nvSpPr>
        <p:spPr>
          <a:xfrm>
            <a:off x="6552103" y="3938241"/>
            <a:ext cx="476319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- Агрегация больших объемов данных</a:t>
            </a:r>
          </a:p>
          <a:p>
            <a:r>
              <a:rPr lang="ru-RU" dirty="0"/>
              <a:t>- Сложные аналитические запросы</a:t>
            </a:r>
          </a:p>
          <a:p>
            <a:r>
              <a:rPr lang="ru-RU" dirty="0"/>
              <a:t>- Примеры использования: бизнес-аналитика, отчеты,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mining</a:t>
            </a:r>
            <a:endParaRPr lang="ru-RS" dirty="0"/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F226D868-9FB7-7E39-8F74-5A16EA43DF73}"/>
              </a:ext>
            </a:extLst>
          </p:cNvPr>
          <p:cNvSpPr txBox="1">
            <a:spLocks/>
          </p:cNvSpPr>
          <p:nvPr/>
        </p:nvSpPr>
        <p:spPr>
          <a:xfrm>
            <a:off x="6552103" y="3475365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Характеристики</a:t>
            </a:r>
            <a:endParaRPr lang="ru-RS" dirty="0"/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95F6E4E8-89AF-408A-8F4E-41E49081FA60}"/>
              </a:ext>
            </a:extLst>
          </p:cNvPr>
          <p:cNvSpPr/>
          <p:nvPr/>
        </p:nvSpPr>
        <p:spPr>
          <a:xfrm>
            <a:off x="11315297" y="5719577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rgbClr val="FFF654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3F7880-FFEA-0045-DBE3-933C17EC63F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10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7EF86DF-4AFD-7611-C187-D42F0DCB2CC8}"/>
              </a:ext>
            </a:extLst>
          </p:cNvPr>
          <p:cNvSpPr txBox="1">
            <a:spLocks/>
          </p:cNvSpPr>
          <p:nvPr/>
        </p:nvSpPr>
        <p:spPr>
          <a:xfrm>
            <a:off x="315237" y="1777408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же такое этот ваш </a:t>
            </a:r>
            <a:r>
              <a:rPr lang="en-US" dirty="0">
                <a:solidFill>
                  <a:srgbClr val="FF0000"/>
                </a:solidFill>
              </a:rPr>
              <a:t>OLAP?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8" name="Полилиния 16">
            <a:extLst>
              <a:ext uri="{FF2B5EF4-FFF2-40B4-BE49-F238E27FC236}">
                <a16:creationId xmlns:a16="http://schemas.microsoft.com/office/drawing/2014/main" id="{5AC999CB-5538-48C5-BCB9-C35068D958A1}"/>
              </a:ext>
            </a:extLst>
          </p:cNvPr>
          <p:cNvSpPr/>
          <p:nvPr/>
        </p:nvSpPr>
        <p:spPr>
          <a:xfrm>
            <a:off x="5375956" y="5719576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chemeClr val="bg1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543638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9C11B-B78B-D693-2C7F-EB5E79C6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3919B26-358A-ED90-7329-6F49DE9C618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11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634F3340-D47E-1CB1-307E-FFD5FBAEBD2B}"/>
              </a:ext>
            </a:extLst>
          </p:cNvPr>
          <p:cNvSpPr txBox="1">
            <a:spLocks/>
          </p:cNvSpPr>
          <p:nvPr/>
        </p:nvSpPr>
        <p:spPr>
          <a:xfrm>
            <a:off x="259087" y="983032"/>
            <a:ext cx="5836913" cy="6477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Пример </a:t>
            </a:r>
            <a:r>
              <a:rPr lang="ru-RU" dirty="0">
                <a:solidFill>
                  <a:srgbClr val="FF0000"/>
                </a:solidFill>
              </a:rPr>
              <a:t>использования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ACEE609-6D65-A692-B204-6B26625AE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457" y="4516114"/>
            <a:ext cx="3251793" cy="1838962"/>
          </a:xfrm>
          <a:prstGeom prst="rect">
            <a:avLst/>
          </a:prstGeom>
        </p:spPr>
      </p:pic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A211B199-D4B5-2D65-2BB1-8D381A454CE9}"/>
              </a:ext>
            </a:extLst>
          </p:cNvPr>
          <p:cNvSpPr/>
          <p:nvPr/>
        </p:nvSpPr>
        <p:spPr>
          <a:xfrm>
            <a:off x="1853104" y="1630732"/>
            <a:ext cx="2096505" cy="60198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Забрали данные из </a:t>
            </a:r>
            <a:r>
              <a:rPr lang="en-US" dirty="0"/>
              <a:t>PostgreSQL</a:t>
            </a:r>
            <a:endParaRPr lang="ru-RU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19BEB3B2-C3FF-B7DF-CC11-54B1029E9EDF}"/>
              </a:ext>
            </a:extLst>
          </p:cNvPr>
          <p:cNvSpPr/>
          <p:nvPr/>
        </p:nvSpPr>
        <p:spPr>
          <a:xfrm>
            <a:off x="1853103" y="2556374"/>
            <a:ext cx="2096505" cy="60198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Провели трансформацию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73EE3FBB-804B-DEB6-C4E7-F850307A567A}"/>
              </a:ext>
            </a:extLst>
          </p:cNvPr>
          <p:cNvSpPr/>
          <p:nvPr/>
        </p:nvSpPr>
        <p:spPr>
          <a:xfrm>
            <a:off x="1853102" y="3519232"/>
            <a:ext cx="2096505" cy="60198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Залили в </a:t>
            </a:r>
            <a:r>
              <a:rPr lang="en-US" strike="sngStrike" dirty="0" err="1"/>
              <a:t>Clickhouse</a:t>
            </a:r>
            <a:r>
              <a:rPr lang="en-US" dirty="0"/>
              <a:t> </a:t>
            </a:r>
            <a:r>
              <a:rPr lang="ru-RU" dirty="0"/>
              <a:t>БД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664AEC7-7548-03A3-E702-55BB5F950A17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flipH="1">
            <a:off x="2901356" y="2232712"/>
            <a:ext cx="1" cy="3236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23C772B9-79E4-5078-0A70-03BCA6ED929C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2901354" y="3158354"/>
            <a:ext cx="1" cy="3608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2E264946-2D9C-6748-F2EE-04EFD6D74DA9}"/>
              </a:ext>
            </a:extLst>
          </p:cNvPr>
          <p:cNvCxnSpPr>
            <a:cxnSpLocks/>
          </p:cNvCxnSpPr>
          <p:nvPr/>
        </p:nvCxnSpPr>
        <p:spPr>
          <a:xfrm>
            <a:off x="2901354" y="4121212"/>
            <a:ext cx="0" cy="3745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415858-2A4B-18B5-721B-35BAB5C9A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569" y="2084132"/>
            <a:ext cx="40259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9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5F456-75BD-4795-DDD2-FDCB455A7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EA5C61F-0334-0E57-0393-71B65F83D0C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375C7CA-AD9F-96F2-8006-C4FB207A0752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582913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Параллельная обработка данных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u-RU" dirty="0"/>
              <a:t>(</a:t>
            </a:r>
            <a:r>
              <a:rPr lang="en-US" dirty="0"/>
              <a:t>MPP</a:t>
            </a:r>
            <a:r>
              <a:rPr lang="ru-RU" dirty="0"/>
              <a:t>)</a:t>
            </a:r>
          </a:p>
          <a:p>
            <a:endParaRPr lang="ru-RU" dirty="0"/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9568406E-47D7-9E24-DD1A-BE489F186D12}"/>
              </a:ext>
            </a:extLst>
          </p:cNvPr>
          <p:cNvSpPr txBox="1">
            <a:spLocks/>
          </p:cNvSpPr>
          <p:nvPr/>
        </p:nvSpPr>
        <p:spPr>
          <a:xfrm>
            <a:off x="259087" y="2357781"/>
            <a:ext cx="5427437" cy="13018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800" dirty="0">
                <a:solidFill>
                  <a:srgbClr val="FF0000"/>
                </a:solidFill>
              </a:rPr>
              <a:t>Проблема</a:t>
            </a:r>
            <a:r>
              <a:rPr lang="ru-RU" sz="1800" dirty="0"/>
              <a:t>: Один мощный сервер (CPU 128 ядер) стоит </a:t>
            </a:r>
            <a:r>
              <a:rPr lang="ru-RU" sz="1800" dirty="0" err="1"/>
              <a:t>ĸаĸ</a:t>
            </a:r>
            <a:r>
              <a:rPr lang="ru-RU" sz="1800" dirty="0"/>
              <a:t> </a:t>
            </a:r>
            <a:r>
              <a:rPr lang="ru-RU" sz="1800" dirty="0" err="1"/>
              <a:t>ĸосмичесĸий</a:t>
            </a:r>
            <a:r>
              <a:rPr lang="ru-RU" sz="1800" dirty="0"/>
              <a:t> </a:t>
            </a:r>
            <a:r>
              <a:rPr lang="ru-RU" sz="1800" dirty="0" err="1"/>
              <a:t>ĸорабль</a:t>
            </a:r>
            <a:r>
              <a:rPr lang="ru-RU" sz="1800" dirty="0"/>
              <a:t>, и его</a:t>
            </a:r>
          </a:p>
          <a:p>
            <a:r>
              <a:rPr lang="ru-RU" sz="1800" dirty="0"/>
              <a:t>нельзя </a:t>
            </a:r>
            <a:r>
              <a:rPr lang="ru-RU" sz="1800" dirty="0" err="1"/>
              <a:t>бесĸонечно</a:t>
            </a:r>
            <a:r>
              <a:rPr lang="ru-RU" sz="1800" dirty="0"/>
              <a:t> апгрейдить</a:t>
            </a:r>
          </a:p>
          <a:p>
            <a:endParaRPr lang="ru-RU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F63564-5AEF-B097-C9C4-ED78C497CD7F}"/>
              </a:ext>
            </a:extLst>
          </p:cNvPr>
          <p:cNvSpPr txBox="1"/>
          <p:nvPr/>
        </p:nvSpPr>
        <p:spPr>
          <a:xfrm>
            <a:off x="259087" y="3295551"/>
            <a:ext cx="54274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Решение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MPP (</a:t>
            </a:r>
            <a:r>
              <a:rPr lang="ru-RU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Massively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Processing) — вместо 1 толстого сервера берем 10 дешевых и заставляем их работать одновременно.</a:t>
            </a:r>
          </a:p>
          <a:p>
            <a:pPr algn="just"/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7DF1DC8-0848-A5EC-C57A-AB7A88F09322}"/>
              </a:ext>
            </a:extLst>
          </p:cNvPr>
          <p:cNvGrpSpPr/>
          <p:nvPr/>
        </p:nvGrpSpPr>
        <p:grpSpPr>
          <a:xfrm>
            <a:off x="310464" y="4561936"/>
            <a:ext cx="2102950" cy="1598474"/>
            <a:chOff x="310464" y="4561936"/>
            <a:chExt cx="2102950" cy="1899464"/>
          </a:xfrm>
        </p:grpSpPr>
        <p:sp>
          <p:nvSpPr>
            <p:cNvPr id="10" name="Скругленный прямоугольник 9">
              <a:extLst>
                <a:ext uri="{FF2B5EF4-FFF2-40B4-BE49-F238E27FC236}">
                  <a16:creationId xmlns:a16="http://schemas.microsoft.com/office/drawing/2014/main" id="{8BC03FD9-7C49-1B21-B516-D94F8704743A}"/>
                </a:ext>
              </a:extLst>
            </p:cNvPr>
            <p:cNvSpPr/>
            <p:nvPr/>
          </p:nvSpPr>
          <p:spPr>
            <a:xfrm>
              <a:off x="316909" y="4561936"/>
              <a:ext cx="2096505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Запрос</a:t>
              </a:r>
            </a:p>
          </p:txBody>
        </p:sp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EDB7B75A-8009-6F80-0568-E02B62176211}"/>
                </a:ext>
              </a:extLst>
            </p:cNvPr>
            <p:cNvSpPr/>
            <p:nvPr/>
          </p:nvSpPr>
          <p:spPr>
            <a:xfrm>
              <a:off x="316908" y="5183842"/>
              <a:ext cx="2096505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Сервер</a:t>
              </a: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8781DB23-91FD-6F01-9CCB-DA6E0ADF765F}"/>
                </a:ext>
              </a:extLst>
            </p:cNvPr>
            <p:cNvSpPr/>
            <p:nvPr/>
          </p:nvSpPr>
          <p:spPr>
            <a:xfrm>
              <a:off x="310464" y="5859420"/>
              <a:ext cx="2096505" cy="60198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Обработка </a:t>
              </a:r>
            </a:p>
            <a:p>
              <a:pPr algn="ctr"/>
              <a:r>
                <a:rPr lang="ru-RU" sz="1400" dirty="0"/>
                <a:t>10 млрд строк</a:t>
              </a:r>
            </a:p>
          </p:txBody>
        </p:sp>
        <p:cxnSp>
          <p:nvCxnSpPr>
            <p:cNvPr id="13" name="Прямая со стрелкой 12">
              <a:extLst>
                <a:ext uri="{FF2B5EF4-FFF2-40B4-BE49-F238E27FC236}">
                  <a16:creationId xmlns:a16="http://schemas.microsoft.com/office/drawing/2014/main" id="{C20CA0A5-ED3B-0326-76EB-B86FFCAAAB59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 flipH="1">
              <a:off x="1365161" y="4862926"/>
              <a:ext cx="1" cy="3209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 стрелкой 13">
              <a:extLst>
                <a:ext uri="{FF2B5EF4-FFF2-40B4-BE49-F238E27FC236}">
                  <a16:creationId xmlns:a16="http://schemas.microsoft.com/office/drawing/2014/main" id="{4D79D70F-ADE9-9C59-C272-353D357E3B47}"/>
                </a:ext>
              </a:extLst>
            </p:cNvPr>
            <p:cNvCxnSpPr>
              <a:cxnSpLocks/>
            </p:cNvCxnSpPr>
            <p:nvPr/>
          </p:nvCxnSpPr>
          <p:spPr>
            <a:xfrm>
              <a:off x="1358717" y="5491687"/>
              <a:ext cx="1" cy="36087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89B8160D-70DB-414A-7131-7DDED221B66F}"/>
              </a:ext>
            </a:extLst>
          </p:cNvPr>
          <p:cNvGrpSpPr/>
          <p:nvPr/>
        </p:nvGrpSpPr>
        <p:grpSpPr>
          <a:xfrm>
            <a:off x="3448778" y="4561327"/>
            <a:ext cx="2096506" cy="1598474"/>
            <a:chOff x="3468109" y="4561936"/>
            <a:chExt cx="2096506" cy="1598474"/>
          </a:xfrm>
        </p:grpSpPr>
        <p:sp>
          <p:nvSpPr>
            <p:cNvPr id="20" name="Скругленный прямоугольник 19">
              <a:extLst>
                <a:ext uri="{FF2B5EF4-FFF2-40B4-BE49-F238E27FC236}">
                  <a16:creationId xmlns:a16="http://schemas.microsoft.com/office/drawing/2014/main" id="{C06803BA-5B3F-1B48-C36A-E9AFFCB2FFEC}"/>
                </a:ext>
              </a:extLst>
            </p:cNvPr>
            <p:cNvSpPr/>
            <p:nvPr/>
          </p:nvSpPr>
          <p:spPr>
            <a:xfrm>
              <a:off x="3468110" y="4561936"/>
              <a:ext cx="2096505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Запрос</a:t>
              </a:r>
            </a:p>
          </p:txBody>
        </p:sp>
        <p:sp>
          <p:nvSpPr>
            <p:cNvPr id="21" name="Скругленный прямоугольник 20">
              <a:extLst>
                <a:ext uri="{FF2B5EF4-FFF2-40B4-BE49-F238E27FC236}">
                  <a16:creationId xmlns:a16="http://schemas.microsoft.com/office/drawing/2014/main" id="{B0697A10-3547-67E6-36E6-0EE36ED2E017}"/>
                </a:ext>
              </a:extLst>
            </p:cNvPr>
            <p:cNvSpPr/>
            <p:nvPr/>
          </p:nvSpPr>
          <p:spPr>
            <a:xfrm>
              <a:off x="3468109" y="5183842"/>
              <a:ext cx="636531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Node1</a:t>
              </a:r>
              <a:endParaRPr lang="ru-RU" sz="1200" dirty="0"/>
            </a:p>
          </p:txBody>
        </p:sp>
        <p:cxnSp>
          <p:nvCxnSpPr>
            <p:cNvPr id="23" name="Прямая со стрелкой 22">
              <a:extLst>
                <a:ext uri="{FF2B5EF4-FFF2-40B4-BE49-F238E27FC236}">
                  <a16:creationId xmlns:a16="http://schemas.microsoft.com/office/drawing/2014/main" id="{A748FD0C-D342-22C6-09F8-730D9589C65B}"/>
                </a:ext>
              </a:extLst>
            </p:cNvPr>
            <p:cNvCxnSpPr>
              <a:cxnSpLocks/>
              <a:stCxn id="20" idx="2"/>
              <a:endCxn id="21" idx="0"/>
            </p:cNvCxnSpPr>
            <p:nvPr/>
          </p:nvCxnSpPr>
          <p:spPr>
            <a:xfrm flipH="1">
              <a:off x="3786375" y="4862926"/>
              <a:ext cx="729988" cy="3209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 стрелкой 23">
              <a:extLst>
                <a:ext uri="{FF2B5EF4-FFF2-40B4-BE49-F238E27FC236}">
                  <a16:creationId xmlns:a16="http://schemas.microsoft.com/office/drawing/2014/main" id="{49D8289E-F36A-7888-076F-CC13C9410BB1}"/>
                </a:ext>
              </a:extLst>
            </p:cNvPr>
            <p:cNvCxnSpPr>
              <a:cxnSpLocks/>
            </p:cNvCxnSpPr>
            <p:nvPr/>
          </p:nvCxnSpPr>
          <p:spPr>
            <a:xfrm>
              <a:off x="4509918" y="5491687"/>
              <a:ext cx="1" cy="36087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Скругленный прямоугольник 26">
              <a:extLst>
                <a:ext uri="{FF2B5EF4-FFF2-40B4-BE49-F238E27FC236}">
                  <a16:creationId xmlns:a16="http://schemas.microsoft.com/office/drawing/2014/main" id="{315E5EDE-6F05-5C19-246E-68A4FE266EBB}"/>
                </a:ext>
              </a:extLst>
            </p:cNvPr>
            <p:cNvSpPr/>
            <p:nvPr/>
          </p:nvSpPr>
          <p:spPr>
            <a:xfrm>
              <a:off x="4198096" y="5183842"/>
              <a:ext cx="636531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Node2</a:t>
              </a:r>
              <a:endParaRPr lang="ru-RU" sz="1200" dirty="0"/>
            </a:p>
          </p:txBody>
        </p:sp>
        <p:sp>
          <p:nvSpPr>
            <p:cNvPr id="28" name="Скругленный прямоугольник 27">
              <a:extLst>
                <a:ext uri="{FF2B5EF4-FFF2-40B4-BE49-F238E27FC236}">
                  <a16:creationId xmlns:a16="http://schemas.microsoft.com/office/drawing/2014/main" id="{8B9BFCFE-1C47-D323-528D-8E8707937164}"/>
                </a:ext>
              </a:extLst>
            </p:cNvPr>
            <p:cNvSpPr/>
            <p:nvPr/>
          </p:nvSpPr>
          <p:spPr>
            <a:xfrm>
              <a:off x="4928084" y="5179308"/>
              <a:ext cx="636531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Node3</a:t>
              </a:r>
              <a:endParaRPr lang="ru-RU" sz="1200" dirty="0"/>
            </a:p>
          </p:txBody>
        </p:sp>
        <p:sp>
          <p:nvSpPr>
            <p:cNvPr id="29" name="Скругленный прямоугольник 28">
              <a:extLst>
                <a:ext uri="{FF2B5EF4-FFF2-40B4-BE49-F238E27FC236}">
                  <a16:creationId xmlns:a16="http://schemas.microsoft.com/office/drawing/2014/main" id="{24C4EA18-203F-1EB2-B367-5C476063E5BA}"/>
                </a:ext>
              </a:extLst>
            </p:cNvPr>
            <p:cNvSpPr/>
            <p:nvPr/>
          </p:nvSpPr>
          <p:spPr>
            <a:xfrm>
              <a:off x="3468110" y="5859420"/>
              <a:ext cx="636531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3 </a:t>
              </a:r>
              <a:r>
                <a:rPr lang="ru-RU" sz="1000" dirty="0"/>
                <a:t>млрд строк</a:t>
              </a:r>
            </a:p>
          </p:txBody>
        </p:sp>
        <p:sp>
          <p:nvSpPr>
            <p:cNvPr id="30" name="Скругленный прямоугольник 29">
              <a:extLst>
                <a:ext uri="{FF2B5EF4-FFF2-40B4-BE49-F238E27FC236}">
                  <a16:creationId xmlns:a16="http://schemas.microsoft.com/office/drawing/2014/main" id="{8CE59463-CA5D-0B83-0B70-03DCAE4ABD33}"/>
                </a:ext>
              </a:extLst>
            </p:cNvPr>
            <p:cNvSpPr/>
            <p:nvPr/>
          </p:nvSpPr>
          <p:spPr>
            <a:xfrm>
              <a:off x="4198097" y="5859420"/>
              <a:ext cx="636531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3 </a:t>
              </a:r>
              <a:r>
                <a:rPr lang="ru-RU" sz="1000" dirty="0"/>
                <a:t>млрд строк</a:t>
              </a:r>
            </a:p>
          </p:txBody>
        </p:sp>
        <p:sp>
          <p:nvSpPr>
            <p:cNvPr id="31" name="Скругленный прямоугольник 30">
              <a:extLst>
                <a:ext uri="{FF2B5EF4-FFF2-40B4-BE49-F238E27FC236}">
                  <a16:creationId xmlns:a16="http://schemas.microsoft.com/office/drawing/2014/main" id="{A9DF9D23-5E5B-0A8E-CB70-718DECD28CCD}"/>
                </a:ext>
              </a:extLst>
            </p:cNvPr>
            <p:cNvSpPr/>
            <p:nvPr/>
          </p:nvSpPr>
          <p:spPr>
            <a:xfrm>
              <a:off x="4928084" y="5859420"/>
              <a:ext cx="636531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4</a:t>
              </a:r>
              <a:r>
                <a:rPr lang="en-US" sz="1000" dirty="0"/>
                <a:t> </a:t>
              </a:r>
              <a:r>
                <a:rPr lang="ru-RU" sz="1000" dirty="0"/>
                <a:t>млрд строк</a:t>
              </a:r>
            </a:p>
          </p:txBody>
        </p:sp>
        <p:cxnSp>
          <p:nvCxnSpPr>
            <p:cNvPr id="33" name="Прямая со стрелкой 32">
              <a:extLst>
                <a:ext uri="{FF2B5EF4-FFF2-40B4-BE49-F238E27FC236}">
                  <a16:creationId xmlns:a16="http://schemas.microsoft.com/office/drawing/2014/main" id="{C3E3D3F2-E3E7-B908-877B-00FB086B46D8}"/>
                </a:ext>
              </a:extLst>
            </p:cNvPr>
            <p:cNvCxnSpPr>
              <a:stCxn id="20" idx="2"/>
              <a:endCxn id="27" idx="0"/>
            </p:cNvCxnSpPr>
            <p:nvPr/>
          </p:nvCxnSpPr>
          <p:spPr>
            <a:xfrm flipH="1">
              <a:off x="4516362" y="4862926"/>
              <a:ext cx="1" cy="3209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 стрелкой 34">
              <a:extLst>
                <a:ext uri="{FF2B5EF4-FFF2-40B4-BE49-F238E27FC236}">
                  <a16:creationId xmlns:a16="http://schemas.microsoft.com/office/drawing/2014/main" id="{FDFC1C95-917D-70F7-F177-224419B09C0F}"/>
                </a:ext>
              </a:extLst>
            </p:cNvPr>
            <p:cNvCxnSpPr>
              <a:stCxn id="20" idx="2"/>
              <a:endCxn id="28" idx="0"/>
            </p:cNvCxnSpPr>
            <p:nvPr/>
          </p:nvCxnSpPr>
          <p:spPr>
            <a:xfrm>
              <a:off x="4516363" y="4862926"/>
              <a:ext cx="729987" cy="31638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 стрелкой 36">
              <a:extLst>
                <a:ext uri="{FF2B5EF4-FFF2-40B4-BE49-F238E27FC236}">
                  <a16:creationId xmlns:a16="http://schemas.microsoft.com/office/drawing/2014/main" id="{48E4EBCD-2C43-C4AE-7584-801617C595FE}"/>
                </a:ext>
              </a:extLst>
            </p:cNvPr>
            <p:cNvCxnSpPr>
              <a:cxnSpLocks/>
            </p:cNvCxnSpPr>
            <p:nvPr/>
          </p:nvCxnSpPr>
          <p:spPr>
            <a:xfrm>
              <a:off x="5246349" y="5498542"/>
              <a:ext cx="1" cy="36087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 стрелкой 37">
              <a:extLst>
                <a:ext uri="{FF2B5EF4-FFF2-40B4-BE49-F238E27FC236}">
                  <a16:creationId xmlns:a16="http://schemas.microsoft.com/office/drawing/2014/main" id="{43043A16-B890-BB53-398F-51A63DF75882}"/>
                </a:ext>
              </a:extLst>
            </p:cNvPr>
            <p:cNvCxnSpPr>
              <a:cxnSpLocks/>
            </p:cNvCxnSpPr>
            <p:nvPr/>
          </p:nvCxnSpPr>
          <p:spPr>
            <a:xfrm>
              <a:off x="3826658" y="5480298"/>
              <a:ext cx="1" cy="36087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DAC1DE-70DC-7EB1-AF52-00974A18E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706" y="2282815"/>
            <a:ext cx="34671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27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3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7B39C-A80A-8309-538E-99146E48B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E4E3309-6CA8-FA48-F478-E3751F27EEC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13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222E65B1-559C-A49A-F977-620B83EA44E9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427437" cy="6223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Big Data </a:t>
            </a:r>
            <a:r>
              <a:rPr lang="ru-RU" dirty="0"/>
              <a:t>(</a:t>
            </a:r>
            <a:r>
              <a:rPr lang="en-US" dirty="0"/>
              <a:t>Hadoop</a:t>
            </a:r>
            <a:r>
              <a:rPr lang="ru-RU" dirty="0"/>
              <a:t>)</a:t>
            </a: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619A798A-1321-2AB8-E8FF-A2937BC37212}"/>
              </a:ext>
            </a:extLst>
          </p:cNvPr>
          <p:cNvSpPr txBox="1">
            <a:spLocks/>
          </p:cNvSpPr>
          <p:nvPr/>
        </p:nvSpPr>
        <p:spPr>
          <a:xfrm>
            <a:off x="259087" y="1794306"/>
            <a:ext cx="5427437" cy="11114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800" dirty="0">
                <a:solidFill>
                  <a:srgbClr val="FF0000"/>
                </a:solidFill>
                <a:latin typeface="+mn-lt"/>
              </a:rPr>
              <a:t>Идея</a:t>
            </a:r>
            <a:r>
              <a:rPr lang="ru-RU" sz="1800" dirty="0">
                <a:latin typeface="+mn-lt"/>
              </a:rPr>
              <a:t>: Нам необходимо обрабатывать много </a:t>
            </a:r>
            <a:r>
              <a:rPr lang="ru-RU" sz="1800" dirty="0">
                <a:solidFill>
                  <a:srgbClr val="FF0000"/>
                </a:solidFill>
                <a:latin typeface="+mn-lt"/>
              </a:rPr>
              <a:t>разнообразных</a:t>
            </a:r>
            <a:r>
              <a:rPr lang="ru-RU" sz="1800" dirty="0">
                <a:latin typeface="+mn-lt"/>
              </a:rPr>
              <a:t> данных, которые хранятся распределенно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C393AB-0B47-C9C8-E71F-4E7E3E2633A0}"/>
              </a:ext>
            </a:extLst>
          </p:cNvPr>
          <p:cNvSpPr txBox="1"/>
          <p:nvPr/>
        </p:nvSpPr>
        <p:spPr>
          <a:xfrm>
            <a:off x="259087" y="2804826"/>
            <a:ext cx="54274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 err="1">
                <a:solidFill>
                  <a:srgbClr val="FF0000"/>
                </a:solidFill>
              </a:rPr>
              <a:t>Каĸ</a:t>
            </a:r>
            <a:r>
              <a:rPr lang="ru-RU" sz="2000" dirty="0">
                <a:solidFill>
                  <a:srgbClr val="FF0000"/>
                </a:solidFill>
              </a:rPr>
              <a:t> выглядит</a:t>
            </a:r>
            <a:r>
              <a:rPr lang="ru-RU" sz="2000" dirty="0">
                <a:solidFill>
                  <a:schemeClr val="bg1"/>
                </a:solidFill>
              </a:rPr>
              <a:t>: есть несколько машин, на которых хранятся данные и на них же они обрабатываются.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C8C61-AA9C-A789-38BE-D599275FE45A}"/>
              </a:ext>
            </a:extLst>
          </p:cNvPr>
          <p:cNvSpPr txBox="1"/>
          <p:nvPr/>
        </p:nvSpPr>
        <p:spPr>
          <a:xfrm>
            <a:off x="259087" y="3833745"/>
            <a:ext cx="54274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rgbClr val="FF0000"/>
                </a:solidFill>
              </a:rPr>
              <a:t>Боль</a:t>
            </a:r>
            <a:r>
              <a:rPr lang="ru-RU" sz="2000" dirty="0">
                <a:solidFill>
                  <a:schemeClr val="bg1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Hadoop </a:t>
            </a:r>
            <a:r>
              <a:rPr lang="ru-RU" sz="2000" dirty="0">
                <a:solidFill>
                  <a:schemeClr val="bg1"/>
                </a:solidFill>
              </a:rPr>
              <a:t>не умеет эффективно работать с малыми объемами данных. 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E574EDD0-D873-6DEF-1A45-E49A60184DBF}"/>
              </a:ext>
            </a:extLst>
          </p:cNvPr>
          <p:cNvGrpSpPr/>
          <p:nvPr/>
        </p:nvGrpSpPr>
        <p:grpSpPr>
          <a:xfrm>
            <a:off x="1857838" y="4674595"/>
            <a:ext cx="2102950" cy="1949312"/>
            <a:chOff x="1857838" y="4674595"/>
            <a:chExt cx="2102950" cy="1949312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51D4BA04-2E6A-45FD-08FB-C565B0C46CBD}"/>
                </a:ext>
              </a:extLst>
            </p:cNvPr>
            <p:cNvSpPr/>
            <p:nvPr/>
          </p:nvSpPr>
          <p:spPr>
            <a:xfrm>
              <a:off x="1864283" y="4674595"/>
              <a:ext cx="2096505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Данные (300</a:t>
              </a:r>
              <a:r>
                <a:rPr lang="en-US" sz="1400" dirty="0"/>
                <a:t>GB)</a:t>
              </a:r>
              <a:endParaRPr lang="ru-RU" sz="1400" dirty="0"/>
            </a:p>
          </p:txBody>
        </p:sp>
        <p:sp>
          <p:nvSpPr>
            <p:cNvPr id="7" name="Скругленный прямоугольник 6">
              <a:extLst>
                <a:ext uri="{FF2B5EF4-FFF2-40B4-BE49-F238E27FC236}">
                  <a16:creationId xmlns:a16="http://schemas.microsoft.com/office/drawing/2014/main" id="{0348B092-A2D7-2343-1F93-A29A0C1EF81D}"/>
                </a:ext>
              </a:extLst>
            </p:cNvPr>
            <p:cNvSpPr/>
            <p:nvPr/>
          </p:nvSpPr>
          <p:spPr>
            <a:xfrm>
              <a:off x="1864282" y="5296501"/>
              <a:ext cx="636531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Node1</a:t>
              </a:r>
              <a:endParaRPr lang="ru-RU" sz="1200" dirty="0"/>
            </a:p>
          </p:txBody>
        </p:sp>
        <p:cxnSp>
          <p:nvCxnSpPr>
            <p:cNvPr id="8" name="Прямая со стрелкой 7">
              <a:extLst>
                <a:ext uri="{FF2B5EF4-FFF2-40B4-BE49-F238E27FC236}">
                  <a16:creationId xmlns:a16="http://schemas.microsoft.com/office/drawing/2014/main" id="{40358181-EBEF-EC76-975D-17C08C638EE3}"/>
                </a:ext>
              </a:extLst>
            </p:cNvPr>
            <p:cNvCxnSpPr>
              <a:cxnSpLocks/>
              <a:stCxn id="4" idx="2"/>
              <a:endCxn id="7" idx="0"/>
            </p:cNvCxnSpPr>
            <p:nvPr/>
          </p:nvCxnSpPr>
          <p:spPr>
            <a:xfrm flipH="1">
              <a:off x="2182548" y="4975585"/>
              <a:ext cx="729988" cy="3209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 стрелкой 9">
              <a:extLst>
                <a:ext uri="{FF2B5EF4-FFF2-40B4-BE49-F238E27FC236}">
                  <a16:creationId xmlns:a16="http://schemas.microsoft.com/office/drawing/2014/main" id="{4DC1BBD0-677E-27B5-2005-70A8C8FA7121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>
              <a:off x="2906091" y="5604346"/>
              <a:ext cx="6445" cy="17752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B0A677FF-162C-1088-DA39-4AC7095178F3}"/>
                </a:ext>
              </a:extLst>
            </p:cNvPr>
            <p:cNvSpPr/>
            <p:nvPr/>
          </p:nvSpPr>
          <p:spPr>
            <a:xfrm>
              <a:off x="2594269" y="5296501"/>
              <a:ext cx="636531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Node2</a:t>
              </a:r>
              <a:endParaRPr lang="ru-RU" sz="1200" dirty="0"/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386F44FA-A4C2-E809-5061-3177C5199D28}"/>
                </a:ext>
              </a:extLst>
            </p:cNvPr>
            <p:cNvSpPr/>
            <p:nvPr/>
          </p:nvSpPr>
          <p:spPr>
            <a:xfrm>
              <a:off x="3324257" y="5291967"/>
              <a:ext cx="636531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Node3</a:t>
              </a:r>
              <a:endParaRPr lang="ru-RU" sz="1200" dirty="0"/>
            </a:p>
          </p:txBody>
        </p:sp>
        <p:sp>
          <p:nvSpPr>
            <p:cNvPr id="13" name="Скругленный прямоугольник 12">
              <a:extLst>
                <a:ext uri="{FF2B5EF4-FFF2-40B4-BE49-F238E27FC236}">
                  <a16:creationId xmlns:a16="http://schemas.microsoft.com/office/drawing/2014/main" id="{4B21C141-C51F-24C5-AABF-419FA2256827}"/>
                </a:ext>
              </a:extLst>
            </p:cNvPr>
            <p:cNvSpPr/>
            <p:nvPr/>
          </p:nvSpPr>
          <p:spPr>
            <a:xfrm>
              <a:off x="1864283" y="5781871"/>
              <a:ext cx="636531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100 GB</a:t>
              </a:r>
              <a:endParaRPr lang="ru-RU" sz="1000" dirty="0"/>
            </a:p>
          </p:txBody>
        </p:sp>
        <p:sp>
          <p:nvSpPr>
            <p:cNvPr id="14" name="Скругленный прямоугольник 13">
              <a:extLst>
                <a:ext uri="{FF2B5EF4-FFF2-40B4-BE49-F238E27FC236}">
                  <a16:creationId xmlns:a16="http://schemas.microsoft.com/office/drawing/2014/main" id="{56DBA5F9-0020-35BC-BA0C-0690E1546E6B}"/>
                </a:ext>
              </a:extLst>
            </p:cNvPr>
            <p:cNvSpPr/>
            <p:nvPr/>
          </p:nvSpPr>
          <p:spPr>
            <a:xfrm>
              <a:off x="2594270" y="5781871"/>
              <a:ext cx="636531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100 GB</a:t>
              </a:r>
              <a:endParaRPr lang="ru-RU" sz="1000" dirty="0"/>
            </a:p>
          </p:txBody>
        </p:sp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008A2D38-C163-1E1D-A187-BA92CEB6931F}"/>
                </a:ext>
              </a:extLst>
            </p:cNvPr>
            <p:cNvSpPr/>
            <p:nvPr/>
          </p:nvSpPr>
          <p:spPr>
            <a:xfrm>
              <a:off x="3324257" y="5781871"/>
              <a:ext cx="636531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100GB</a:t>
              </a:r>
              <a:endParaRPr lang="ru-RU" sz="1000" dirty="0"/>
            </a:p>
          </p:txBody>
        </p:sp>
        <p:cxnSp>
          <p:nvCxnSpPr>
            <p:cNvPr id="16" name="Прямая со стрелкой 15">
              <a:extLst>
                <a:ext uri="{FF2B5EF4-FFF2-40B4-BE49-F238E27FC236}">
                  <a16:creationId xmlns:a16="http://schemas.microsoft.com/office/drawing/2014/main" id="{9D0E609D-6AA8-B97E-194B-A2E897109575}"/>
                </a:ext>
              </a:extLst>
            </p:cNvPr>
            <p:cNvCxnSpPr>
              <a:stCxn id="4" idx="2"/>
              <a:endCxn id="11" idx="0"/>
            </p:cNvCxnSpPr>
            <p:nvPr/>
          </p:nvCxnSpPr>
          <p:spPr>
            <a:xfrm flipH="1">
              <a:off x="2912535" y="4975585"/>
              <a:ext cx="1" cy="3209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0BF3C214-EA0B-C8FA-88F7-0888499C2B7F}"/>
                </a:ext>
              </a:extLst>
            </p:cNvPr>
            <p:cNvCxnSpPr>
              <a:stCxn id="4" idx="2"/>
              <a:endCxn id="12" idx="0"/>
            </p:cNvCxnSpPr>
            <p:nvPr/>
          </p:nvCxnSpPr>
          <p:spPr>
            <a:xfrm>
              <a:off x="2912536" y="4975585"/>
              <a:ext cx="729987" cy="31638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>
              <a:extLst>
                <a:ext uri="{FF2B5EF4-FFF2-40B4-BE49-F238E27FC236}">
                  <a16:creationId xmlns:a16="http://schemas.microsoft.com/office/drawing/2014/main" id="{2EECCAC2-D04C-09EA-6D5A-89DB83111649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>
              <a:off x="3642522" y="5611201"/>
              <a:ext cx="1" cy="17067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 стрелкой 18">
              <a:extLst>
                <a:ext uri="{FF2B5EF4-FFF2-40B4-BE49-F238E27FC236}">
                  <a16:creationId xmlns:a16="http://schemas.microsoft.com/office/drawing/2014/main" id="{947A139D-DE10-F0C5-B158-BF32040E5E3F}"/>
                </a:ext>
              </a:extLst>
            </p:cNvPr>
            <p:cNvCxnSpPr>
              <a:cxnSpLocks/>
              <a:stCxn id="7" idx="2"/>
              <a:endCxn id="13" idx="0"/>
            </p:cNvCxnSpPr>
            <p:nvPr/>
          </p:nvCxnSpPr>
          <p:spPr>
            <a:xfrm>
              <a:off x="2182548" y="5597491"/>
              <a:ext cx="1" cy="18438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Скругленный прямоугольник 32">
              <a:extLst>
                <a:ext uri="{FF2B5EF4-FFF2-40B4-BE49-F238E27FC236}">
                  <a16:creationId xmlns:a16="http://schemas.microsoft.com/office/drawing/2014/main" id="{1C53CC0C-296A-1E9D-4522-C332A1AD67ED}"/>
                </a:ext>
              </a:extLst>
            </p:cNvPr>
            <p:cNvSpPr/>
            <p:nvPr/>
          </p:nvSpPr>
          <p:spPr>
            <a:xfrm>
              <a:off x="1857838" y="6322917"/>
              <a:ext cx="2096505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Результат</a:t>
              </a:r>
            </a:p>
          </p:txBody>
        </p:sp>
        <p:cxnSp>
          <p:nvCxnSpPr>
            <p:cNvPr id="42" name="Прямая со стрелкой 41">
              <a:extLst>
                <a:ext uri="{FF2B5EF4-FFF2-40B4-BE49-F238E27FC236}">
                  <a16:creationId xmlns:a16="http://schemas.microsoft.com/office/drawing/2014/main" id="{F5AEB9C2-52CE-B2C3-9CDC-EDF42FF04F9E}"/>
                </a:ext>
              </a:extLst>
            </p:cNvPr>
            <p:cNvCxnSpPr>
              <a:cxnSpLocks/>
              <a:stCxn id="13" idx="2"/>
              <a:endCxn id="33" idx="0"/>
            </p:cNvCxnSpPr>
            <p:nvPr/>
          </p:nvCxnSpPr>
          <p:spPr>
            <a:xfrm>
              <a:off x="2182549" y="6082861"/>
              <a:ext cx="723542" cy="2400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 стрелкой 44">
              <a:extLst>
                <a:ext uri="{FF2B5EF4-FFF2-40B4-BE49-F238E27FC236}">
                  <a16:creationId xmlns:a16="http://schemas.microsoft.com/office/drawing/2014/main" id="{A06CFE85-610C-3191-439E-0A109AF8EF1E}"/>
                </a:ext>
              </a:extLst>
            </p:cNvPr>
            <p:cNvCxnSpPr>
              <a:stCxn id="14" idx="2"/>
              <a:endCxn id="33" idx="0"/>
            </p:cNvCxnSpPr>
            <p:nvPr/>
          </p:nvCxnSpPr>
          <p:spPr>
            <a:xfrm flipH="1">
              <a:off x="2906091" y="6082861"/>
              <a:ext cx="6445" cy="2400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Прямая со стрелкой 46">
              <a:extLst>
                <a:ext uri="{FF2B5EF4-FFF2-40B4-BE49-F238E27FC236}">
                  <a16:creationId xmlns:a16="http://schemas.microsoft.com/office/drawing/2014/main" id="{313A5452-0F7F-A1F6-BAEB-E79CCA90EB6C}"/>
                </a:ext>
              </a:extLst>
            </p:cNvPr>
            <p:cNvCxnSpPr>
              <a:stCxn id="15" idx="2"/>
              <a:endCxn id="33" idx="0"/>
            </p:cNvCxnSpPr>
            <p:nvPr/>
          </p:nvCxnSpPr>
          <p:spPr>
            <a:xfrm flipH="1">
              <a:off x="2906091" y="6082861"/>
              <a:ext cx="736432" cy="2400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7A9CF72-24D7-7ED6-9D17-CAFD8D8A4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514" y="2189095"/>
            <a:ext cx="3517900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0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3" grpId="0"/>
      <p:bldP spid="6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0DB6E-BA97-FEBD-48E3-C11C01A52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D8D888D-2444-D55D-50A1-7FBB0856CFA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14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A5B8CA0E-23D6-B3CB-DB50-B07F286BF56A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Озеро данных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u-RU" dirty="0"/>
              <a:t>(Data </a:t>
            </a:r>
            <a:r>
              <a:rPr lang="en-US" dirty="0"/>
              <a:t>Lake</a:t>
            </a:r>
            <a:r>
              <a:rPr lang="ru-RU" dirty="0"/>
              <a:t>)</a:t>
            </a:r>
          </a:p>
          <a:p>
            <a:endParaRPr lang="ru-RU" dirty="0"/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69E2ED39-A92E-51D2-B636-12895185725A}"/>
              </a:ext>
            </a:extLst>
          </p:cNvPr>
          <p:cNvSpPr txBox="1">
            <a:spLocks/>
          </p:cNvSpPr>
          <p:nvPr/>
        </p:nvSpPr>
        <p:spPr>
          <a:xfrm>
            <a:off x="259087" y="2127154"/>
            <a:ext cx="54274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>
                <a:solidFill>
                  <a:srgbClr val="FF0000"/>
                </a:solidFill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Идея</a:t>
            </a:r>
            <a:r>
              <a:rPr lang="ru-RU" dirty="0">
                <a:solidFill>
                  <a:schemeClr val="bg1"/>
                </a:solidFill>
              </a:rPr>
              <a:t>: Хватит платить за хранение. Давайте </a:t>
            </a:r>
            <a:r>
              <a:rPr lang="ru-RU" dirty="0" err="1">
                <a:solidFill>
                  <a:schemeClr val="bg1"/>
                </a:solidFill>
              </a:rPr>
              <a:t>сĸладировать</a:t>
            </a:r>
            <a:r>
              <a:rPr lang="ru-RU" dirty="0">
                <a:solidFill>
                  <a:schemeClr val="bg1"/>
                </a:solidFill>
              </a:rPr>
              <a:t> сырые файлы (JSON, CSV, AVRO) в дешевое хранилище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619096-F0F1-6BD4-3C2D-B6DA7ED09D64}"/>
              </a:ext>
            </a:extLst>
          </p:cNvPr>
          <p:cNvSpPr txBox="1"/>
          <p:nvPr/>
        </p:nvSpPr>
        <p:spPr>
          <a:xfrm>
            <a:off x="259087" y="3147124"/>
            <a:ext cx="54274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solidFill>
                  <a:srgbClr val="FF0000"/>
                </a:solidFill>
              </a:rPr>
              <a:t>Каĸ</a:t>
            </a:r>
            <a:r>
              <a:rPr lang="ru-RU" dirty="0">
                <a:solidFill>
                  <a:srgbClr val="FF0000"/>
                </a:solidFill>
              </a:rPr>
              <a:t> выглядит</a:t>
            </a:r>
            <a:r>
              <a:rPr lang="ru-RU" dirty="0">
                <a:solidFill>
                  <a:schemeClr val="bg1"/>
                </a:solidFill>
              </a:rPr>
              <a:t>: У нас есть множество источников и они отправляют данные в наше озеро, где они хранятся в различном виде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80605-CF9F-798C-666F-38D1A26174AC}"/>
              </a:ext>
            </a:extLst>
          </p:cNvPr>
          <p:cNvSpPr txBox="1"/>
          <p:nvPr/>
        </p:nvSpPr>
        <p:spPr>
          <a:xfrm>
            <a:off x="259087" y="4267154"/>
            <a:ext cx="54274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rgbClr val="FF0000"/>
                </a:solidFill>
              </a:rPr>
              <a:t>Боль</a:t>
            </a:r>
            <a:r>
              <a:rPr lang="ru-RU" dirty="0">
                <a:solidFill>
                  <a:schemeClr val="bg1"/>
                </a:solidFill>
              </a:rPr>
              <a:t>: Сначала сохранили, потом обработаем.  Данные лежат в сыром виде и их надо обрабатывать при каждом обращении</a:t>
            </a:r>
          </a:p>
        </p:txBody>
      </p: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E50B7E14-56B7-6C3C-C4BE-1608CAEFCD21}"/>
              </a:ext>
            </a:extLst>
          </p:cNvPr>
          <p:cNvGrpSpPr/>
          <p:nvPr/>
        </p:nvGrpSpPr>
        <p:grpSpPr>
          <a:xfrm>
            <a:off x="624760" y="5368968"/>
            <a:ext cx="4696090" cy="1168670"/>
            <a:chOff x="259087" y="5321295"/>
            <a:chExt cx="4696090" cy="1168670"/>
          </a:xfrm>
        </p:grpSpPr>
        <p:sp>
          <p:nvSpPr>
            <p:cNvPr id="7" name="Скругленный прямоугольник 6">
              <a:extLst>
                <a:ext uri="{FF2B5EF4-FFF2-40B4-BE49-F238E27FC236}">
                  <a16:creationId xmlns:a16="http://schemas.microsoft.com/office/drawing/2014/main" id="{F0130B9B-D271-233D-672E-996A78CC7164}"/>
                </a:ext>
              </a:extLst>
            </p:cNvPr>
            <p:cNvSpPr/>
            <p:nvPr/>
          </p:nvSpPr>
          <p:spPr>
            <a:xfrm>
              <a:off x="259087" y="5753096"/>
              <a:ext cx="927006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Приложение</a:t>
              </a:r>
            </a:p>
          </p:txBody>
        </p:sp>
        <p:sp>
          <p:nvSpPr>
            <p:cNvPr id="8" name="Скругленный прямоугольник 7">
              <a:extLst>
                <a:ext uri="{FF2B5EF4-FFF2-40B4-BE49-F238E27FC236}">
                  <a16:creationId xmlns:a16="http://schemas.microsoft.com/office/drawing/2014/main" id="{8375A79B-B72B-9A3A-5E98-9FAD73992CB8}"/>
                </a:ext>
              </a:extLst>
            </p:cNvPr>
            <p:cNvSpPr/>
            <p:nvPr/>
          </p:nvSpPr>
          <p:spPr>
            <a:xfrm>
              <a:off x="2697043" y="5753096"/>
              <a:ext cx="863947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Брокер</a:t>
              </a:r>
            </a:p>
          </p:txBody>
        </p:sp>
        <p:sp>
          <p:nvSpPr>
            <p:cNvPr id="10" name="Скругленный прямоугольник 9">
              <a:extLst>
                <a:ext uri="{FF2B5EF4-FFF2-40B4-BE49-F238E27FC236}">
                  <a16:creationId xmlns:a16="http://schemas.microsoft.com/office/drawing/2014/main" id="{D9A145C6-FA0D-A876-3D4A-8414DC0EEEA4}"/>
                </a:ext>
              </a:extLst>
            </p:cNvPr>
            <p:cNvSpPr/>
            <p:nvPr/>
          </p:nvSpPr>
          <p:spPr>
            <a:xfrm>
              <a:off x="3881681" y="5753096"/>
              <a:ext cx="1073496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Озеро данных</a:t>
              </a:r>
            </a:p>
          </p:txBody>
        </p:sp>
        <p:sp>
          <p:nvSpPr>
            <p:cNvPr id="18" name="Скругленный прямоугольник 17">
              <a:extLst>
                <a:ext uri="{FF2B5EF4-FFF2-40B4-BE49-F238E27FC236}">
                  <a16:creationId xmlns:a16="http://schemas.microsoft.com/office/drawing/2014/main" id="{A209C840-C400-19A0-3F25-2FDACD8FE070}"/>
                </a:ext>
              </a:extLst>
            </p:cNvPr>
            <p:cNvSpPr/>
            <p:nvPr/>
          </p:nvSpPr>
          <p:spPr>
            <a:xfrm>
              <a:off x="1506785" y="5321295"/>
              <a:ext cx="863947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CSV</a:t>
              </a:r>
              <a:endParaRPr lang="ru-RU" sz="1000" dirty="0"/>
            </a:p>
          </p:txBody>
        </p:sp>
        <p:sp>
          <p:nvSpPr>
            <p:cNvPr id="19" name="Скругленный прямоугольник 18">
              <a:extLst>
                <a:ext uri="{FF2B5EF4-FFF2-40B4-BE49-F238E27FC236}">
                  <a16:creationId xmlns:a16="http://schemas.microsoft.com/office/drawing/2014/main" id="{509E67A5-9558-6F29-E26D-F8E23BF1A115}"/>
                </a:ext>
              </a:extLst>
            </p:cNvPr>
            <p:cNvSpPr/>
            <p:nvPr/>
          </p:nvSpPr>
          <p:spPr>
            <a:xfrm>
              <a:off x="1506784" y="5753096"/>
              <a:ext cx="863947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JSON</a:t>
              </a:r>
              <a:endParaRPr lang="ru-RU" sz="1000" dirty="0"/>
            </a:p>
          </p:txBody>
        </p:sp>
        <p:sp>
          <p:nvSpPr>
            <p:cNvPr id="20" name="Скругленный прямоугольник 19">
              <a:extLst>
                <a:ext uri="{FF2B5EF4-FFF2-40B4-BE49-F238E27FC236}">
                  <a16:creationId xmlns:a16="http://schemas.microsoft.com/office/drawing/2014/main" id="{05745FCD-DDAE-2039-03A2-4815EA069CEC}"/>
                </a:ext>
              </a:extLst>
            </p:cNvPr>
            <p:cNvSpPr/>
            <p:nvPr/>
          </p:nvSpPr>
          <p:spPr>
            <a:xfrm>
              <a:off x="1506783" y="6188975"/>
              <a:ext cx="863947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Логи</a:t>
              </a:r>
            </a:p>
          </p:txBody>
        </p:sp>
        <p:cxnSp>
          <p:nvCxnSpPr>
            <p:cNvPr id="22" name="Прямая со стрелкой 21">
              <a:extLst>
                <a:ext uri="{FF2B5EF4-FFF2-40B4-BE49-F238E27FC236}">
                  <a16:creationId xmlns:a16="http://schemas.microsoft.com/office/drawing/2014/main" id="{1D4676AA-391A-A452-C159-BCF2A51613A4}"/>
                </a:ext>
              </a:extLst>
            </p:cNvPr>
            <p:cNvCxnSpPr>
              <a:stCxn id="7" idx="3"/>
              <a:endCxn id="19" idx="1"/>
            </p:cNvCxnSpPr>
            <p:nvPr/>
          </p:nvCxnSpPr>
          <p:spPr>
            <a:xfrm>
              <a:off x="1186093" y="5903591"/>
              <a:ext cx="32069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 стрелкой 23">
              <a:extLst>
                <a:ext uri="{FF2B5EF4-FFF2-40B4-BE49-F238E27FC236}">
                  <a16:creationId xmlns:a16="http://schemas.microsoft.com/office/drawing/2014/main" id="{92F3577E-2307-005B-B8BA-3EA387A404B2}"/>
                </a:ext>
              </a:extLst>
            </p:cNvPr>
            <p:cNvCxnSpPr>
              <a:stCxn id="7" idx="3"/>
              <a:endCxn id="18" idx="1"/>
            </p:cNvCxnSpPr>
            <p:nvPr/>
          </p:nvCxnSpPr>
          <p:spPr>
            <a:xfrm flipV="1">
              <a:off x="1186093" y="5471790"/>
              <a:ext cx="320692" cy="43180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 стрелкой 25">
              <a:extLst>
                <a:ext uri="{FF2B5EF4-FFF2-40B4-BE49-F238E27FC236}">
                  <a16:creationId xmlns:a16="http://schemas.microsoft.com/office/drawing/2014/main" id="{55A02276-C868-5FC2-F771-AF4DCF43587D}"/>
                </a:ext>
              </a:extLst>
            </p:cNvPr>
            <p:cNvCxnSpPr>
              <a:stCxn id="7" idx="3"/>
              <a:endCxn id="20" idx="1"/>
            </p:cNvCxnSpPr>
            <p:nvPr/>
          </p:nvCxnSpPr>
          <p:spPr>
            <a:xfrm>
              <a:off x="1186093" y="5903591"/>
              <a:ext cx="320690" cy="43587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>
              <a:extLst>
                <a:ext uri="{FF2B5EF4-FFF2-40B4-BE49-F238E27FC236}">
                  <a16:creationId xmlns:a16="http://schemas.microsoft.com/office/drawing/2014/main" id="{E3AF0FBE-4315-7A2D-206C-B87D1E0252A8}"/>
                </a:ext>
              </a:extLst>
            </p:cNvPr>
            <p:cNvCxnSpPr>
              <a:stCxn id="18" idx="3"/>
              <a:endCxn id="8" idx="1"/>
            </p:cNvCxnSpPr>
            <p:nvPr/>
          </p:nvCxnSpPr>
          <p:spPr>
            <a:xfrm>
              <a:off x="2370732" y="5471790"/>
              <a:ext cx="326311" cy="43180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 стрелкой 29">
              <a:extLst>
                <a:ext uri="{FF2B5EF4-FFF2-40B4-BE49-F238E27FC236}">
                  <a16:creationId xmlns:a16="http://schemas.microsoft.com/office/drawing/2014/main" id="{CCC21938-2CD8-8C4E-9397-9BB76DB087B7}"/>
                </a:ext>
              </a:extLst>
            </p:cNvPr>
            <p:cNvCxnSpPr>
              <a:stCxn id="19" idx="3"/>
              <a:endCxn id="8" idx="1"/>
            </p:cNvCxnSpPr>
            <p:nvPr/>
          </p:nvCxnSpPr>
          <p:spPr>
            <a:xfrm>
              <a:off x="2370731" y="5903591"/>
              <a:ext cx="326312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 стрелкой 31">
              <a:extLst>
                <a:ext uri="{FF2B5EF4-FFF2-40B4-BE49-F238E27FC236}">
                  <a16:creationId xmlns:a16="http://schemas.microsoft.com/office/drawing/2014/main" id="{AF1F46AA-3CE1-F2CD-6B9F-5E88D85290FB}"/>
                </a:ext>
              </a:extLst>
            </p:cNvPr>
            <p:cNvCxnSpPr>
              <a:stCxn id="20" idx="3"/>
              <a:endCxn id="8" idx="1"/>
            </p:cNvCxnSpPr>
            <p:nvPr/>
          </p:nvCxnSpPr>
          <p:spPr>
            <a:xfrm flipV="1">
              <a:off x="2370730" y="5903591"/>
              <a:ext cx="326313" cy="43587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 стрелкой 33">
              <a:extLst>
                <a:ext uri="{FF2B5EF4-FFF2-40B4-BE49-F238E27FC236}">
                  <a16:creationId xmlns:a16="http://schemas.microsoft.com/office/drawing/2014/main" id="{B09516F1-A34A-8A2A-354E-8D65CAD9C348}"/>
                </a:ext>
              </a:extLst>
            </p:cNvPr>
            <p:cNvCxnSpPr>
              <a:stCxn id="8" idx="3"/>
              <a:endCxn id="10" idx="1"/>
            </p:cNvCxnSpPr>
            <p:nvPr/>
          </p:nvCxnSpPr>
          <p:spPr>
            <a:xfrm>
              <a:off x="3560990" y="5903591"/>
              <a:ext cx="32069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F51A7C1-7948-9B38-42ED-3F0C32E6E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950" y="2369863"/>
            <a:ext cx="31369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49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3" grpId="0"/>
      <p:bldP spid="6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98A99-D002-2F63-7121-60C3A18A8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3C158A4-0C43-E8FF-89C5-32AF288BD18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15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C345F5BA-9678-2F01-8B5A-908FE87D5233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Пакетная обработка </a:t>
            </a:r>
            <a:r>
              <a:rPr lang="ru-RU" dirty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Batch</a:t>
            </a:r>
            <a:r>
              <a:rPr lang="ru-RU" dirty="0">
                <a:solidFill>
                  <a:srgbClr val="FF0000"/>
                </a:solidFill>
              </a:rPr>
              <a:t>)</a:t>
            </a:r>
            <a:endParaRPr lang="ru-RU" dirty="0"/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2542DFCE-9590-49A0-98E1-FA33EFA4DDF3}"/>
              </a:ext>
            </a:extLst>
          </p:cNvPr>
          <p:cNvSpPr txBox="1">
            <a:spLocks/>
          </p:cNvSpPr>
          <p:nvPr/>
        </p:nvSpPr>
        <p:spPr>
          <a:xfrm>
            <a:off x="259087" y="2127154"/>
            <a:ext cx="5427437" cy="6106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800" dirty="0">
                <a:solidFill>
                  <a:srgbClr val="FF0000"/>
                </a:solidFill>
                <a:latin typeface="+mn-lt"/>
              </a:rPr>
              <a:t>Идея</a:t>
            </a:r>
            <a:r>
              <a:rPr lang="ru-RU" sz="1800" dirty="0">
                <a:latin typeface="+mn-lt"/>
              </a:rPr>
              <a:t>: </a:t>
            </a:r>
            <a:r>
              <a:rPr lang="ru-RU" sz="1800" dirty="0">
                <a:latin typeface="+mn-lt"/>
                <a:cs typeface="+mn-cs"/>
              </a:rPr>
              <a:t>Накапливаем данные и забираем их по расписанию</a:t>
            </a:r>
            <a:endParaRPr lang="ru-RU" sz="18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0BDD37-7D84-D449-B596-088A101D2734}"/>
              </a:ext>
            </a:extLst>
          </p:cNvPr>
          <p:cNvSpPr txBox="1"/>
          <p:nvPr/>
        </p:nvSpPr>
        <p:spPr>
          <a:xfrm>
            <a:off x="259087" y="2745831"/>
            <a:ext cx="54274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solidFill>
                  <a:srgbClr val="FF0000"/>
                </a:solidFill>
              </a:rPr>
              <a:t>Каĸ</a:t>
            </a:r>
            <a:r>
              <a:rPr lang="ru-RU" dirty="0">
                <a:solidFill>
                  <a:srgbClr val="FF0000"/>
                </a:solidFill>
              </a:rPr>
              <a:t> выглядит</a:t>
            </a:r>
            <a:r>
              <a:rPr lang="ru-RU" dirty="0">
                <a:solidFill>
                  <a:schemeClr val="bg1"/>
                </a:solidFill>
              </a:rPr>
              <a:t>: Оркестратор раз в установленный период запускает переливку данных целевую систему хранения данных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A4FFF6-C2C9-2A06-8154-B674DA75095C}"/>
              </a:ext>
            </a:extLst>
          </p:cNvPr>
          <p:cNvSpPr txBox="1"/>
          <p:nvPr/>
        </p:nvSpPr>
        <p:spPr>
          <a:xfrm>
            <a:off x="259087" y="3677221"/>
            <a:ext cx="5427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rgbClr val="FF0000"/>
                </a:solidFill>
              </a:rPr>
              <a:t>Боль</a:t>
            </a:r>
            <a:r>
              <a:rPr lang="ru-RU" dirty="0">
                <a:solidFill>
                  <a:schemeClr val="bg1"/>
                </a:solidFill>
              </a:rPr>
              <a:t>: Не знаем, что происходит прямо сейчас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F3843361-7FDD-9848-FB06-E39BBFA871DF}"/>
              </a:ext>
            </a:extLst>
          </p:cNvPr>
          <p:cNvGrpSpPr/>
          <p:nvPr/>
        </p:nvGrpSpPr>
        <p:grpSpPr>
          <a:xfrm>
            <a:off x="259087" y="4662907"/>
            <a:ext cx="5181915" cy="302482"/>
            <a:chOff x="259087" y="5035047"/>
            <a:chExt cx="5181915" cy="302482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00366B1A-CE02-BEA6-4E6E-3EE8FA9C67C6}"/>
                </a:ext>
              </a:extLst>
            </p:cNvPr>
            <p:cNvSpPr/>
            <p:nvPr/>
          </p:nvSpPr>
          <p:spPr>
            <a:xfrm>
              <a:off x="259087" y="5035047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Система источник</a:t>
              </a:r>
            </a:p>
          </p:txBody>
        </p:sp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8BCB2229-2351-FF84-A53E-2FA420F33B78}"/>
                </a:ext>
              </a:extLst>
            </p:cNvPr>
            <p:cNvSpPr/>
            <p:nvPr/>
          </p:nvSpPr>
          <p:spPr>
            <a:xfrm>
              <a:off x="2361742" y="5036539"/>
              <a:ext cx="966249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Оркестратор</a:t>
              </a:r>
            </a:p>
          </p:txBody>
        </p:sp>
        <p:sp>
          <p:nvSpPr>
            <p:cNvPr id="20" name="Скругленный прямоугольник 19">
              <a:extLst>
                <a:ext uri="{FF2B5EF4-FFF2-40B4-BE49-F238E27FC236}">
                  <a16:creationId xmlns:a16="http://schemas.microsoft.com/office/drawing/2014/main" id="{78188A46-853D-4059-9309-154F92FACE23}"/>
                </a:ext>
              </a:extLst>
            </p:cNvPr>
            <p:cNvSpPr/>
            <p:nvPr/>
          </p:nvSpPr>
          <p:spPr>
            <a:xfrm>
              <a:off x="4577054" y="5036539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Хранилище</a:t>
              </a:r>
            </a:p>
          </p:txBody>
        </p:sp>
        <p:cxnSp>
          <p:nvCxnSpPr>
            <p:cNvPr id="43" name="Прямая со стрелкой 42">
              <a:extLst>
                <a:ext uri="{FF2B5EF4-FFF2-40B4-BE49-F238E27FC236}">
                  <a16:creationId xmlns:a16="http://schemas.microsoft.com/office/drawing/2014/main" id="{19318AFB-2797-DFA5-51FD-51A78023AF1B}"/>
                </a:ext>
              </a:extLst>
            </p:cNvPr>
            <p:cNvCxnSpPr>
              <a:cxnSpLocks/>
              <a:stCxn id="4" idx="3"/>
              <a:endCxn id="11" idx="1"/>
            </p:cNvCxnSpPr>
            <p:nvPr/>
          </p:nvCxnSpPr>
          <p:spPr>
            <a:xfrm>
              <a:off x="1123035" y="5185542"/>
              <a:ext cx="1238707" cy="149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 стрелкой 48">
              <a:extLst>
                <a:ext uri="{FF2B5EF4-FFF2-40B4-BE49-F238E27FC236}">
                  <a16:creationId xmlns:a16="http://schemas.microsoft.com/office/drawing/2014/main" id="{799A5BF7-0F33-DB17-623E-10995C84CD19}"/>
                </a:ext>
              </a:extLst>
            </p:cNvPr>
            <p:cNvCxnSpPr>
              <a:cxnSpLocks/>
              <a:stCxn id="11" idx="3"/>
              <a:endCxn id="20" idx="1"/>
            </p:cNvCxnSpPr>
            <p:nvPr/>
          </p:nvCxnSpPr>
          <p:spPr>
            <a:xfrm>
              <a:off x="3327991" y="5187034"/>
              <a:ext cx="1249063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40901D-A28E-880D-1943-5AB2022B8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435" y="2704082"/>
            <a:ext cx="45720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178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6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D7A1B-5E2A-195B-B0D2-DE914666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DB33C8C-B4CD-870F-A54F-E60C0B86AEC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16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9C8F6DA-181F-1414-DF6B-C82ECC927CA1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Потоковая обработка </a:t>
            </a:r>
            <a:r>
              <a:rPr lang="ru-RU" dirty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Streaming</a:t>
            </a:r>
            <a:r>
              <a:rPr lang="ru-RU" dirty="0">
                <a:solidFill>
                  <a:srgbClr val="FF0000"/>
                </a:solidFill>
              </a:rPr>
              <a:t>)</a:t>
            </a:r>
            <a:endParaRPr lang="ru-RU" dirty="0"/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2712033C-256F-DAC4-DF6A-426A6E08CF32}"/>
              </a:ext>
            </a:extLst>
          </p:cNvPr>
          <p:cNvSpPr txBox="1">
            <a:spLocks/>
          </p:cNvSpPr>
          <p:nvPr/>
        </p:nvSpPr>
        <p:spPr>
          <a:xfrm>
            <a:off x="259087" y="2127154"/>
            <a:ext cx="5427437" cy="6106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800" dirty="0">
                <a:solidFill>
                  <a:srgbClr val="FF0000"/>
                </a:solidFill>
                <a:latin typeface="+mn-lt"/>
              </a:rPr>
              <a:t>Идея</a:t>
            </a:r>
            <a:r>
              <a:rPr lang="ru-RU" sz="1800" dirty="0">
                <a:latin typeface="+mn-lt"/>
              </a:rPr>
              <a:t>: </a:t>
            </a:r>
            <a:r>
              <a:rPr lang="ru-RU" sz="1800" dirty="0">
                <a:latin typeface="+mn-lt"/>
                <a:cs typeface="+mn-cs"/>
              </a:rPr>
              <a:t>Знать</a:t>
            </a:r>
            <a:r>
              <a:rPr lang="ru-RU" sz="1800" dirty="0">
                <a:latin typeface="+mn-lt"/>
              </a:rPr>
              <a:t>, что происходит здесь и сейчас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9D0937-67AD-EEF6-AE06-3DEAC33FBE44}"/>
              </a:ext>
            </a:extLst>
          </p:cNvPr>
          <p:cNvSpPr txBox="1"/>
          <p:nvPr/>
        </p:nvSpPr>
        <p:spPr>
          <a:xfrm>
            <a:off x="259087" y="2604888"/>
            <a:ext cx="54274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solidFill>
                  <a:srgbClr val="FF0000"/>
                </a:solidFill>
              </a:rPr>
              <a:t>Каĸ</a:t>
            </a:r>
            <a:r>
              <a:rPr lang="ru-RU" dirty="0">
                <a:solidFill>
                  <a:srgbClr val="FF0000"/>
                </a:solidFill>
              </a:rPr>
              <a:t> выглядит</a:t>
            </a:r>
            <a:r>
              <a:rPr lang="ru-RU" dirty="0">
                <a:solidFill>
                  <a:schemeClr val="bg1"/>
                </a:solidFill>
              </a:rPr>
              <a:t>: Наша система отправляет события через брокер в целевую систему хранения данных (</a:t>
            </a:r>
            <a:r>
              <a:rPr lang="en-US" dirty="0" err="1">
                <a:solidFill>
                  <a:schemeClr val="bg1"/>
                </a:solidFill>
              </a:rPr>
              <a:t>Clickhouse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04DD5-3DF0-EBCF-C201-BB288104510F}"/>
              </a:ext>
            </a:extLst>
          </p:cNvPr>
          <p:cNvSpPr txBox="1"/>
          <p:nvPr/>
        </p:nvSpPr>
        <p:spPr>
          <a:xfrm>
            <a:off x="259087" y="3677221"/>
            <a:ext cx="54274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rgbClr val="FF0000"/>
                </a:solidFill>
              </a:rPr>
              <a:t>Боль</a:t>
            </a:r>
            <a:r>
              <a:rPr lang="ru-RU" dirty="0">
                <a:solidFill>
                  <a:schemeClr val="bg1"/>
                </a:solidFill>
              </a:rPr>
              <a:t>: Дополнительные компоненты, усложняющие систему, потеря сообщений, обеспечение корректной обработки сообщений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07EDCA41-4A60-118B-FCB8-432304C26BC6}"/>
              </a:ext>
            </a:extLst>
          </p:cNvPr>
          <p:cNvGrpSpPr/>
          <p:nvPr/>
        </p:nvGrpSpPr>
        <p:grpSpPr>
          <a:xfrm>
            <a:off x="259087" y="5035047"/>
            <a:ext cx="5181915" cy="302482"/>
            <a:chOff x="259087" y="5035047"/>
            <a:chExt cx="5181915" cy="302482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890B5177-DBDA-FB1D-269F-1F564A927C85}"/>
                </a:ext>
              </a:extLst>
            </p:cNvPr>
            <p:cNvSpPr/>
            <p:nvPr/>
          </p:nvSpPr>
          <p:spPr>
            <a:xfrm>
              <a:off x="259087" y="5035047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Покупка</a:t>
              </a:r>
            </a:p>
          </p:txBody>
        </p:sp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840DD1AD-E456-86ED-AD67-1D05783C5945}"/>
                </a:ext>
              </a:extLst>
            </p:cNvPr>
            <p:cNvSpPr/>
            <p:nvPr/>
          </p:nvSpPr>
          <p:spPr>
            <a:xfrm>
              <a:off x="1317093" y="5036539"/>
              <a:ext cx="863947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POS</a:t>
              </a:r>
              <a:endParaRPr lang="ru-RU" sz="1000" dirty="0"/>
            </a:p>
          </p:txBody>
        </p:sp>
        <p:sp>
          <p:nvSpPr>
            <p:cNvPr id="14" name="Скругленный прямоугольник 13">
              <a:extLst>
                <a:ext uri="{FF2B5EF4-FFF2-40B4-BE49-F238E27FC236}">
                  <a16:creationId xmlns:a16="http://schemas.microsoft.com/office/drawing/2014/main" id="{BE8664C8-BF26-1F20-3C11-6FD218A0330E}"/>
                </a:ext>
              </a:extLst>
            </p:cNvPr>
            <p:cNvSpPr/>
            <p:nvPr/>
          </p:nvSpPr>
          <p:spPr>
            <a:xfrm>
              <a:off x="2375098" y="5035047"/>
              <a:ext cx="863947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Брокер</a:t>
              </a:r>
            </a:p>
          </p:txBody>
        </p:sp>
        <p:sp>
          <p:nvSpPr>
            <p:cNvPr id="20" name="Скругленный прямоугольник 19">
              <a:extLst>
                <a:ext uri="{FF2B5EF4-FFF2-40B4-BE49-F238E27FC236}">
                  <a16:creationId xmlns:a16="http://schemas.microsoft.com/office/drawing/2014/main" id="{E026BB60-1F79-A098-C9E7-2C9162C65309}"/>
                </a:ext>
              </a:extLst>
            </p:cNvPr>
            <p:cNvSpPr/>
            <p:nvPr/>
          </p:nvSpPr>
          <p:spPr>
            <a:xfrm>
              <a:off x="4577054" y="5036539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Хранилище</a:t>
              </a:r>
            </a:p>
          </p:txBody>
        </p:sp>
        <p:sp>
          <p:nvSpPr>
            <p:cNvPr id="28" name="Скругленный прямоугольник 27">
              <a:extLst>
                <a:ext uri="{FF2B5EF4-FFF2-40B4-BE49-F238E27FC236}">
                  <a16:creationId xmlns:a16="http://schemas.microsoft.com/office/drawing/2014/main" id="{921ADC5B-9301-3980-D71C-CDE8A4DD97AA}"/>
                </a:ext>
              </a:extLst>
            </p:cNvPr>
            <p:cNvSpPr/>
            <p:nvPr/>
          </p:nvSpPr>
          <p:spPr>
            <a:xfrm>
              <a:off x="3476075" y="5035047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Консьюмер</a:t>
              </a:r>
            </a:p>
          </p:txBody>
        </p:sp>
        <p:cxnSp>
          <p:nvCxnSpPr>
            <p:cNvPr id="43" name="Прямая со стрелкой 42">
              <a:extLst>
                <a:ext uri="{FF2B5EF4-FFF2-40B4-BE49-F238E27FC236}">
                  <a16:creationId xmlns:a16="http://schemas.microsoft.com/office/drawing/2014/main" id="{9E079728-F74C-275F-49C7-D405DC8B5B21}"/>
                </a:ext>
              </a:extLst>
            </p:cNvPr>
            <p:cNvCxnSpPr>
              <a:stCxn id="4" idx="3"/>
              <a:endCxn id="11" idx="1"/>
            </p:cNvCxnSpPr>
            <p:nvPr/>
          </p:nvCxnSpPr>
          <p:spPr>
            <a:xfrm>
              <a:off x="1123035" y="5185542"/>
              <a:ext cx="194058" cy="149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 стрелкой 44">
              <a:extLst>
                <a:ext uri="{FF2B5EF4-FFF2-40B4-BE49-F238E27FC236}">
                  <a16:creationId xmlns:a16="http://schemas.microsoft.com/office/drawing/2014/main" id="{04CFAC9F-FED2-46FF-9D22-BF5C9036C3CA}"/>
                </a:ext>
              </a:extLst>
            </p:cNvPr>
            <p:cNvCxnSpPr>
              <a:stCxn id="11" idx="3"/>
              <a:endCxn id="14" idx="1"/>
            </p:cNvCxnSpPr>
            <p:nvPr/>
          </p:nvCxnSpPr>
          <p:spPr>
            <a:xfrm flipV="1">
              <a:off x="2181040" y="5185542"/>
              <a:ext cx="194058" cy="149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Прямая со стрелкой 46">
              <a:extLst>
                <a:ext uri="{FF2B5EF4-FFF2-40B4-BE49-F238E27FC236}">
                  <a16:creationId xmlns:a16="http://schemas.microsoft.com/office/drawing/2014/main" id="{21095B26-62FC-10D2-5E61-F2BE37940C6C}"/>
                </a:ext>
              </a:extLst>
            </p:cNvPr>
            <p:cNvCxnSpPr>
              <a:stCxn id="14" idx="3"/>
              <a:endCxn id="28" idx="1"/>
            </p:cNvCxnSpPr>
            <p:nvPr/>
          </p:nvCxnSpPr>
          <p:spPr>
            <a:xfrm>
              <a:off x="3239045" y="5185542"/>
              <a:ext cx="23703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 стрелкой 48">
              <a:extLst>
                <a:ext uri="{FF2B5EF4-FFF2-40B4-BE49-F238E27FC236}">
                  <a16:creationId xmlns:a16="http://schemas.microsoft.com/office/drawing/2014/main" id="{0AC0604A-9D51-6F45-C351-7F4E7F929434}"/>
                </a:ext>
              </a:extLst>
            </p:cNvPr>
            <p:cNvCxnSpPr>
              <a:cxnSpLocks/>
              <a:stCxn id="28" idx="3"/>
              <a:endCxn id="20" idx="1"/>
            </p:cNvCxnSpPr>
            <p:nvPr/>
          </p:nvCxnSpPr>
          <p:spPr>
            <a:xfrm>
              <a:off x="4340023" y="5185542"/>
              <a:ext cx="237031" cy="149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DF70825-C6AE-EA4F-A7E2-A4D6241FF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435" y="2704082"/>
            <a:ext cx="45720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35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3" grpId="0"/>
      <p:bldP spid="6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947E2-68BE-C5AE-831F-A02A1599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2B348E9-3874-4F8C-7583-1E0F7A1956C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17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06D5087-66D5-740B-59AB-A39BDE0EDCC3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Data </a:t>
            </a:r>
            <a:r>
              <a:rPr lang="en-US" dirty="0">
                <a:solidFill>
                  <a:srgbClr val="FF0000"/>
                </a:solidFill>
              </a:rPr>
              <a:t>Mesh</a:t>
            </a:r>
            <a:endParaRPr lang="ru-RU" dirty="0">
              <a:solidFill>
                <a:srgbClr val="FF0000"/>
              </a:solidFill>
            </a:endParaRPr>
          </a:p>
          <a:p>
            <a:endParaRPr lang="ru-RU" dirty="0"/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D76FB061-E9C3-A9D4-8360-BF2B7353F2F6}"/>
              </a:ext>
            </a:extLst>
          </p:cNvPr>
          <p:cNvSpPr txBox="1">
            <a:spLocks/>
          </p:cNvSpPr>
          <p:nvPr/>
        </p:nvSpPr>
        <p:spPr>
          <a:xfrm>
            <a:off x="259087" y="1583628"/>
            <a:ext cx="54274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>
                <a:solidFill>
                  <a:srgbClr val="FF0000"/>
                </a:solidFill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Идея</a:t>
            </a:r>
            <a:r>
              <a:rPr lang="ru-RU" dirty="0">
                <a:solidFill>
                  <a:schemeClr val="bg1"/>
                </a:solidFill>
              </a:rPr>
              <a:t>: Возлагать ответственность за все данные на одну команду плохо, это создает бутылочное горлышко. Необходима децентрализация данных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9B34FB-0267-433E-E64B-FF17BF911F51}"/>
              </a:ext>
            </a:extLst>
          </p:cNvPr>
          <p:cNvSpPr txBox="1"/>
          <p:nvPr/>
        </p:nvSpPr>
        <p:spPr>
          <a:xfrm>
            <a:off x="259087" y="2623864"/>
            <a:ext cx="54274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solidFill>
                  <a:srgbClr val="FF0000"/>
                </a:solidFill>
              </a:rPr>
              <a:t>Каĸ</a:t>
            </a:r>
            <a:r>
              <a:rPr lang="ru-RU" dirty="0">
                <a:solidFill>
                  <a:srgbClr val="FF0000"/>
                </a:solidFill>
              </a:rPr>
              <a:t> выглядит</a:t>
            </a:r>
            <a:r>
              <a:rPr lang="ru-RU" dirty="0">
                <a:solidFill>
                  <a:schemeClr val="bg1"/>
                </a:solidFill>
              </a:rPr>
              <a:t>: За каждый кусок данных (</a:t>
            </a:r>
            <a:r>
              <a:rPr lang="en-US" dirty="0">
                <a:solidFill>
                  <a:schemeClr val="bg1"/>
                </a:solidFill>
              </a:rPr>
              <a:t>ECOM, DWH, Loyalty) </a:t>
            </a:r>
            <a:r>
              <a:rPr lang="ru-RU" dirty="0">
                <a:solidFill>
                  <a:schemeClr val="bg1"/>
                </a:solidFill>
              </a:rPr>
              <a:t>отвечает тот домен, которому принадлежат данные, но правила организации централизованы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E08452-3D11-3A65-5598-BA38A73AAAC0}"/>
              </a:ext>
            </a:extLst>
          </p:cNvPr>
          <p:cNvSpPr txBox="1"/>
          <p:nvPr/>
        </p:nvSpPr>
        <p:spPr>
          <a:xfrm>
            <a:off x="259087" y="3723628"/>
            <a:ext cx="5427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rgbClr val="FF0000"/>
                </a:solidFill>
              </a:rPr>
              <a:t>Боль</a:t>
            </a:r>
            <a:r>
              <a:rPr lang="ru-RU" dirty="0">
                <a:solidFill>
                  <a:schemeClr val="bg1"/>
                </a:solidFill>
              </a:rPr>
              <a:t>: Требование сильного процесса управления данными</a:t>
            </a:r>
          </a:p>
        </p:txBody>
      </p: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724273D9-4B6E-244D-59D8-37C2369F85BC}"/>
              </a:ext>
            </a:extLst>
          </p:cNvPr>
          <p:cNvGrpSpPr/>
          <p:nvPr/>
        </p:nvGrpSpPr>
        <p:grpSpPr>
          <a:xfrm>
            <a:off x="580934" y="4735334"/>
            <a:ext cx="4391290" cy="1135730"/>
            <a:chOff x="580934" y="5059869"/>
            <a:chExt cx="4391290" cy="1135730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EBFB0C4B-66AF-75D2-D944-EBF4685D4169}"/>
                </a:ext>
              </a:extLst>
            </p:cNvPr>
            <p:cNvSpPr/>
            <p:nvPr/>
          </p:nvSpPr>
          <p:spPr>
            <a:xfrm>
              <a:off x="580934" y="5059869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Данные по продажам</a:t>
              </a:r>
            </a:p>
          </p:txBody>
        </p:sp>
        <p:sp>
          <p:nvSpPr>
            <p:cNvPr id="7" name="Скругленный прямоугольник 6">
              <a:extLst>
                <a:ext uri="{FF2B5EF4-FFF2-40B4-BE49-F238E27FC236}">
                  <a16:creationId xmlns:a16="http://schemas.microsoft.com/office/drawing/2014/main" id="{A0C87096-6AF3-7BC7-3BEE-19970DA78B0A}"/>
                </a:ext>
              </a:extLst>
            </p:cNvPr>
            <p:cNvSpPr/>
            <p:nvPr/>
          </p:nvSpPr>
          <p:spPr>
            <a:xfrm>
              <a:off x="580934" y="5477239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Данные лояльности</a:t>
              </a:r>
            </a:p>
          </p:txBody>
        </p:sp>
        <p:sp>
          <p:nvSpPr>
            <p:cNvPr id="8" name="Скругленный прямоугольник 7">
              <a:extLst>
                <a:ext uri="{FF2B5EF4-FFF2-40B4-BE49-F238E27FC236}">
                  <a16:creationId xmlns:a16="http://schemas.microsoft.com/office/drawing/2014/main" id="{D120761D-538E-1B83-71A4-5D5C5FB4B6B9}"/>
                </a:ext>
              </a:extLst>
            </p:cNvPr>
            <p:cNvSpPr/>
            <p:nvPr/>
          </p:nvSpPr>
          <p:spPr>
            <a:xfrm>
              <a:off x="580934" y="5894609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Данные об остатках</a:t>
              </a:r>
            </a:p>
          </p:txBody>
        </p:sp>
        <p:sp>
          <p:nvSpPr>
            <p:cNvPr id="10" name="Скругленный прямоугольник 9">
              <a:extLst>
                <a:ext uri="{FF2B5EF4-FFF2-40B4-BE49-F238E27FC236}">
                  <a16:creationId xmlns:a16="http://schemas.microsoft.com/office/drawing/2014/main" id="{F0B22811-9613-5ACA-DA78-9CE213D5EEB2}"/>
                </a:ext>
              </a:extLst>
            </p:cNvPr>
            <p:cNvSpPr/>
            <p:nvPr/>
          </p:nvSpPr>
          <p:spPr>
            <a:xfrm>
              <a:off x="1713048" y="5477239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DWH</a:t>
              </a:r>
              <a:endParaRPr lang="ru-RU" sz="1000" dirty="0"/>
            </a:p>
          </p:txBody>
        </p:sp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F5866C95-A596-EAF1-6A14-4261E887FE5D}"/>
                </a:ext>
              </a:extLst>
            </p:cNvPr>
            <p:cNvSpPr/>
            <p:nvPr/>
          </p:nvSpPr>
          <p:spPr>
            <a:xfrm>
              <a:off x="2845162" y="5477239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Команда </a:t>
              </a:r>
              <a:r>
                <a:rPr lang="en-US" sz="1000" dirty="0"/>
                <a:t>DWH</a:t>
              </a:r>
              <a:endParaRPr lang="ru-RU" sz="1000" dirty="0"/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745BB0DD-9E20-38AE-DF70-A4A239098E7B}"/>
                </a:ext>
              </a:extLst>
            </p:cNvPr>
            <p:cNvSpPr/>
            <p:nvPr/>
          </p:nvSpPr>
          <p:spPr>
            <a:xfrm>
              <a:off x="3977276" y="5477239"/>
              <a:ext cx="994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Пользователи</a:t>
              </a:r>
            </a:p>
          </p:txBody>
        </p:sp>
        <p:cxnSp>
          <p:nvCxnSpPr>
            <p:cNvPr id="14" name="Прямая со стрелкой 13">
              <a:extLst>
                <a:ext uri="{FF2B5EF4-FFF2-40B4-BE49-F238E27FC236}">
                  <a16:creationId xmlns:a16="http://schemas.microsoft.com/office/drawing/2014/main" id="{A8E599AB-D96F-5498-AA77-65F4D3C1FFA3}"/>
                </a:ext>
              </a:extLst>
            </p:cNvPr>
            <p:cNvCxnSpPr>
              <a:stCxn id="4" idx="3"/>
              <a:endCxn id="10" idx="1"/>
            </p:cNvCxnSpPr>
            <p:nvPr/>
          </p:nvCxnSpPr>
          <p:spPr>
            <a:xfrm>
              <a:off x="1444882" y="5210364"/>
              <a:ext cx="268166" cy="41737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 стрелкой 15">
              <a:extLst>
                <a:ext uri="{FF2B5EF4-FFF2-40B4-BE49-F238E27FC236}">
                  <a16:creationId xmlns:a16="http://schemas.microsoft.com/office/drawing/2014/main" id="{B772E28A-4EF8-CAAA-C776-0F5B2A94E892}"/>
                </a:ext>
              </a:extLst>
            </p:cNvPr>
            <p:cNvCxnSpPr>
              <a:stCxn id="7" idx="3"/>
              <a:endCxn id="10" idx="1"/>
            </p:cNvCxnSpPr>
            <p:nvPr/>
          </p:nvCxnSpPr>
          <p:spPr>
            <a:xfrm>
              <a:off x="1444882" y="5627734"/>
              <a:ext cx="26816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>
              <a:extLst>
                <a:ext uri="{FF2B5EF4-FFF2-40B4-BE49-F238E27FC236}">
                  <a16:creationId xmlns:a16="http://schemas.microsoft.com/office/drawing/2014/main" id="{439CFEBD-0E65-230F-BD93-B478CCD95212}"/>
                </a:ext>
              </a:extLst>
            </p:cNvPr>
            <p:cNvCxnSpPr>
              <a:stCxn id="8" idx="3"/>
              <a:endCxn id="10" idx="1"/>
            </p:cNvCxnSpPr>
            <p:nvPr/>
          </p:nvCxnSpPr>
          <p:spPr>
            <a:xfrm flipV="1">
              <a:off x="1444882" y="5627734"/>
              <a:ext cx="268166" cy="41737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>
              <a:extLst>
                <a:ext uri="{FF2B5EF4-FFF2-40B4-BE49-F238E27FC236}">
                  <a16:creationId xmlns:a16="http://schemas.microsoft.com/office/drawing/2014/main" id="{BF3B9AAB-8E58-4473-C1AF-7ADEDDC5F07D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>
              <a:off x="2576996" y="5627734"/>
              <a:ext cx="26816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>
              <a:extLst>
                <a:ext uri="{FF2B5EF4-FFF2-40B4-BE49-F238E27FC236}">
                  <a16:creationId xmlns:a16="http://schemas.microsoft.com/office/drawing/2014/main" id="{D6D1A44F-1449-0452-A2E4-B466D5640C66}"/>
                </a:ext>
              </a:extLst>
            </p:cNvPr>
            <p:cNvCxnSpPr>
              <a:cxnSpLocks/>
              <a:stCxn id="11" idx="3"/>
              <a:endCxn id="12" idx="1"/>
            </p:cNvCxnSpPr>
            <p:nvPr/>
          </p:nvCxnSpPr>
          <p:spPr>
            <a:xfrm>
              <a:off x="3709110" y="5627734"/>
              <a:ext cx="26816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3AFC9B27-EC90-CA4C-3F2C-EB6138ACFE90}"/>
              </a:ext>
            </a:extLst>
          </p:cNvPr>
          <p:cNvGrpSpPr/>
          <p:nvPr/>
        </p:nvGrpSpPr>
        <p:grpSpPr>
          <a:xfrm>
            <a:off x="580934" y="4733300"/>
            <a:ext cx="4391290" cy="1141669"/>
            <a:chOff x="6104338" y="4640465"/>
            <a:chExt cx="4391290" cy="1141669"/>
          </a:xfrm>
        </p:grpSpPr>
        <p:sp>
          <p:nvSpPr>
            <p:cNvPr id="24" name="Скругленный прямоугольник 23">
              <a:extLst>
                <a:ext uri="{FF2B5EF4-FFF2-40B4-BE49-F238E27FC236}">
                  <a16:creationId xmlns:a16="http://schemas.microsoft.com/office/drawing/2014/main" id="{0ED168A5-2A15-C540-5C71-13EBCDA71FA3}"/>
                </a:ext>
              </a:extLst>
            </p:cNvPr>
            <p:cNvSpPr/>
            <p:nvPr/>
          </p:nvSpPr>
          <p:spPr>
            <a:xfrm>
              <a:off x="6104338" y="4642499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Данные по продажам</a:t>
              </a:r>
            </a:p>
          </p:txBody>
        </p:sp>
        <p:sp>
          <p:nvSpPr>
            <p:cNvPr id="25" name="Скругленный прямоугольник 24">
              <a:extLst>
                <a:ext uri="{FF2B5EF4-FFF2-40B4-BE49-F238E27FC236}">
                  <a16:creationId xmlns:a16="http://schemas.microsoft.com/office/drawing/2014/main" id="{BF0180B6-CB76-7607-D518-C596C53535B5}"/>
                </a:ext>
              </a:extLst>
            </p:cNvPr>
            <p:cNvSpPr/>
            <p:nvPr/>
          </p:nvSpPr>
          <p:spPr>
            <a:xfrm>
              <a:off x="6104338" y="5059869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Данные лояльности</a:t>
              </a:r>
            </a:p>
          </p:txBody>
        </p:sp>
        <p:sp>
          <p:nvSpPr>
            <p:cNvPr id="26" name="Скругленный прямоугольник 25">
              <a:extLst>
                <a:ext uri="{FF2B5EF4-FFF2-40B4-BE49-F238E27FC236}">
                  <a16:creationId xmlns:a16="http://schemas.microsoft.com/office/drawing/2014/main" id="{0B3CB67E-E6F7-6A3C-ED0A-8BA9273AD4F9}"/>
                </a:ext>
              </a:extLst>
            </p:cNvPr>
            <p:cNvSpPr/>
            <p:nvPr/>
          </p:nvSpPr>
          <p:spPr>
            <a:xfrm>
              <a:off x="6104338" y="5477239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Данные об остатках</a:t>
              </a:r>
            </a:p>
          </p:txBody>
        </p:sp>
        <p:sp>
          <p:nvSpPr>
            <p:cNvPr id="27" name="Скругленный прямоугольник 26">
              <a:extLst>
                <a:ext uri="{FF2B5EF4-FFF2-40B4-BE49-F238E27FC236}">
                  <a16:creationId xmlns:a16="http://schemas.microsoft.com/office/drawing/2014/main" id="{1FF08F5D-5079-4AC0-D7E0-2D4E218BE375}"/>
                </a:ext>
              </a:extLst>
            </p:cNvPr>
            <p:cNvSpPr/>
            <p:nvPr/>
          </p:nvSpPr>
          <p:spPr>
            <a:xfrm>
              <a:off x="7236452" y="4640465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Команда продаж</a:t>
              </a:r>
            </a:p>
          </p:txBody>
        </p:sp>
        <p:sp>
          <p:nvSpPr>
            <p:cNvPr id="28" name="Скругленный прямоугольник 27">
              <a:extLst>
                <a:ext uri="{FF2B5EF4-FFF2-40B4-BE49-F238E27FC236}">
                  <a16:creationId xmlns:a16="http://schemas.microsoft.com/office/drawing/2014/main" id="{0F0346E2-E61B-AAD7-D14D-52C3330DF664}"/>
                </a:ext>
              </a:extLst>
            </p:cNvPr>
            <p:cNvSpPr/>
            <p:nvPr/>
          </p:nvSpPr>
          <p:spPr>
            <a:xfrm>
              <a:off x="8464360" y="5059869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Хранилище</a:t>
              </a:r>
            </a:p>
          </p:txBody>
        </p:sp>
        <p:sp>
          <p:nvSpPr>
            <p:cNvPr id="29" name="Скругленный прямоугольник 28">
              <a:extLst>
                <a:ext uri="{FF2B5EF4-FFF2-40B4-BE49-F238E27FC236}">
                  <a16:creationId xmlns:a16="http://schemas.microsoft.com/office/drawing/2014/main" id="{B063392F-4E11-F95D-0E03-DE0E80672AD6}"/>
                </a:ext>
              </a:extLst>
            </p:cNvPr>
            <p:cNvSpPr/>
            <p:nvPr/>
          </p:nvSpPr>
          <p:spPr>
            <a:xfrm>
              <a:off x="9500680" y="5059869"/>
              <a:ext cx="994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Пользователи</a:t>
              </a:r>
            </a:p>
          </p:txBody>
        </p:sp>
        <p:cxnSp>
          <p:nvCxnSpPr>
            <p:cNvPr id="30" name="Прямая со стрелкой 29">
              <a:extLst>
                <a:ext uri="{FF2B5EF4-FFF2-40B4-BE49-F238E27FC236}">
                  <a16:creationId xmlns:a16="http://schemas.microsoft.com/office/drawing/2014/main" id="{18F97F17-AB43-2EAE-DF5F-BAF5AAC2ABE0}"/>
                </a:ext>
              </a:extLst>
            </p:cNvPr>
            <p:cNvCxnSpPr>
              <a:stCxn id="24" idx="3"/>
              <a:endCxn id="27" idx="1"/>
            </p:cNvCxnSpPr>
            <p:nvPr/>
          </p:nvCxnSpPr>
          <p:spPr>
            <a:xfrm flipV="1">
              <a:off x="6968286" y="4790960"/>
              <a:ext cx="268166" cy="20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 стрелкой 30">
              <a:extLst>
                <a:ext uri="{FF2B5EF4-FFF2-40B4-BE49-F238E27FC236}">
                  <a16:creationId xmlns:a16="http://schemas.microsoft.com/office/drawing/2014/main" id="{8E94782D-A39D-F179-9212-AB747B6FCC82}"/>
                </a:ext>
              </a:extLst>
            </p:cNvPr>
            <p:cNvCxnSpPr>
              <a:cxnSpLocks/>
              <a:stCxn id="25" idx="3"/>
              <a:endCxn id="40" idx="1"/>
            </p:cNvCxnSpPr>
            <p:nvPr/>
          </p:nvCxnSpPr>
          <p:spPr>
            <a:xfrm>
              <a:off x="6968286" y="5210364"/>
              <a:ext cx="268166" cy="390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 стрелкой 31">
              <a:extLst>
                <a:ext uri="{FF2B5EF4-FFF2-40B4-BE49-F238E27FC236}">
                  <a16:creationId xmlns:a16="http://schemas.microsoft.com/office/drawing/2014/main" id="{916F1D05-6FC3-FE7E-4A28-9A128626908C}"/>
                </a:ext>
              </a:extLst>
            </p:cNvPr>
            <p:cNvCxnSpPr>
              <a:cxnSpLocks/>
              <a:stCxn id="26" idx="3"/>
              <a:endCxn id="39" idx="1"/>
            </p:cNvCxnSpPr>
            <p:nvPr/>
          </p:nvCxnSpPr>
          <p:spPr>
            <a:xfrm>
              <a:off x="6968286" y="5627734"/>
              <a:ext cx="268166" cy="390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 стрелкой 32">
              <a:extLst>
                <a:ext uri="{FF2B5EF4-FFF2-40B4-BE49-F238E27FC236}">
                  <a16:creationId xmlns:a16="http://schemas.microsoft.com/office/drawing/2014/main" id="{C759F208-B60C-903A-3F17-F3C9DAD2AC11}"/>
                </a:ext>
              </a:extLst>
            </p:cNvPr>
            <p:cNvCxnSpPr>
              <a:stCxn id="27" idx="3"/>
              <a:endCxn id="28" idx="1"/>
            </p:cNvCxnSpPr>
            <p:nvPr/>
          </p:nvCxnSpPr>
          <p:spPr>
            <a:xfrm>
              <a:off x="8100400" y="4790960"/>
              <a:ext cx="363960" cy="41940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 стрелкой 33">
              <a:extLst>
                <a:ext uri="{FF2B5EF4-FFF2-40B4-BE49-F238E27FC236}">
                  <a16:creationId xmlns:a16="http://schemas.microsoft.com/office/drawing/2014/main" id="{E214ED58-4139-6216-D3CE-6CE07CEF179E}"/>
                </a:ext>
              </a:extLst>
            </p:cNvPr>
            <p:cNvCxnSpPr>
              <a:cxnSpLocks/>
              <a:stCxn id="28" idx="3"/>
              <a:endCxn id="29" idx="1"/>
            </p:cNvCxnSpPr>
            <p:nvPr/>
          </p:nvCxnSpPr>
          <p:spPr>
            <a:xfrm>
              <a:off x="9328308" y="5210364"/>
              <a:ext cx="172372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Скругленный прямоугольник 38">
              <a:extLst>
                <a:ext uri="{FF2B5EF4-FFF2-40B4-BE49-F238E27FC236}">
                  <a16:creationId xmlns:a16="http://schemas.microsoft.com/office/drawing/2014/main" id="{C3A07861-2262-9D14-76E5-4F0EF19BE39E}"/>
                </a:ext>
              </a:extLst>
            </p:cNvPr>
            <p:cNvSpPr/>
            <p:nvPr/>
          </p:nvSpPr>
          <p:spPr>
            <a:xfrm>
              <a:off x="7236452" y="5481144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Команда </a:t>
              </a:r>
              <a:r>
                <a:rPr lang="en-US" sz="1000" dirty="0"/>
                <a:t>DWH</a:t>
              </a:r>
              <a:endParaRPr lang="ru-RU" sz="1000" dirty="0"/>
            </a:p>
          </p:txBody>
        </p:sp>
        <p:sp>
          <p:nvSpPr>
            <p:cNvPr id="40" name="Скругленный прямоугольник 39">
              <a:extLst>
                <a:ext uri="{FF2B5EF4-FFF2-40B4-BE49-F238E27FC236}">
                  <a16:creationId xmlns:a16="http://schemas.microsoft.com/office/drawing/2014/main" id="{98394C79-9F35-1F5E-7CDB-53B131D1C3F6}"/>
                </a:ext>
              </a:extLst>
            </p:cNvPr>
            <p:cNvSpPr/>
            <p:nvPr/>
          </p:nvSpPr>
          <p:spPr>
            <a:xfrm>
              <a:off x="7236452" y="5063774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Команда лояльности</a:t>
              </a:r>
            </a:p>
          </p:txBody>
        </p:sp>
        <p:cxnSp>
          <p:nvCxnSpPr>
            <p:cNvPr id="44" name="Прямая со стрелкой 43">
              <a:extLst>
                <a:ext uri="{FF2B5EF4-FFF2-40B4-BE49-F238E27FC236}">
                  <a16:creationId xmlns:a16="http://schemas.microsoft.com/office/drawing/2014/main" id="{2BD10288-2F07-1E67-9D33-93247D279B13}"/>
                </a:ext>
              </a:extLst>
            </p:cNvPr>
            <p:cNvCxnSpPr>
              <a:stCxn id="40" idx="3"/>
              <a:endCxn id="28" idx="1"/>
            </p:cNvCxnSpPr>
            <p:nvPr/>
          </p:nvCxnSpPr>
          <p:spPr>
            <a:xfrm flipV="1">
              <a:off x="8100400" y="5210364"/>
              <a:ext cx="363960" cy="390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 стрелкой 45">
              <a:extLst>
                <a:ext uri="{FF2B5EF4-FFF2-40B4-BE49-F238E27FC236}">
                  <a16:creationId xmlns:a16="http://schemas.microsoft.com/office/drawing/2014/main" id="{C3B1F7EC-76C6-DA3D-E763-07E02D2F3E3F}"/>
                </a:ext>
              </a:extLst>
            </p:cNvPr>
            <p:cNvCxnSpPr>
              <a:stCxn id="39" idx="3"/>
              <a:endCxn id="28" idx="1"/>
            </p:cNvCxnSpPr>
            <p:nvPr/>
          </p:nvCxnSpPr>
          <p:spPr>
            <a:xfrm flipV="1">
              <a:off x="8100400" y="5210364"/>
              <a:ext cx="363960" cy="42127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Скругленный прямоугольник 50">
              <a:extLst>
                <a:ext uri="{FF2B5EF4-FFF2-40B4-BE49-F238E27FC236}">
                  <a16:creationId xmlns:a16="http://schemas.microsoft.com/office/drawing/2014/main" id="{A184FFEB-1D57-416B-0217-4AB415F28F03}"/>
                </a:ext>
              </a:extLst>
            </p:cNvPr>
            <p:cNvSpPr/>
            <p:nvPr/>
          </p:nvSpPr>
          <p:spPr>
            <a:xfrm>
              <a:off x="8464360" y="5481144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  <a:prstDash val="dashDot"/>
            </a:ln>
            <a:effectLst>
              <a:glow rad="101600">
                <a:schemeClr val="bg1">
                  <a:alpha val="6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Хранилище</a:t>
              </a:r>
            </a:p>
          </p:txBody>
        </p:sp>
        <p:sp>
          <p:nvSpPr>
            <p:cNvPr id="52" name="Скругленный прямоугольник 51">
              <a:extLst>
                <a:ext uri="{FF2B5EF4-FFF2-40B4-BE49-F238E27FC236}">
                  <a16:creationId xmlns:a16="http://schemas.microsoft.com/office/drawing/2014/main" id="{500DAC56-F555-E9F9-1E21-32B0959D96FA}"/>
                </a:ext>
              </a:extLst>
            </p:cNvPr>
            <p:cNvSpPr/>
            <p:nvPr/>
          </p:nvSpPr>
          <p:spPr>
            <a:xfrm>
              <a:off x="8464360" y="4645553"/>
              <a:ext cx="863948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  <a:prstDash val="dashDot"/>
            </a:ln>
            <a:effectLst>
              <a:glow rad="101600">
                <a:schemeClr val="bg1">
                  <a:alpha val="6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Хранилище</a:t>
              </a:r>
            </a:p>
          </p:txBody>
        </p:sp>
        <p:cxnSp>
          <p:nvCxnSpPr>
            <p:cNvPr id="54" name="Прямая со стрелкой 53">
              <a:extLst>
                <a:ext uri="{FF2B5EF4-FFF2-40B4-BE49-F238E27FC236}">
                  <a16:creationId xmlns:a16="http://schemas.microsoft.com/office/drawing/2014/main" id="{C5F3465B-0FA3-874E-4900-174638E9F55F}"/>
                </a:ext>
              </a:extLst>
            </p:cNvPr>
            <p:cNvCxnSpPr>
              <a:stCxn id="39" idx="3"/>
              <a:endCxn id="51" idx="1"/>
            </p:cNvCxnSpPr>
            <p:nvPr/>
          </p:nvCxnSpPr>
          <p:spPr>
            <a:xfrm>
              <a:off x="8100400" y="5631639"/>
              <a:ext cx="363960" cy="0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Прямая со стрелкой 55">
              <a:extLst>
                <a:ext uri="{FF2B5EF4-FFF2-40B4-BE49-F238E27FC236}">
                  <a16:creationId xmlns:a16="http://schemas.microsoft.com/office/drawing/2014/main" id="{BDAE9B49-1BF3-B9A0-2773-8F88D2DD055A}"/>
                </a:ext>
              </a:extLst>
            </p:cNvPr>
            <p:cNvCxnSpPr>
              <a:stCxn id="27" idx="3"/>
              <a:endCxn id="52" idx="1"/>
            </p:cNvCxnSpPr>
            <p:nvPr/>
          </p:nvCxnSpPr>
          <p:spPr>
            <a:xfrm>
              <a:off x="8100400" y="4790960"/>
              <a:ext cx="363960" cy="5088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 стрелкой 57">
              <a:extLst>
                <a:ext uri="{FF2B5EF4-FFF2-40B4-BE49-F238E27FC236}">
                  <a16:creationId xmlns:a16="http://schemas.microsoft.com/office/drawing/2014/main" id="{78B5CC91-ECF2-5487-1624-ECFE6AD19AC3}"/>
                </a:ext>
              </a:extLst>
            </p:cNvPr>
            <p:cNvCxnSpPr>
              <a:stCxn id="52" idx="3"/>
              <a:endCxn id="29" idx="1"/>
            </p:cNvCxnSpPr>
            <p:nvPr/>
          </p:nvCxnSpPr>
          <p:spPr>
            <a:xfrm>
              <a:off x="9328308" y="4796048"/>
              <a:ext cx="172372" cy="414316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 стрелкой 59">
              <a:extLst>
                <a:ext uri="{FF2B5EF4-FFF2-40B4-BE49-F238E27FC236}">
                  <a16:creationId xmlns:a16="http://schemas.microsoft.com/office/drawing/2014/main" id="{9D529653-CCF9-F7E1-6965-1354DCC20CBF}"/>
                </a:ext>
              </a:extLst>
            </p:cNvPr>
            <p:cNvCxnSpPr>
              <a:stCxn id="51" idx="3"/>
              <a:endCxn id="29" idx="1"/>
            </p:cNvCxnSpPr>
            <p:nvPr/>
          </p:nvCxnSpPr>
          <p:spPr>
            <a:xfrm flipV="1">
              <a:off x="9328308" y="5210364"/>
              <a:ext cx="172372" cy="421275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C76E94C-F5DC-115E-DBCB-9C9AC057E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044" y="2530340"/>
            <a:ext cx="3810000" cy="295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1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3" grpId="0"/>
      <p:bldP spid="6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3A0FF-588E-5258-E0DD-12DAD556A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6B73E94-5A0E-4B99-E07A-9A2912AE536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18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DF67D9D4-E6D0-F56E-257E-343ECC4A6FF0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427437" cy="687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Lake</a:t>
            </a:r>
            <a:r>
              <a:rPr lang="en-US" dirty="0" err="1">
                <a:solidFill>
                  <a:srgbClr val="FF0000"/>
                </a:solidFill>
              </a:rPr>
              <a:t>House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2867FCCA-6175-3943-8A71-FA8AD77351B4}"/>
              </a:ext>
            </a:extLst>
          </p:cNvPr>
          <p:cNvSpPr txBox="1">
            <a:spLocks/>
          </p:cNvSpPr>
          <p:nvPr/>
        </p:nvSpPr>
        <p:spPr>
          <a:xfrm>
            <a:off x="259087" y="1622155"/>
            <a:ext cx="5427437" cy="6106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rgbClr val="FF0000"/>
                </a:solidFill>
                <a:latin typeface="+mn-lt"/>
              </a:rPr>
              <a:t>Идея</a:t>
            </a:r>
            <a:r>
              <a:rPr lang="ru-RU" sz="1800" dirty="0">
                <a:latin typeface="+mn-lt"/>
              </a:rPr>
              <a:t>: DWH хорош для аналитики, </a:t>
            </a:r>
            <a:r>
              <a:rPr lang="ru-RU" sz="1800" dirty="0" err="1">
                <a:latin typeface="+mn-lt"/>
              </a:rPr>
              <a:t>Lake</a:t>
            </a:r>
            <a:r>
              <a:rPr lang="ru-RU" sz="1800" dirty="0">
                <a:latin typeface="+mn-lt"/>
              </a:rPr>
              <a:t> хорош для хранения разнообразных данных.</a:t>
            </a:r>
            <a:r>
              <a:rPr lang="en-US" sz="1800" dirty="0">
                <a:latin typeface="+mn-lt"/>
              </a:rPr>
              <a:t> </a:t>
            </a:r>
            <a:r>
              <a:rPr lang="ru-RU" sz="1800" dirty="0">
                <a:latin typeface="+mn-lt"/>
              </a:rPr>
              <a:t>Дешёвое и универсальное хранилище</a:t>
            </a:r>
            <a:r>
              <a:rPr lang="en-US" sz="1800" dirty="0">
                <a:latin typeface="+mn-lt"/>
              </a:rPr>
              <a:t> + </a:t>
            </a:r>
            <a:r>
              <a:rPr lang="ru-RU" sz="1800" dirty="0">
                <a:latin typeface="+mn-lt"/>
              </a:rPr>
              <a:t>возможности аналитической платформы.</a:t>
            </a:r>
          </a:p>
          <a:p>
            <a:endParaRPr lang="ru-RU" sz="18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5F133-F874-1B8C-1505-6C15F472B4B7}"/>
              </a:ext>
            </a:extLst>
          </p:cNvPr>
          <p:cNvSpPr txBox="1"/>
          <p:nvPr/>
        </p:nvSpPr>
        <p:spPr>
          <a:xfrm>
            <a:off x="259088" y="2871896"/>
            <a:ext cx="54274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FF0000"/>
                </a:solidFill>
              </a:rPr>
              <a:t>Каĸ</a:t>
            </a:r>
            <a:r>
              <a:rPr lang="ru-RU" dirty="0">
                <a:solidFill>
                  <a:srgbClr val="FF0000"/>
                </a:solidFill>
              </a:rPr>
              <a:t> выглядит</a:t>
            </a:r>
            <a:r>
              <a:rPr lang="ru-RU" dirty="0">
                <a:solidFill>
                  <a:schemeClr val="bg1"/>
                </a:solidFill>
              </a:rPr>
              <a:t>: Вы </a:t>
            </a:r>
            <a:r>
              <a:rPr lang="en" dirty="0" err="1">
                <a:solidFill>
                  <a:schemeClr val="bg1"/>
                </a:solidFill>
              </a:rPr>
              <a:t>ĸ</a:t>
            </a:r>
            <a:r>
              <a:rPr lang="ru-RU" dirty="0" err="1">
                <a:solidFill>
                  <a:schemeClr val="bg1"/>
                </a:solidFill>
              </a:rPr>
              <a:t>ладете</a:t>
            </a:r>
            <a:r>
              <a:rPr lang="ru-RU" dirty="0">
                <a:solidFill>
                  <a:schemeClr val="bg1"/>
                </a:solidFill>
              </a:rPr>
              <a:t> файлы в </a:t>
            </a:r>
            <a:r>
              <a:rPr lang="en" dirty="0">
                <a:solidFill>
                  <a:schemeClr val="bg1"/>
                </a:solidFill>
              </a:rPr>
              <a:t>S3, </a:t>
            </a:r>
            <a:r>
              <a:rPr lang="ru-RU" dirty="0">
                <a:solidFill>
                  <a:schemeClr val="bg1"/>
                </a:solidFill>
              </a:rPr>
              <a:t>а сверху ставите </a:t>
            </a:r>
            <a:r>
              <a:rPr lang="ru-RU" dirty="0" err="1">
                <a:solidFill>
                  <a:schemeClr val="bg1"/>
                </a:solidFill>
              </a:rPr>
              <a:t>движо</a:t>
            </a:r>
            <a:r>
              <a:rPr lang="en" dirty="0" err="1">
                <a:solidFill>
                  <a:schemeClr val="bg1"/>
                </a:solidFill>
              </a:rPr>
              <a:t>ĸ</a:t>
            </a:r>
            <a:r>
              <a:rPr lang="en" dirty="0">
                <a:solidFill>
                  <a:schemeClr val="bg1"/>
                </a:solidFill>
              </a:rPr>
              <a:t> (</a:t>
            </a:r>
            <a:r>
              <a:rPr lang="ru-RU" dirty="0">
                <a:solidFill>
                  <a:schemeClr val="bg1"/>
                </a:solidFill>
              </a:rPr>
              <a:t>например, </a:t>
            </a:r>
            <a:r>
              <a:rPr lang="en" dirty="0" err="1">
                <a:solidFill>
                  <a:schemeClr val="bg1"/>
                </a:solidFill>
              </a:rPr>
              <a:t>ClickHouse</a:t>
            </a:r>
            <a:r>
              <a:rPr lang="en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с таблицами </a:t>
            </a:r>
            <a:r>
              <a:rPr lang="en" dirty="0">
                <a:solidFill>
                  <a:schemeClr val="bg1"/>
                </a:solidFill>
              </a:rPr>
              <a:t>S3 </a:t>
            </a:r>
            <a:r>
              <a:rPr lang="ru-RU" dirty="0">
                <a:solidFill>
                  <a:schemeClr val="bg1"/>
                </a:solidFill>
              </a:rPr>
              <a:t>или </a:t>
            </a:r>
            <a:r>
              <a:rPr lang="en" dirty="0">
                <a:solidFill>
                  <a:schemeClr val="bg1"/>
                </a:solidFill>
              </a:rPr>
              <a:t>Apache Iceberg), </a:t>
            </a:r>
            <a:r>
              <a:rPr lang="en" dirty="0" err="1">
                <a:solidFill>
                  <a:schemeClr val="bg1"/>
                </a:solidFill>
              </a:rPr>
              <a:t>ĸ</a:t>
            </a:r>
            <a:r>
              <a:rPr lang="ru-RU" dirty="0" err="1">
                <a:solidFill>
                  <a:schemeClr val="bg1"/>
                </a:solidFill>
              </a:rPr>
              <a:t>оторый</a:t>
            </a:r>
            <a:r>
              <a:rPr lang="ru-RU" dirty="0">
                <a:solidFill>
                  <a:schemeClr val="bg1"/>
                </a:solidFill>
              </a:rPr>
              <a:t> понимает, где лежит нужная </a:t>
            </a:r>
            <a:r>
              <a:rPr lang="ru-RU" dirty="0" err="1">
                <a:solidFill>
                  <a:schemeClr val="bg1"/>
                </a:solidFill>
              </a:rPr>
              <a:t>партиция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9B9C749B-5AAB-A577-8B26-4E9346C0759D}"/>
              </a:ext>
            </a:extLst>
          </p:cNvPr>
          <p:cNvGrpSpPr/>
          <p:nvPr/>
        </p:nvGrpSpPr>
        <p:grpSpPr>
          <a:xfrm>
            <a:off x="1939031" y="4607554"/>
            <a:ext cx="1431490" cy="1809061"/>
            <a:chOff x="1939031" y="4607554"/>
            <a:chExt cx="1431490" cy="1809061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7DE9EC52-CD68-DC02-5EC0-8E29AE72618F}"/>
                </a:ext>
              </a:extLst>
            </p:cNvPr>
            <p:cNvSpPr/>
            <p:nvPr/>
          </p:nvSpPr>
          <p:spPr>
            <a:xfrm>
              <a:off x="1939031" y="4607554"/>
              <a:ext cx="1431490" cy="27699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S3 (</a:t>
              </a:r>
              <a:r>
                <a:rPr lang="ru-RU" sz="1000" dirty="0"/>
                <a:t>Наше хранилище)</a:t>
              </a:r>
            </a:p>
          </p:txBody>
        </p:sp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CBC6FF42-66C7-1002-67BC-6F714189A401}"/>
                </a:ext>
              </a:extLst>
            </p:cNvPr>
            <p:cNvSpPr/>
            <p:nvPr/>
          </p:nvSpPr>
          <p:spPr>
            <a:xfrm>
              <a:off x="1939031" y="5035046"/>
              <a:ext cx="1431490" cy="478597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Table Format (</a:t>
              </a:r>
              <a:r>
                <a:rPr lang="ru-RU" sz="1000" dirty="0"/>
                <a:t>Метаданные)</a:t>
              </a:r>
            </a:p>
          </p:txBody>
        </p:sp>
        <p:sp>
          <p:nvSpPr>
            <p:cNvPr id="14" name="Скругленный прямоугольник 13">
              <a:extLst>
                <a:ext uri="{FF2B5EF4-FFF2-40B4-BE49-F238E27FC236}">
                  <a16:creationId xmlns:a16="http://schemas.microsoft.com/office/drawing/2014/main" id="{350712AA-6983-8668-1A55-2D3A21EC6130}"/>
                </a:ext>
              </a:extLst>
            </p:cNvPr>
            <p:cNvSpPr/>
            <p:nvPr/>
          </p:nvSpPr>
          <p:spPr>
            <a:xfrm>
              <a:off x="1939031" y="5664139"/>
              <a:ext cx="1431490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/>
                <a:t>Логическая таблица</a:t>
              </a:r>
            </a:p>
          </p:txBody>
        </p:sp>
        <p:sp>
          <p:nvSpPr>
            <p:cNvPr id="28" name="Скругленный прямоугольник 27">
              <a:extLst>
                <a:ext uri="{FF2B5EF4-FFF2-40B4-BE49-F238E27FC236}">
                  <a16:creationId xmlns:a16="http://schemas.microsoft.com/office/drawing/2014/main" id="{836A3909-C66C-9B8F-C498-07BCD135AAEB}"/>
                </a:ext>
              </a:extLst>
            </p:cNvPr>
            <p:cNvSpPr/>
            <p:nvPr/>
          </p:nvSpPr>
          <p:spPr>
            <a:xfrm>
              <a:off x="1939031" y="6115625"/>
              <a:ext cx="1431490" cy="30099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SQL</a:t>
              </a:r>
              <a:endParaRPr lang="ru-RU" sz="1000" dirty="0"/>
            </a:p>
          </p:txBody>
        </p:sp>
        <p:cxnSp>
          <p:nvCxnSpPr>
            <p:cNvPr id="43" name="Прямая со стрелкой 42">
              <a:extLst>
                <a:ext uri="{FF2B5EF4-FFF2-40B4-BE49-F238E27FC236}">
                  <a16:creationId xmlns:a16="http://schemas.microsoft.com/office/drawing/2014/main" id="{D4E6FA26-1524-9FD2-9641-61D15FB4A2CA}"/>
                </a:ext>
              </a:extLst>
            </p:cNvPr>
            <p:cNvCxnSpPr>
              <a:cxnSpLocks/>
              <a:stCxn id="4" idx="2"/>
              <a:endCxn id="11" idx="0"/>
            </p:cNvCxnSpPr>
            <p:nvPr/>
          </p:nvCxnSpPr>
          <p:spPr>
            <a:xfrm>
              <a:off x="2654776" y="4884550"/>
              <a:ext cx="0" cy="15049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 стрелкой 44">
              <a:extLst>
                <a:ext uri="{FF2B5EF4-FFF2-40B4-BE49-F238E27FC236}">
                  <a16:creationId xmlns:a16="http://schemas.microsoft.com/office/drawing/2014/main" id="{BB896051-7669-D626-E909-1A4A2EB4FAB8}"/>
                </a:ext>
              </a:extLst>
            </p:cNvPr>
            <p:cNvCxnSpPr>
              <a:cxnSpLocks/>
              <a:stCxn id="11" idx="2"/>
              <a:endCxn id="14" idx="0"/>
            </p:cNvCxnSpPr>
            <p:nvPr/>
          </p:nvCxnSpPr>
          <p:spPr>
            <a:xfrm>
              <a:off x="2654776" y="5513643"/>
              <a:ext cx="0" cy="15049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Прямая со стрелкой 46">
              <a:extLst>
                <a:ext uri="{FF2B5EF4-FFF2-40B4-BE49-F238E27FC236}">
                  <a16:creationId xmlns:a16="http://schemas.microsoft.com/office/drawing/2014/main" id="{0F5AD95C-A9CB-3139-A9E2-B6112852D27A}"/>
                </a:ext>
              </a:extLst>
            </p:cNvPr>
            <p:cNvCxnSpPr>
              <a:cxnSpLocks/>
              <a:stCxn id="14" idx="2"/>
              <a:endCxn id="28" idx="0"/>
            </p:cNvCxnSpPr>
            <p:nvPr/>
          </p:nvCxnSpPr>
          <p:spPr>
            <a:xfrm>
              <a:off x="2654776" y="5965129"/>
              <a:ext cx="0" cy="15049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B9F122C-CF51-ACE0-2645-50EC9433C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797" y="2366044"/>
            <a:ext cx="4191000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80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3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17386-09F1-DAC2-B867-C9B82B651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3635CA50-8712-5B36-BE9C-495F7303FF8F}"/>
              </a:ext>
            </a:extLst>
          </p:cNvPr>
          <p:cNvCxnSpPr>
            <a:cxnSpLocks/>
          </p:cNvCxnSpPr>
          <p:nvPr/>
        </p:nvCxnSpPr>
        <p:spPr>
          <a:xfrm>
            <a:off x="10048381" y="3872201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7A440EAD-2770-9343-9194-558FFAEEF5D0}"/>
              </a:ext>
            </a:extLst>
          </p:cNvPr>
          <p:cNvCxnSpPr>
            <a:cxnSpLocks/>
          </p:cNvCxnSpPr>
          <p:nvPr/>
        </p:nvCxnSpPr>
        <p:spPr>
          <a:xfrm>
            <a:off x="1063838" y="3862873"/>
            <a:ext cx="0" cy="796909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6AFCDC4F-D1A7-85A7-1641-0A21BDF74FE2}"/>
              </a:ext>
            </a:extLst>
          </p:cNvPr>
          <p:cNvCxnSpPr>
            <a:cxnSpLocks/>
          </p:cNvCxnSpPr>
          <p:nvPr/>
        </p:nvCxnSpPr>
        <p:spPr>
          <a:xfrm>
            <a:off x="6554431" y="3065965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90B6AD92-F610-5070-1B59-275BA9A81313}"/>
              </a:ext>
            </a:extLst>
          </p:cNvPr>
          <p:cNvCxnSpPr>
            <a:cxnSpLocks/>
          </p:cNvCxnSpPr>
          <p:nvPr/>
        </p:nvCxnSpPr>
        <p:spPr>
          <a:xfrm>
            <a:off x="3247434" y="3862873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228A9E91-6C41-A5C8-010B-CDF1A9A04480}"/>
              </a:ext>
            </a:extLst>
          </p:cNvPr>
          <p:cNvCxnSpPr>
            <a:cxnSpLocks/>
          </p:cNvCxnSpPr>
          <p:nvPr/>
        </p:nvCxnSpPr>
        <p:spPr>
          <a:xfrm>
            <a:off x="7765764" y="3862873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C5243E35-CA80-B4FC-A597-30CEA382AFC7}"/>
              </a:ext>
            </a:extLst>
          </p:cNvPr>
          <p:cNvCxnSpPr>
            <a:cxnSpLocks/>
          </p:cNvCxnSpPr>
          <p:nvPr/>
        </p:nvCxnSpPr>
        <p:spPr>
          <a:xfrm>
            <a:off x="4328143" y="3065965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4C5B38FC-206B-7BE4-FE51-6998285A5C89}"/>
              </a:ext>
            </a:extLst>
          </p:cNvPr>
          <p:cNvCxnSpPr>
            <a:cxnSpLocks/>
          </p:cNvCxnSpPr>
          <p:nvPr/>
        </p:nvCxnSpPr>
        <p:spPr>
          <a:xfrm>
            <a:off x="5416237" y="3862873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46EE8CFC-A81E-3EBF-4773-0D20A040032C}"/>
              </a:ext>
            </a:extLst>
          </p:cNvPr>
          <p:cNvCxnSpPr>
            <a:cxnSpLocks/>
          </p:cNvCxnSpPr>
          <p:nvPr/>
        </p:nvCxnSpPr>
        <p:spPr>
          <a:xfrm>
            <a:off x="8901504" y="3054233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3C59848-52AA-413B-5740-5B5027F838A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19</a:t>
            </a:fld>
            <a:endParaRPr lang="ru-RS"/>
          </a:p>
        </p:txBody>
      </p:sp>
      <p:sp>
        <p:nvSpPr>
          <p:cNvPr id="32" name="Текст 3">
            <a:extLst>
              <a:ext uri="{FF2B5EF4-FFF2-40B4-BE49-F238E27FC236}">
                <a16:creationId xmlns:a16="http://schemas.microsoft.com/office/drawing/2014/main" id="{1828DB6D-ED2D-F451-DD71-88FEEA377526}"/>
              </a:ext>
            </a:extLst>
          </p:cNvPr>
          <p:cNvSpPr txBox="1">
            <a:spLocks/>
          </p:cNvSpPr>
          <p:nvPr/>
        </p:nvSpPr>
        <p:spPr>
          <a:xfrm>
            <a:off x="260669" y="1183590"/>
            <a:ext cx="11262637" cy="558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Таймлайн эволюции </a:t>
            </a:r>
            <a:r>
              <a:rPr lang="ru-RU" dirty="0">
                <a:solidFill>
                  <a:srgbClr val="FF0000"/>
                </a:solidFill>
              </a:rPr>
              <a:t>хранилищ</a:t>
            </a:r>
            <a:endParaRPr lang="ru-RS" dirty="0">
              <a:solidFill>
                <a:srgbClr val="FF0000"/>
              </a:solidFill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CE8A5471-070B-A3EA-0455-F40617C712B5}"/>
              </a:ext>
            </a:extLst>
          </p:cNvPr>
          <p:cNvCxnSpPr/>
          <p:nvPr/>
        </p:nvCxnSpPr>
        <p:spPr>
          <a:xfrm>
            <a:off x="326571" y="3862873"/>
            <a:ext cx="11548522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E76B7456-4D38-DDE0-4A9E-6BFAC45437C2}"/>
              </a:ext>
            </a:extLst>
          </p:cNvPr>
          <p:cNvSpPr/>
          <p:nvPr/>
        </p:nvSpPr>
        <p:spPr>
          <a:xfrm>
            <a:off x="991212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3E60DD33-A0C7-EECD-C901-3CBC29A4B240}"/>
              </a:ext>
            </a:extLst>
          </p:cNvPr>
          <p:cNvSpPr/>
          <p:nvPr/>
        </p:nvSpPr>
        <p:spPr>
          <a:xfrm>
            <a:off x="6489728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B8101313-E90C-D1D6-989C-3E6D03D9F3A8}"/>
              </a:ext>
            </a:extLst>
          </p:cNvPr>
          <p:cNvSpPr/>
          <p:nvPr/>
        </p:nvSpPr>
        <p:spPr>
          <a:xfrm>
            <a:off x="3183607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2044CD99-162E-1B34-6029-48E75CAE5C83}"/>
              </a:ext>
            </a:extLst>
          </p:cNvPr>
          <p:cNvSpPr/>
          <p:nvPr/>
        </p:nvSpPr>
        <p:spPr>
          <a:xfrm>
            <a:off x="7702269" y="3778900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88FF4DFC-D723-4734-C54D-6ACE1102B16A}"/>
              </a:ext>
            </a:extLst>
          </p:cNvPr>
          <p:cNvSpPr/>
          <p:nvPr/>
        </p:nvSpPr>
        <p:spPr>
          <a:xfrm>
            <a:off x="5343607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B46EF2E8-4E19-C3CF-54D4-4423DC7F270D}"/>
              </a:ext>
            </a:extLst>
          </p:cNvPr>
          <p:cNvSpPr/>
          <p:nvPr/>
        </p:nvSpPr>
        <p:spPr>
          <a:xfrm>
            <a:off x="4263607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EFB8000E-63BF-BA09-BBE5-1E36C5E048F7}"/>
              </a:ext>
            </a:extLst>
          </p:cNvPr>
          <p:cNvSpPr/>
          <p:nvPr/>
        </p:nvSpPr>
        <p:spPr>
          <a:xfrm>
            <a:off x="9983035" y="3798628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6909F561-9E6A-4FA0-7EFB-257FBBC8C694}"/>
              </a:ext>
            </a:extLst>
          </p:cNvPr>
          <p:cNvSpPr/>
          <p:nvPr/>
        </p:nvSpPr>
        <p:spPr>
          <a:xfrm>
            <a:off x="8839867" y="3784202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Текст 1">
            <a:extLst>
              <a:ext uri="{FF2B5EF4-FFF2-40B4-BE49-F238E27FC236}">
                <a16:creationId xmlns:a16="http://schemas.microsoft.com/office/drawing/2014/main" id="{E4CCC827-81FF-68FB-1CEC-753EB2EDCE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5913" y="4684550"/>
            <a:ext cx="1763035" cy="529228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ctr">
              <a:lnSpc>
                <a:spcPct val="114000"/>
              </a:lnSpc>
              <a:spcBef>
                <a:spcPts val="0"/>
              </a:spcBef>
              <a:buNone/>
            </a:pPr>
            <a:r>
              <a:rPr lang="en-US" sz="1200" dirty="0"/>
              <a:t>1960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None/>
            </a:pPr>
            <a:r>
              <a:rPr lang="ru-RU" sz="1200" dirty="0"/>
              <a:t>Иерархические БД</a:t>
            </a:r>
            <a:endParaRPr lang="ru-RS" sz="1200" dirty="0"/>
          </a:p>
        </p:txBody>
      </p:sp>
      <p:sp>
        <p:nvSpPr>
          <p:cNvPr id="38" name="Текст 1">
            <a:extLst>
              <a:ext uri="{FF2B5EF4-FFF2-40B4-BE49-F238E27FC236}">
                <a16:creationId xmlns:a16="http://schemas.microsoft.com/office/drawing/2014/main" id="{9866EEB8-B121-E65B-A01B-38E951E2025E}"/>
              </a:ext>
            </a:extLst>
          </p:cNvPr>
          <p:cNvSpPr txBox="1">
            <a:spLocks/>
          </p:cNvSpPr>
          <p:nvPr/>
        </p:nvSpPr>
        <p:spPr>
          <a:xfrm>
            <a:off x="1195738" y="2537199"/>
            <a:ext cx="1948575" cy="51870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200" dirty="0"/>
              <a:t>1970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200" dirty="0"/>
              <a:t>Реляционные БД (</a:t>
            </a:r>
            <a:r>
              <a:rPr lang="en-US" sz="1200" dirty="0"/>
              <a:t>OLTP)</a:t>
            </a:r>
            <a:endParaRPr lang="ru-RU" dirty="0"/>
          </a:p>
        </p:txBody>
      </p:sp>
      <p:sp>
        <p:nvSpPr>
          <p:cNvPr id="40" name="Текст 1">
            <a:extLst>
              <a:ext uri="{FF2B5EF4-FFF2-40B4-BE49-F238E27FC236}">
                <a16:creationId xmlns:a16="http://schemas.microsoft.com/office/drawing/2014/main" id="{69C2594A-B779-53C3-4BB9-485305F38B39}"/>
              </a:ext>
            </a:extLst>
          </p:cNvPr>
          <p:cNvSpPr txBox="1">
            <a:spLocks/>
          </p:cNvSpPr>
          <p:nvPr/>
        </p:nvSpPr>
        <p:spPr>
          <a:xfrm>
            <a:off x="2540599" y="4733118"/>
            <a:ext cx="1413670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1200" dirty="0"/>
              <a:t>1980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Data Warehouse</a:t>
            </a:r>
          </a:p>
        </p:txBody>
      </p:sp>
      <p:sp>
        <p:nvSpPr>
          <p:cNvPr id="42" name="Текст 1">
            <a:extLst>
              <a:ext uri="{FF2B5EF4-FFF2-40B4-BE49-F238E27FC236}">
                <a16:creationId xmlns:a16="http://schemas.microsoft.com/office/drawing/2014/main" id="{573091CB-431D-C8E2-B7F3-B1506FECFF13}"/>
              </a:ext>
            </a:extLst>
          </p:cNvPr>
          <p:cNvSpPr txBox="1">
            <a:spLocks/>
          </p:cNvSpPr>
          <p:nvPr/>
        </p:nvSpPr>
        <p:spPr>
          <a:xfrm>
            <a:off x="3538309" y="2577285"/>
            <a:ext cx="1579667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1990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OLAP</a:t>
            </a:r>
            <a:endParaRPr lang="ru-RU" sz="1200" dirty="0"/>
          </a:p>
        </p:txBody>
      </p:sp>
      <p:sp>
        <p:nvSpPr>
          <p:cNvPr id="44" name="Текст 1">
            <a:extLst>
              <a:ext uri="{FF2B5EF4-FFF2-40B4-BE49-F238E27FC236}">
                <a16:creationId xmlns:a16="http://schemas.microsoft.com/office/drawing/2014/main" id="{085B1B93-8F45-012E-2489-28F3CF4EB09C}"/>
              </a:ext>
            </a:extLst>
          </p:cNvPr>
          <p:cNvSpPr txBox="1">
            <a:spLocks/>
          </p:cNvSpPr>
          <p:nvPr/>
        </p:nvSpPr>
        <p:spPr>
          <a:xfrm>
            <a:off x="4706751" y="4733118"/>
            <a:ext cx="1413670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2000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MPP</a:t>
            </a:r>
            <a:endParaRPr lang="ru-RU" sz="1200" dirty="0"/>
          </a:p>
        </p:txBody>
      </p:sp>
      <p:sp>
        <p:nvSpPr>
          <p:cNvPr id="46" name="Текст 1">
            <a:extLst>
              <a:ext uri="{FF2B5EF4-FFF2-40B4-BE49-F238E27FC236}">
                <a16:creationId xmlns:a16="http://schemas.microsoft.com/office/drawing/2014/main" id="{8E603CF3-01A0-5F32-31AA-81417FDCA987}"/>
              </a:ext>
            </a:extLst>
          </p:cNvPr>
          <p:cNvSpPr txBox="1">
            <a:spLocks/>
          </p:cNvSpPr>
          <p:nvPr/>
        </p:nvSpPr>
        <p:spPr>
          <a:xfrm>
            <a:off x="5748584" y="2538507"/>
            <a:ext cx="1611693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2005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Hadoop</a:t>
            </a:r>
            <a:endParaRPr lang="ru-RU" sz="1200" dirty="0"/>
          </a:p>
        </p:txBody>
      </p:sp>
      <p:sp>
        <p:nvSpPr>
          <p:cNvPr id="48" name="Текст 1">
            <a:extLst>
              <a:ext uri="{FF2B5EF4-FFF2-40B4-BE49-F238E27FC236}">
                <a16:creationId xmlns:a16="http://schemas.microsoft.com/office/drawing/2014/main" id="{83177A6A-ACA4-AEAD-D95A-47C2326E3F03}"/>
              </a:ext>
            </a:extLst>
          </p:cNvPr>
          <p:cNvSpPr txBox="1">
            <a:spLocks/>
          </p:cNvSpPr>
          <p:nvPr/>
        </p:nvSpPr>
        <p:spPr>
          <a:xfrm>
            <a:off x="7058929" y="4707442"/>
            <a:ext cx="1413670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2010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Data Lake</a:t>
            </a:r>
            <a:endParaRPr lang="ru-RU" sz="1200" dirty="0"/>
          </a:p>
        </p:txBody>
      </p:sp>
      <p:sp>
        <p:nvSpPr>
          <p:cNvPr id="50" name="Текст 1">
            <a:extLst>
              <a:ext uri="{FF2B5EF4-FFF2-40B4-BE49-F238E27FC236}">
                <a16:creationId xmlns:a16="http://schemas.microsoft.com/office/drawing/2014/main" id="{882F9FAB-2FD6-8103-0246-47413720D1C5}"/>
              </a:ext>
            </a:extLst>
          </p:cNvPr>
          <p:cNvSpPr txBox="1">
            <a:spLocks/>
          </p:cNvSpPr>
          <p:nvPr/>
        </p:nvSpPr>
        <p:spPr>
          <a:xfrm>
            <a:off x="8104006" y="2511969"/>
            <a:ext cx="1611679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2010+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Streaming</a:t>
            </a:r>
            <a:endParaRPr lang="ru-RU" sz="1200" dirty="0"/>
          </a:p>
        </p:txBody>
      </p:sp>
      <p:sp>
        <p:nvSpPr>
          <p:cNvPr id="52" name="Текст 1">
            <a:extLst>
              <a:ext uri="{FF2B5EF4-FFF2-40B4-BE49-F238E27FC236}">
                <a16:creationId xmlns:a16="http://schemas.microsoft.com/office/drawing/2014/main" id="{90B8309B-0E37-7720-10B9-7CA4B30297D6}"/>
              </a:ext>
            </a:extLst>
          </p:cNvPr>
          <p:cNvSpPr txBox="1">
            <a:spLocks/>
          </p:cNvSpPr>
          <p:nvPr/>
        </p:nvSpPr>
        <p:spPr>
          <a:xfrm>
            <a:off x="9341546" y="4733118"/>
            <a:ext cx="1413670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  <a:lvl1pPr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2019</a:t>
            </a:r>
          </a:p>
          <a:p>
            <a:r>
              <a:rPr lang="en-US" dirty="0"/>
              <a:t>Data Mesh</a:t>
            </a:r>
            <a:endParaRPr lang="ru-RU" dirty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FEF55BAA-AFCA-8D80-6FF5-90B338ADE2AD}"/>
              </a:ext>
            </a:extLst>
          </p:cNvPr>
          <p:cNvCxnSpPr>
            <a:cxnSpLocks/>
          </p:cNvCxnSpPr>
          <p:nvPr/>
        </p:nvCxnSpPr>
        <p:spPr>
          <a:xfrm>
            <a:off x="2170026" y="3066404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Овал 12">
            <a:extLst>
              <a:ext uri="{FF2B5EF4-FFF2-40B4-BE49-F238E27FC236}">
                <a16:creationId xmlns:a16="http://schemas.microsoft.com/office/drawing/2014/main" id="{2B9220B1-B332-9A5A-9428-3FD8F4596BB9}"/>
              </a:ext>
            </a:extLst>
          </p:cNvPr>
          <p:cNvSpPr/>
          <p:nvPr/>
        </p:nvSpPr>
        <p:spPr>
          <a:xfrm>
            <a:off x="2103607" y="3788228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ACA6CDC-DF4B-BA95-CA94-EE9A3F0B7397}"/>
              </a:ext>
            </a:extLst>
          </p:cNvPr>
          <p:cNvCxnSpPr>
            <a:cxnSpLocks/>
          </p:cNvCxnSpPr>
          <p:nvPr/>
        </p:nvCxnSpPr>
        <p:spPr>
          <a:xfrm>
            <a:off x="11240235" y="3064470"/>
            <a:ext cx="0" cy="79560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Овал 6">
            <a:extLst>
              <a:ext uri="{FF2B5EF4-FFF2-40B4-BE49-F238E27FC236}">
                <a16:creationId xmlns:a16="http://schemas.microsoft.com/office/drawing/2014/main" id="{0F20E5B7-3AD5-697A-01AB-515FC513C5C6}"/>
              </a:ext>
            </a:extLst>
          </p:cNvPr>
          <p:cNvSpPr/>
          <p:nvPr/>
        </p:nvSpPr>
        <p:spPr>
          <a:xfrm>
            <a:off x="11178598" y="3785203"/>
            <a:ext cx="139959" cy="149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Текст 1">
            <a:extLst>
              <a:ext uri="{FF2B5EF4-FFF2-40B4-BE49-F238E27FC236}">
                <a16:creationId xmlns:a16="http://schemas.microsoft.com/office/drawing/2014/main" id="{B7D50AAA-8CA4-313C-62A3-336235443C3D}"/>
              </a:ext>
            </a:extLst>
          </p:cNvPr>
          <p:cNvSpPr txBox="1">
            <a:spLocks/>
          </p:cNvSpPr>
          <p:nvPr/>
        </p:nvSpPr>
        <p:spPr>
          <a:xfrm>
            <a:off x="10442737" y="2512970"/>
            <a:ext cx="1611679" cy="506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ru-RS" sz="1400" b="0" i="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2020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200" dirty="0"/>
              <a:t>Lakehouse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329324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549A7-44D4-06CE-54F9-9AF7CC471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5A7C53E-6490-16E3-3C08-052F209ED34E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20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0F198FE-903B-21D5-DEFA-58E553502CD4}"/>
              </a:ext>
            </a:extLst>
          </p:cNvPr>
          <p:cNvSpPr txBox="1">
            <a:spLocks/>
          </p:cNvSpPr>
          <p:nvPr/>
        </p:nvSpPr>
        <p:spPr>
          <a:xfrm>
            <a:off x="259087" y="983032"/>
            <a:ext cx="5836913" cy="489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000" dirty="0">
                <a:solidFill>
                  <a:schemeClr val="bg1"/>
                </a:solidFill>
              </a:rPr>
              <a:t>Практика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B669DF36-85F0-C6B8-25DC-E6CE1DE5C80D}"/>
              </a:ext>
            </a:extLst>
          </p:cNvPr>
          <p:cNvSpPr txBox="1">
            <a:spLocks/>
          </p:cNvSpPr>
          <p:nvPr/>
        </p:nvSpPr>
        <p:spPr>
          <a:xfrm>
            <a:off x="259087" y="3806216"/>
            <a:ext cx="5836912" cy="1956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latin typeface="+mn-lt"/>
              </a:rPr>
              <a:t>Требования: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Отчёт по продажам за год.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Остатки товаров с задержкой не более 10 минут.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Хранить историю 5 лет.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+mn-lt"/>
              </a:rPr>
              <a:t>Аналитики должны самостоятельно строить отчёты.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969816A-2945-45DA-D977-66EABC009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869" y="1711100"/>
            <a:ext cx="3352800" cy="3073400"/>
          </a:xfrm>
          <a:prstGeom prst="rect">
            <a:avLst/>
          </a:prstGeom>
        </p:spPr>
      </p:pic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7C6B895D-677D-A977-3016-713963D16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227970"/>
              </p:ext>
            </p:extLst>
          </p:nvPr>
        </p:nvGraphicFramePr>
        <p:xfrm>
          <a:off x="1375505" y="1583068"/>
          <a:ext cx="3436447" cy="2080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7619">
                  <a:extLst>
                    <a:ext uri="{9D8B030D-6E8A-4147-A177-3AD203B41FA5}">
                      <a16:colId xmlns:a16="http://schemas.microsoft.com/office/drawing/2014/main" val="3605653670"/>
                    </a:ext>
                  </a:extLst>
                </a:gridCol>
                <a:gridCol w="1392865">
                  <a:extLst>
                    <a:ext uri="{9D8B030D-6E8A-4147-A177-3AD203B41FA5}">
                      <a16:colId xmlns:a16="http://schemas.microsoft.com/office/drawing/2014/main" val="2915756155"/>
                    </a:ext>
                  </a:extLst>
                </a:gridCol>
                <a:gridCol w="1175963">
                  <a:extLst>
                    <a:ext uri="{9D8B030D-6E8A-4147-A177-3AD203B41FA5}">
                      <a16:colId xmlns:a16="http://schemas.microsoft.com/office/drawing/2014/main" val="42075584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Источник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Данные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Частота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621122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POS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 dirty="0">
                          <a:effectLst/>
                        </a:rPr>
                        <a:t>покупки</a:t>
                      </a:r>
                      <a:endParaRPr lang="ru-RU" sz="1050" b="0" i="0" dirty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постоянно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65570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PostgreSQL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заказы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 dirty="0">
                          <a:effectLst/>
                        </a:rPr>
                        <a:t>постоянно</a:t>
                      </a:r>
                      <a:endParaRPr lang="ru-RU" sz="1050" b="0" i="0" dirty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947383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WMS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остатки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5 минут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57695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ERP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справочники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раз в день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8781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Loyalty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клиенты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постоянно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841611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S3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>
                          <a:effectLst/>
                        </a:rPr>
                        <a:t>исторические файлы</a:t>
                      </a:r>
                      <a:endParaRPr lang="ru-RU" sz="1050" b="0" i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050" dirty="0">
                          <a:effectLst/>
                        </a:rPr>
                        <a:t>раз в день</a:t>
                      </a:r>
                      <a:endParaRPr lang="ru-RU" sz="1050" b="0" i="0" dirty="0">
                        <a:solidFill>
                          <a:srgbClr val="444444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88886699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0B5A361-7565-F903-4582-9FB40CEE513B}"/>
              </a:ext>
            </a:extLst>
          </p:cNvPr>
          <p:cNvSpPr txBox="1"/>
          <p:nvPr/>
        </p:nvSpPr>
        <p:spPr>
          <a:xfrm>
            <a:off x="259087" y="5651756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Необходимо нарисовать архитектуру хранилища. 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338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2623</Words>
  <Application>Microsoft Macintosh PowerPoint</Application>
  <PresentationFormat>Широкоэкранный</PresentationFormat>
  <Paragraphs>456</Paragraphs>
  <Slides>21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Open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Гальбинский Владимир Александрович</cp:lastModifiedBy>
  <cp:revision>58</cp:revision>
  <dcterms:created xsi:type="dcterms:W3CDTF">2025-08-19T06:56:36Z</dcterms:created>
  <dcterms:modified xsi:type="dcterms:W3CDTF">2026-09-10T15:40:40Z</dcterms:modified>
</cp:coreProperties>
</file>