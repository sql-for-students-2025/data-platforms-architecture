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8" r:id="rId2"/>
    <p:sldId id="319" r:id="rId3"/>
    <p:sldId id="358" r:id="rId4"/>
    <p:sldId id="363" r:id="rId5"/>
    <p:sldId id="350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62" r:id="rId14"/>
    <p:sldId id="34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7" autoAdjust="0"/>
    <p:restoredTop sz="77934"/>
  </p:normalViewPr>
  <p:slideViewPr>
    <p:cSldViewPr snapToGrid="0">
      <p:cViewPr varScale="1">
        <p:scale>
          <a:sx n="105" d="100"/>
          <a:sy n="105" d="100"/>
        </p:scale>
        <p:origin x="1280" y="1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45EE-3F3A-D84E-9B98-0B620E298721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71FC-E455-DB48-8A8B-806C134DD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 вопроса студентам: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нельзя просто использовать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всего?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Data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сам по себе ещё не является полноценной Data Platform?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Подводим к ответу: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 нужны не только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Нужна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компонентов, которая обеспечивает полный жизненный цикл данных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7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349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0C83-5CC4-AD90-E0CB-F014A015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8F46824-0191-4ED9-CCFF-772EAC93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0B4549-3C59-8DE9-A45F-122ABE1B4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 данных — это не просто база данных. Это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сквозной конвейер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забирает сырые данные из источников, преобразует их в полезную информацию и отдает потребителям. 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Аналогия: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Представьте завод по производству сока.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движутся по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должны сопровождать их на всём пути.</a:t>
            </a: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 данных выбирается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engineer'ом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 возникает потому, что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бизнес-процесс породил систему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WMS существует для управления складом, а не для аналитики.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аналитическая платформа должна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забирать данные из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ломая их основную работу.</a:t>
            </a:r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источника                Пример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 (API)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Мобильное приложение, сайт.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Транзакционная БД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заказами.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Очереди сообщений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RabbitMQ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куда кассы посылают чеки.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Файлы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 серверов.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1E1481-D307-5099-8FAB-15B5FCCD5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559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CE04-0975-DD42-C827-F091F76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3D6DE8-73AE-F9E0-C7AC-3A0F612E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FFB69B-A33F-8CF2-7F82-BD69AA393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Platform — совокупность технологий, процессов и правил, обеспечивающих сбор, хранение, обработку, управление и предоставление данных потребителям.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47EDE1-9384-7E87-FCC3-C42BE272D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231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движутся по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должны сопровождать их на всём пути.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Мобильное приложение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сайт.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заказами.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RabbitMQ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куда кассы посылают чеки.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 серверов.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просыпается раз в час, забирает новые чеки из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RabbitMQ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сохраняет в S3.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Streaming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идут непрерывно. Используем для горячих метрик (например, кол-во покупателей в магазине сейчас).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копирование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Мы не меняем данные, мы просто их сохраняем.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Превращение сырых данных в чистые и агрегированные.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Extract-Transform-Load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Выгрузили из источника → преобразовали в Python-скрипте → загрузили в CH.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Используем для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Silver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(там нужны сложные чистки).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Extract-Load-Transform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Выгрузили в CH → запустили SQL-запрос внутри CH → получили витрину.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Используем для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считает агрегаты быстрее, чем Python)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Хранилище (Storage)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Где физически лежат данные.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Почему?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Bronze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(Object Storage)Дешево, можно хранить гигабайты JSON.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Silver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ClickHouseНужны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быстрые JOIN-ы с мастер-данными.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Нужны агрегаты за секунды.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Мастер-данные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Мало данных, нужна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транзакционность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(ACID).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BI и Витрины (Data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Marts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набор агрегированных таблиц (Gold), заточенных под конкретную задачу.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витрин в ритейле: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Витрина продаж: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сумма по магазинам.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Витрина лояльности: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накопленные баллы.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Витрина склада (WMS):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остатки товаров.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 отображения: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(подключается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строит дашборды).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Data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(Каталог данных) 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Lineage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"паспорт" для каждого набора данных.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Описание таблицы: кто владелец, что означают поля, когда обновлялась.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Схема "откуда пришли данные". Например: Витрина Gold ← Silver ←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Bronze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←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RabbitMQ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Можно вести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YAML-файле в репозитории (в вашем курсе — так и будет).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Управление доступом (Security)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Кто может видеть данные.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(только SELECT из Gold),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(полный доступ).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-Level Security: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Чтобы маркетолог видел только свой регион, а не все данные.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Встроенный RBAC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08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856E-672E-66EF-0E98-2545019C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55D8F93-8140-1EF7-63DC-638ADE540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073306-8A0F-0281-0B48-0F797AC88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 данных выбирается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engineer'ом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 возникает потому, что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бизнес-процесс породил систему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WMS существует для управления складом, а не для аналитики.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аналитическая платформа должна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забирать данные из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ломая их основную работу.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F9BD2E-4435-6176-9435-1039EE13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37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4B3B-ADAC-228C-656D-D69AE219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D46A3F-4392-2956-02F2-2F4F025A2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5A1B11-81A5-AEE8-8095-D76A9C709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freshness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определяется прежде всего требованием к свежести данных.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87AE32-2302-EE1E-155C-C6F733307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692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2258-C78B-7B04-91E3-1D9D4534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C4C781-4435-E0A3-86E0-45820C09F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880D1A0-A62D-9B2A-E489-827113229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вопрос: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Куда складываем данные?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Разделяем роли.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OLTP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OLAP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marts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serving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мысль: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технология хранения не обязана решать все задачи.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5D418C-17E2-DF04-C758-865493B17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839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DCD2B-6EA4-8267-13C2-103B081E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6EA92E-A108-C9B3-5AFF-B4AE66CFD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DFADA1B-0698-C40F-CF4B-9600C1DE4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трансформировать?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Зависит от возможностей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требований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конкретной архитектуры.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Плохое правило: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«ELT всегда лучше ETL».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4B5908-31CB-C677-9CF3-1D809886C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15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40FB-585A-15FD-8B0F-7690F1EF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284482F-40A0-A4B1-8826-74F280C0E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56603DB-1504-37B1-9660-BDD4E5A9F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«Продажи по магазинам за 3 года».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«Топ-10 товаров магазина прямо сейчас».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«Дашборд директора».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202D54-85A2-3713-FF0F-2C2B81DFC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D5A3-34CD-2044-9863-A610DFD9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F7795D-4A0B-9469-927E-5BC177B37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53E8FA8-5CC8-CBF6-2A4E-991C26EC8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«Продажи по магазинам за 3 года».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«Топ-10 товаров магазина прямо сейчас».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«Дашборд директора».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8370C1-84CE-ADBA-9144-BD306A5A9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858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66E6-A51D-670D-B224-9E1A0C3BC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0F01E31-3A8B-3FD0-BDA5-DB55564ED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F7AC0A-B491-EA4C-6557-DD31DEEC0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«Продажи по магазинам за 3 года».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«Топ-10 товаров магазина прямо сейчас».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«Дашборд директора».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2124BD-F941-1295-10E6-8DDD50F78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475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6C2F-22D0-397A-1737-2D42D508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2E20A4-5E0A-5696-B3CB-D24659CC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1BC17A-3A2F-537A-DB85-2E771BC80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Нарисовать схему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lineage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 для каждого блока указать технологию.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6FEE38-0983-F5E6-B88C-33120CCDF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7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текст + 3 картинки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Рисунок 49">
            <a:extLst>
              <a:ext uri="{FF2B5EF4-FFF2-40B4-BE49-F238E27FC236}">
                <a16:creationId xmlns:a16="http://schemas.microsoft.com/office/drawing/2014/main" id="{BBC756FC-6985-DC58-059F-954967BF1B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0962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2" name="Текст 49">
            <a:extLst>
              <a:ext uri="{FF2B5EF4-FFF2-40B4-BE49-F238E27FC236}">
                <a16:creationId xmlns:a16="http://schemas.microsoft.com/office/drawing/2014/main" id="{96323D60-D7C7-6034-389E-1649AA92DE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793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3" name="Текст 49">
            <a:extLst>
              <a:ext uri="{FF2B5EF4-FFF2-40B4-BE49-F238E27FC236}">
                <a16:creationId xmlns:a16="http://schemas.microsoft.com/office/drawing/2014/main" id="{C7C56440-A80C-9F09-0834-FAA9448B96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3793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54" name="Рисунок 53">
            <a:extLst>
              <a:ext uri="{FF2B5EF4-FFF2-40B4-BE49-F238E27FC236}">
                <a16:creationId xmlns:a16="http://schemas.microsoft.com/office/drawing/2014/main" id="{42D7E80B-0F49-6740-634C-265A383953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38978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/>
          </a:p>
        </p:txBody>
      </p:sp>
      <p:sp>
        <p:nvSpPr>
          <p:cNvPr id="55" name="Текст 49">
            <a:extLst>
              <a:ext uri="{FF2B5EF4-FFF2-40B4-BE49-F238E27FC236}">
                <a16:creationId xmlns:a16="http://schemas.microsoft.com/office/drawing/2014/main" id="{8E4EF7BE-A9B5-3791-E1CE-29FAA5ED5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41809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6" name="Текст 49">
            <a:extLst>
              <a:ext uri="{FF2B5EF4-FFF2-40B4-BE49-F238E27FC236}">
                <a16:creationId xmlns:a16="http://schemas.microsoft.com/office/drawing/2014/main" id="{6CCC91CA-A42A-249B-5C5B-DC55024506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41809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57" name="Рисунок 56">
            <a:extLst>
              <a:ext uri="{FF2B5EF4-FFF2-40B4-BE49-F238E27FC236}">
                <a16:creationId xmlns:a16="http://schemas.microsoft.com/office/drawing/2014/main" id="{7F17CAFA-B08C-B7E1-C11F-5B1A34DFA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9520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/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C4920EB5-BDB4-5170-6E15-055160B304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12351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9" name="Текст 49">
            <a:extLst>
              <a:ext uri="{FF2B5EF4-FFF2-40B4-BE49-F238E27FC236}">
                <a16:creationId xmlns:a16="http://schemas.microsoft.com/office/drawing/2014/main" id="{03547A6E-51CB-CF4B-0A19-8B62C9916F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12351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08763B-971C-3A2E-5718-C94DF720FA45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D40532-3785-F8BF-7707-34A283B1393A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A5899FD-6FAC-BC9E-A965-8ABBD6459433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4AA9E39-53E1-536A-3CAD-51DB2A9228C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B277149-A084-2940-F53D-437E8EBA1AB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73544487-2951-832E-AA8A-80769A45F3B2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6BEC7406-A8AF-FEB5-D645-91E06E93F1FA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810D4CA-0AD8-A710-AE58-C093F8F45C7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51A6476B-9619-F270-D668-3D1DE8B42139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A0797B9-8AB9-8C6E-A61C-EB60C1CBF6C1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1BD9E56-CC94-C1EE-D047-8B35F970A4A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7526839-5FE5-6841-FB42-A755AB13CE2E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2130DA9-E316-3698-9CC0-23E73332D9C6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2AE17A9-4252-B2B2-00CB-A14A00F41ABF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2962BB-4AC5-BDC0-ABF3-3C262646FA7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16" name="Текст 47">
            <a:extLst>
              <a:ext uri="{FF2B5EF4-FFF2-40B4-BE49-F238E27FC236}">
                <a16:creationId xmlns:a16="http://schemas.microsoft.com/office/drawing/2014/main" id="{FFAC2EA0-57A1-6DC6-2C46-0D16F4812F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10712131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в одну или две строки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158354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5" y="1452638"/>
            <a:ext cx="11740945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chemeClr val="bg1"/>
                </a:solidFill>
              </a:rPr>
              <a:t>Современная архитектура платформ </a:t>
            </a:r>
            <a:r>
              <a:rPr lang="ru-RU" b="0" dirty="0"/>
              <a:t>данных</a:t>
            </a:r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545167"/>
            <a:ext cx="8205646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Компоненты современной платформы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Главный вопрос </a:t>
            </a:r>
            <a:r>
              <a:rPr lang="ru-RU" dirty="0">
                <a:solidFill>
                  <a:srgbClr val="FF0000"/>
                </a:solidFill>
              </a:rPr>
              <a:t>занятия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0F2F6C29-271F-CBE4-E4C7-A40E7682B4FC}"/>
              </a:ext>
            </a:extLst>
          </p:cNvPr>
          <p:cNvSpPr txBox="1">
            <a:spLocks/>
          </p:cNvSpPr>
          <p:nvPr/>
        </p:nvSpPr>
        <p:spPr>
          <a:xfrm>
            <a:off x="259087" y="2127154"/>
            <a:ext cx="5684513" cy="1301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Что происходит с </a:t>
            </a:r>
            <a:r>
              <a:rPr lang="ru-RU" b="1" dirty="0">
                <a:solidFill>
                  <a:srgbClr val="FF0000"/>
                </a:solidFill>
              </a:rPr>
              <a:t>данными</a:t>
            </a:r>
            <a:r>
              <a:rPr lang="ru-RU" b="1" dirty="0"/>
              <a:t> от момента их появления в бизнес-системе до момента, когда аналитик использует их для </a:t>
            </a:r>
            <a:r>
              <a:rPr lang="ru-RU" b="1" dirty="0">
                <a:solidFill>
                  <a:srgbClr val="FF0000"/>
                </a:solidFill>
              </a:rPr>
              <a:t>принятия решения</a:t>
            </a:r>
            <a:r>
              <a:rPr lang="ru-RU" b="1" dirty="0"/>
              <a:t>?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A7AEB10-B1C0-41E1-8467-9A2828BE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3265821"/>
            <a:ext cx="34671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C74A-2DD3-A9FE-8B85-4D248BF3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774EE6-9B3F-33E2-471F-DD1C1FD7CCA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325310E-D4DB-60A1-1BEC-3BF04A020908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Архитектура платформы </a:t>
            </a:r>
          </a:p>
          <a:p>
            <a:r>
              <a:rPr lang="ru-RU" dirty="0"/>
              <a:t>как конвейер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3BA3AFB-4A87-7BBB-3BFB-635A9EA8D0D8}"/>
              </a:ext>
            </a:extLst>
          </p:cNvPr>
          <p:cNvSpPr txBox="1">
            <a:spLocks/>
          </p:cNvSpPr>
          <p:nvPr/>
        </p:nvSpPr>
        <p:spPr>
          <a:xfrm>
            <a:off x="259087" y="2397997"/>
            <a:ext cx="5408066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FF0000"/>
                </a:solidFill>
                <a:latin typeface="+mn-lt"/>
              </a:rPr>
              <a:t>Источники</a:t>
            </a:r>
            <a:r>
              <a:rPr lang="ru-RU" sz="1800" b="1" dirty="0">
                <a:latin typeface="+mn-lt"/>
              </a:rPr>
              <a:t>:</a:t>
            </a:r>
            <a:r>
              <a:rPr lang="ru-RU" sz="1800" dirty="0">
                <a:latin typeface="+mn-lt"/>
              </a:rPr>
              <a:t> Фермы (поставщики фруктов).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5704C-3125-6EC4-960C-9DBB2F89481C}"/>
              </a:ext>
            </a:extLst>
          </p:cNvPr>
          <p:cNvSpPr txBox="1"/>
          <p:nvPr/>
        </p:nvSpPr>
        <p:spPr>
          <a:xfrm>
            <a:off x="259087" y="2777905"/>
            <a:ext cx="5588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FF0000"/>
                </a:solidFill>
              </a:rPr>
              <a:t>Ingestion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Грузовики, привозящие яблоки на завод.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4C224-10B3-93C0-26DC-F8DA25B91D12}"/>
              </a:ext>
            </a:extLst>
          </p:cNvPr>
          <p:cNvSpPr txBox="1"/>
          <p:nvPr/>
        </p:nvSpPr>
        <p:spPr>
          <a:xfrm>
            <a:off x="259087" y="3240387"/>
            <a:ext cx="5408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ETL/ELT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Мойка, очистка, прессование, пастеризация.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DC1D6-9F21-0A47-0EE9-AEF2F7515558}"/>
              </a:ext>
            </a:extLst>
          </p:cNvPr>
          <p:cNvSpPr txBox="1"/>
          <p:nvPr/>
        </p:nvSpPr>
        <p:spPr>
          <a:xfrm>
            <a:off x="259087" y="3891058"/>
            <a:ext cx="5408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Хранилище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Цистерны с соком.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34BA48-8EBA-7FB3-14D2-DC1D66CAA9FB}"/>
              </a:ext>
            </a:extLst>
          </p:cNvPr>
          <p:cNvSpPr txBox="1"/>
          <p:nvPr/>
        </p:nvSpPr>
        <p:spPr>
          <a:xfrm>
            <a:off x="259087" y="4260390"/>
            <a:ext cx="5408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Витрины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Бутылки с разной маркировкой (для супермаркета, для кафе).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56E6F-AA53-86E1-9CFD-4FCE4FE20316}"/>
              </a:ext>
            </a:extLst>
          </p:cNvPr>
          <p:cNvSpPr txBox="1"/>
          <p:nvPr/>
        </p:nvSpPr>
        <p:spPr>
          <a:xfrm>
            <a:off x="259087" y="4906721"/>
            <a:ext cx="5408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BI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Полки в магазине, где сок видит покупатель.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A397F5-B9BE-8AA2-644D-631A53F7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474" y="2397997"/>
            <a:ext cx="3694430" cy="268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8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7" grpId="0"/>
      <p:bldP spid="7" grpId="1"/>
      <p:bldP spid="6" grpId="0"/>
      <p:bldP spid="9" grpId="0"/>
      <p:bldP spid="11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5B03-AE1F-1E96-16B5-375CF6FC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3F8B30-7EA0-1161-9855-4BFE5F1AACE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E03F41A-FFA2-298E-76B2-D232B2795487}"/>
              </a:ext>
            </a:extLst>
          </p:cNvPr>
          <p:cNvSpPr txBox="1">
            <a:spLocks/>
          </p:cNvSpPr>
          <p:nvPr/>
        </p:nvSpPr>
        <p:spPr>
          <a:xfrm>
            <a:off x="259087" y="1360983"/>
            <a:ext cx="5836913" cy="768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/>
              <a:t>Data Platform 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2D3036DE-FD0A-8F68-3C89-B3AFAC58BE28}"/>
              </a:ext>
            </a:extLst>
          </p:cNvPr>
          <p:cNvSpPr txBox="1">
            <a:spLocks/>
          </p:cNvSpPr>
          <p:nvPr/>
        </p:nvSpPr>
        <p:spPr>
          <a:xfrm>
            <a:off x="259087" y="2129618"/>
            <a:ext cx="5408066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Data Platform </a:t>
            </a:r>
            <a:r>
              <a:rPr lang="ru-RU" b="1" dirty="0">
                <a:solidFill>
                  <a:srgbClr val="FF0000"/>
                </a:solidFill>
              </a:rPr>
              <a:t>≠</a:t>
            </a:r>
            <a:r>
              <a:rPr lang="ru-RU" b="1" dirty="0"/>
              <a:t> Data </a:t>
            </a:r>
            <a:r>
              <a:rPr lang="ru-RU" b="1" dirty="0" err="1"/>
              <a:t>Warehouse</a:t>
            </a:r>
            <a:r>
              <a:rPr lang="ru-RU" b="1" dirty="0"/>
              <a:t>.</a:t>
            </a:r>
            <a:endParaRPr lang="ru-RU" sz="1800" dirty="0">
              <a:latin typeface="+mn-lt"/>
            </a:endParaRP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CA98D09A-3DEB-CB06-1EEC-5A19158E9E4F}"/>
              </a:ext>
            </a:extLst>
          </p:cNvPr>
          <p:cNvSpPr txBox="1">
            <a:spLocks/>
          </p:cNvSpPr>
          <p:nvPr/>
        </p:nvSpPr>
        <p:spPr>
          <a:xfrm>
            <a:off x="259087" y="2713587"/>
            <a:ext cx="5408066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FF0000"/>
                </a:solidFill>
              </a:rPr>
              <a:t>Data Platform </a:t>
            </a:r>
            <a:r>
              <a:rPr lang="en" b="1" dirty="0"/>
              <a:t>— </a:t>
            </a:r>
            <a:r>
              <a:rPr lang="ru-RU" b="1" dirty="0"/>
              <a:t>совокупность технологий, процессов и правил, обеспечивающих сбор, хранение, обработку, управление и предоставление данных потребителям.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A99931-1414-A21E-F557-4D06591C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282" y="1950720"/>
            <a:ext cx="2716022" cy="318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9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131E-D9BF-5C8C-A503-E8B92361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597DB28-D2F1-ADB6-F56F-6834915C3471}"/>
              </a:ext>
            </a:extLst>
          </p:cNvPr>
          <p:cNvCxnSpPr>
            <a:cxnSpLocks/>
          </p:cNvCxnSpPr>
          <p:nvPr/>
        </p:nvCxnSpPr>
        <p:spPr>
          <a:xfrm>
            <a:off x="2678883" y="3862873"/>
            <a:ext cx="0" cy="7969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DDACBA1-8C6C-C499-A355-0656B462939D}"/>
              </a:ext>
            </a:extLst>
          </p:cNvPr>
          <p:cNvCxnSpPr>
            <a:cxnSpLocks/>
          </p:cNvCxnSpPr>
          <p:nvPr/>
        </p:nvCxnSpPr>
        <p:spPr>
          <a:xfrm>
            <a:off x="8169476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44230F7-BD39-91FF-A4E5-931CD2A0C7B4}"/>
              </a:ext>
            </a:extLst>
          </p:cNvPr>
          <p:cNvCxnSpPr>
            <a:cxnSpLocks/>
          </p:cNvCxnSpPr>
          <p:nvPr/>
        </p:nvCxnSpPr>
        <p:spPr>
          <a:xfrm>
            <a:off x="4862479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3FEEAA7-DFD7-3A4A-1706-2010C36B4E62}"/>
              </a:ext>
            </a:extLst>
          </p:cNvPr>
          <p:cNvCxnSpPr>
            <a:cxnSpLocks/>
          </p:cNvCxnSpPr>
          <p:nvPr/>
        </p:nvCxnSpPr>
        <p:spPr>
          <a:xfrm>
            <a:off x="9380809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7F21EEDB-A757-8BF7-0DC0-D5005D128E92}"/>
              </a:ext>
            </a:extLst>
          </p:cNvPr>
          <p:cNvCxnSpPr>
            <a:cxnSpLocks/>
          </p:cNvCxnSpPr>
          <p:nvPr/>
        </p:nvCxnSpPr>
        <p:spPr>
          <a:xfrm>
            <a:off x="5943188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5AE222C-C860-29D3-2009-6525122578FE}"/>
              </a:ext>
            </a:extLst>
          </p:cNvPr>
          <p:cNvCxnSpPr>
            <a:cxnSpLocks/>
          </p:cNvCxnSpPr>
          <p:nvPr/>
        </p:nvCxnSpPr>
        <p:spPr>
          <a:xfrm>
            <a:off x="7031282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391838-E5D3-ED80-5B73-980B8DC6891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228AC905-6376-A775-A59D-DBCAC27FA3E1}"/>
              </a:ext>
            </a:extLst>
          </p:cNvPr>
          <p:cNvSpPr txBox="1">
            <a:spLocks/>
          </p:cNvSpPr>
          <p:nvPr/>
        </p:nvSpPr>
        <p:spPr>
          <a:xfrm>
            <a:off x="260669" y="1183590"/>
            <a:ext cx="11262637" cy="558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Схема движения данных в </a:t>
            </a:r>
            <a:r>
              <a:rPr lang="ru-RU" dirty="0">
                <a:solidFill>
                  <a:srgbClr val="FF0000"/>
                </a:solidFill>
              </a:rPr>
              <a:t>платформе данных</a:t>
            </a:r>
            <a:endParaRPr lang="ru-RS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CCE3278-A8AD-9103-A1ED-F04579D57762}"/>
              </a:ext>
            </a:extLst>
          </p:cNvPr>
          <p:cNvCxnSpPr/>
          <p:nvPr/>
        </p:nvCxnSpPr>
        <p:spPr>
          <a:xfrm>
            <a:off x="326571" y="3862873"/>
            <a:ext cx="1154852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AED4E0A7-1492-6E8E-59EE-915C9E07C7F8}"/>
              </a:ext>
            </a:extLst>
          </p:cNvPr>
          <p:cNvSpPr/>
          <p:nvPr/>
        </p:nvSpPr>
        <p:spPr>
          <a:xfrm>
            <a:off x="260625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E7F3478-2E30-9143-6849-32611DBB1000}"/>
              </a:ext>
            </a:extLst>
          </p:cNvPr>
          <p:cNvSpPr/>
          <p:nvPr/>
        </p:nvSpPr>
        <p:spPr>
          <a:xfrm>
            <a:off x="8104773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3D8BB378-2BD7-4805-7723-2F071A83FC26}"/>
              </a:ext>
            </a:extLst>
          </p:cNvPr>
          <p:cNvSpPr/>
          <p:nvPr/>
        </p:nvSpPr>
        <p:spPr>
          <a:xfrm>
            <a:off x="479865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EAB3DCC-4F51-67B0-2DED-1E562638B04C}"/>
              </a:ext>
            </a:extLst>
          </p:cNvPr>
          <p:cNvSpPr/>
          <p:nvPr/>
        </p:nvSpPr>
        <p:spPr>
          <a:xfrm>
            <a:off x="9317314" y="3778900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FD8BB8A-44B0-C5B6-34D2-371F7D88F3F0}"/>
              </a:ext>
            </a:extLst>
          </p:cNvPr>
          <p:cNvSpPr/>
          <p:nvPr/>
        </p:nvSpPr>
        <p:spPr>
          <a:xfrm>
            <a:off x="695865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17A951C-D446-212D-C1BC-2AA52E350245}"/>
              </a:ext>
            </a:extLst>
          </p:cNvPr>
          <p:cNvSpPr/>
          <p:nvPr/>
        </p:nvSpPr>
        <p:spPr>
          <a:xfrm>
            <a:off x="587865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Текст 1">
            <a:extLst>
              <a:ext uri="{FF2B5EF4-FFF2-40B4-BE49-F238E27FC236}">
                <a16:creationId xmlns:a16="http://schemas.microsoft.com/office/drawing/2014/main" id="{59DC744A-7EBE-65E6-D987-89C383DFD3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9992" y="4699826"/>
            <a:ext cx="1763035" cy="52922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200" dirty="0"/>
              <a:t>Источники данных (</a:t>
            </a:r>
            <a:r>
              <a:rPr lang="en-US" sz="1200" dirty="0"/>
              <a:t>Sources)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endParaRPr lang="ru-RS" sz="1200" dirty="0"/>
          </a:p>
        </p:txBody>
      </p:sp>
      <p:sp>
        <p:nvSpPr>
          <p:cNvPr id="38" name="Текст 1">
            <a:extLst>
              <a:ext uri="{FF2B5EF4-FFF2-40B4-BE49-F238E27FC236}">
                <a16:creationId xmlns:a16="http://schemas.microsoft.com/office/drawing/2014/main" id="{5393113E-0CC7-0709-F3C4-0100E823A698}"/>
              </a:ext>
            </a:extLst>
          </p:cNvPr>
          <p:cNvSpPr txBox="1">
            <a:spLocks/>
          </p:cNvSpPr>
          <p:nvPr/>
        </p:nvSpPr>
        <p:spPr>
          <a:xfrm>
            <a:off x="3052360" y="2522511"/>
            <a:ext cx="1470386" cy="51870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" sz="1200" dirty="0"/>
              <a:t>Ingestion 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" sz="1200" dirty="0"/>
              <a:t>(</a:t>
            </a:r>
            <a:r>
              <a:rPr lang="ru-RU" sz="1200" dirty="0"/>
              <a:t>Забор данных)</a:t>
            </a:r>
          </a:p>
        </p:txBody>
      </p:sp>
      <p:sp>
        <p:nvSpPr>
          <p:cNvPr id="40" name="Текст 1">
            <a:extLst>
              <a:ext uri="{FF2B5EF4-FFF2-40B4-BE49-F238E27FC236}">
                <a16:creationId xmlns:a16="http://schemas.microsoft.com/office/drawing/2014/main" id="{05786ECC-EA53-EEA6-7050-B1B9776948D8}"/>
              </a:ext>
            </a:extLst>
          </p:cNvPr>
          <p:cNvSpPr txBox="1">
            <a:spLocks/>
          </p:cNvSpPr>
          <p:nvPr/>
        </p:nvSpPr>
        <p:spPr>
          <a:xfrm>
            <a:off x="4155643" y="4733118"/>
            <a:ext cx="1497005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" sz="1200" dirty="0"/>
              <a:t>ETL/ELT (</a:t>
            </a:r>
            <a:r>
              <a:rPr lang="ru-RU" sz="1200" dirty="0"/>
              <a:t>Трансформация)</a:t>
            </a:r>
          </a:p>
        </p:txBody>
      </p:sp>
      <p:sp>
        <p:nvSpPr>
          <p:cNvPr id="42" name="Текст 1">
            <a:extLst>
              <a:ext uri="{FF2B5EF4-FFF2-40B4-BE49-F238E27FC236}">
                <a16:creationId xmlns:a16="http://schemas.microsoft.com/office/drawing/2014/main" id="{BD7196F3-0931-87C3-DBBA-0C65AB2AECB1}"/>
              </a:ext>
            </a:extLst>
          </p:cNvPr>
          <p:cNvSpPr txBox="1">
            <a:spLocks/>
          </p:cNvSpPr>
          <p:nvPr/>
        </p:nvSpPr>
        <p:spPr>
          <a:xfrm>
            <a:off x="5153354" y="2577285"/>
            <a:ext cx="1579667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200" dirty="0"/>
              <a:t>Хранилище (</a:t>
            </a:r>
            <a:r>
              <a:rPr lang="en-US" sz="1200" dirty="0"/>
              <a:t>Storage)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200" dirty="0"/>
          </a:p>
        </p:txBody>
      </p:sp>
      <p:sp>
        <p:nvSpPr>
          <p:cNvPr id="44" name="Текст 1">
            <a:extLst>
              <a:ext uri="{FF2B5EF4-FFF2-40B4-BE49-F238E27FC236}">
                <a16:creationId xmlns:a16="http://schemas.microsoft.com/office/drawing/2014/main" id="{5F882C06-ED18-6B18-5712-6B8D49A6E78E}"/>
              </a:ext>
            </a:extLst>
          </p:cNvPr>
          <p:cNvSpPr txBox="1">
            <a:spLocks/>
          </p:cNvSpPr>
          <p:nvPr/>
        </p:nvSpPr>
        <p:spPr>
          <a:xfrm>
            <a:off x="6321796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1200" dirty="0"/>
              <a:t>BI </a:t>
            </a:r>
            <a:r>
              <a:rPr lang="ru-RU" sz="1200" dirty="0"/>
              <a:t>и Витрины (</a:t>
            </a:r>
            <a:r>
              <a:rPr lang="en-US" sz="1200" dirty="0"/>
              <a:t>Data Marts)</a:t>
            </a:r>
          </a:p>
        </p:txBody>
      </p:sp>
      <p:sp>
        <p:nvSpPr>
          <p:cNvPr id="46" name="Текст 1">
            <a:extLst>
              <a:ext uri="{FF2B5EF4-FFF2-40B4-BE49-F238E27FC236}">
                <a16:creationId xmlns:a16="http://schemas.microsoft.com/office/drawing/2014/main" id="{14AF4614-9D02-9C64-3ED9-E26B5775779F}"/>
              </a:ext>
            </a:extLst>
          </p:cNvPr>
          <p:cNvSpPr txBox="1">
            <a:spLocks/>
          </p:cNvSpPr>
          <p:nvPr/>
        </p:nvSpPr>
        <p:spPr>
          <a:xfrm>
            <a:off x="7363629" y="2324117"/>
            <a:ext cx="1611693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1200" dirty="0"/>
              <a:t>Data Catalog (</a:t>
            </a:r>
            <a:r>
              <a:rPr lang="ru-RU" sz="1200" dirty="0"/>
              <a:t>Каталог данных) и </a:t>
            </a:r>
            <a:r>
              <a:rPr lang="en-US" sz="1200" dirty="0"/>
              <a:t>Lineage</a:t>
            </a:r>
            <a:endParaRPr lang="ru-RU" sz="1200" dirty="0"/>
          </a:p>
        </p:txBody>
      </p:sp>
      <p:sp>
        <p:nvSpPr>
          <p:cNvPr id="48" name="Текст 1">
            <a:extLst>
              <a:ext uri="{FF2B5EF4-FFF2-40B4-BE49-F238E27FC236}">
                <a16:creationId xmlns:a16="http://schemas.microsoft.com/office/drawing/2014/main" id="{22DCDB9A-6B2C-2C75-EA5A-11F4C5A87BA6}"/>
              </a:ext>
            </a:extLst>
          </p:cNvPr>
          <p:cNvSpPr txBox="1">
            <a:spLocks/>
          </p:cNvSpPr>
          <p:nvPr/>
        </p:nvSpPr>
        <p:spPr>
          <a:xfrm>
            <a:off x="8581720" y="4722718"/>
            <a:ext cx="1598177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200" dirty="0"/>
              <a:t>Управление доступом (</a:t>
            </a:r>
            <a:r>
              <a:rPr lang="en-US" sz="1200" dirty="0"/>
              <a:t>Security)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72D3EF7-9F52-BDC0-6ABA-83DBA602CF26}"/>
              </a:ext>
            </a:extLst>
          </p:cNvPr>
          <p:cNvCxnSpPr>
            <a:cxnSpLocks/>
          </p:cNvCxnSpPr>
          <p:nvPr/>
        </p:nvCxnSpPr>
        <p:spPr>
          <a:xfrm>
            <a:off x="3785071" y="3066404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DD6B0B7C-6725-5E7C-FFB1-D793F0A00824}"/>
              </a:ext>
            </a:extLst>
          </p:cNvPr>
          <p:cNvSpPr/>
          <p:nvPr/>
        </p:nvSpPr>
        <p:spPr>
          <a:xfrm>
            <a:off x="371865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01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36" grpId="0" uiExpand="1" build="p"/>
      <p:bldP spid="38" grpId="0"/>
      <p:bldP spid="40" grpId="0"/>
      <p:bldP spid="42" grpId="0"/>
      <p:bldP spid="44" grpId="0"/>
      <p:bldP spid="46" grpId="0"/>
      <p:bldP spid="48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E4C9-C4FB-D011-75F7-2645C199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7CA0922-7941-04E0-74AA-BB3CEC89C1B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73759B60-1A78-B7EA-56A5-1BFAA1688C6B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Источники данных (</a:t>
            </a:r>
            <a:r>
              <a:rPr lang="en-US" dirty="0">
                <a:solidFill>
                  <a:srgbClr val="FF0000"/>
                </a:solidFill>
              </a:rPr>
              <a:t>Sources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61BDD02-81F1-B1BC-1A41-99EFD63B2EFE}"/>
              </a:ext>
            </a:extLst>
          </p:cNvPr>
          <p:cNvSpPr txBox="1">
            <a:spLocks/>
          </p:cNvSpPr>
          <p:nvPr/>
        </p:nvSpPr>
        <p:spPr>
          <a:xfrm>
            <a:off x="259087" y="2397997"/>
            <a:ext cx="5836912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" sz="1800" b="1" dirty="0">
                <a:solidFill>
                  <a:srgbClr val="FF0000"/>
                </a:solidFill>
                <a:latin typeface="+mn-lt"/>
              </a:rPr>
              <a:t>Operational</a:t>
            </a:r>
            <a:r>
              <a:rPr lang="ru-RU" sz="1800" b="1" dirty="0">
                <a:latin typeface="+mn-lt"/>
              </a:rPr>
              <a:t>:</a:t>
            </a:r>
            <a:r>
              <a:rPr lang="ru-RU" sz="1800" dirty="0">
                <a:latin typeface="+mn-lt"/>
              </a:rPr>
              <a:t> </a:t>
            </a:r>
            <a:r>
              <a:rPr lang="en" sz="1800" dirty="0">
                <a:latin typeface="+mn-lt"/>
              </a:rPr>
              <a:t>PostgreSQL, ERP, CRM, WMS, POS.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sz="1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99996-CF8A-E300-A385-F9BF050A56BA}"/>
              </a:ext>
            </a:extLst>
          </p:cNvPr>
          <p:cNvSpPr txBox="1"/>
          <p:nvPr/>
        </p:nvSpPr>
        <p:spPr>
          <a:xfrm>
            <a:off x="259087" y="2777905"/>
            <a:ext cx="5588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Events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клики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покупки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изменения статусов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мобильные события.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24940-16D2-378F-BC4C-931E904C7FED}"/>
              </a:ext>
            </a:extLst>
          </p:cNvPr>
          <p:cNvSpPr txBox="1"/>
          <p:nvPr/>
        </p:nvSpPr>
        <p:spPr>
          <a:xfrm>
            <a:off x="259087" y="3433765"/>
            <a:ext cx="5408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FF0000"/>
                </a:solidFill>
              </a:rPr>
              <a:t>Files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CSV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JSON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внешние выгрузки.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91D37-5FD0-0686-E566-4DEF56740833}"/>
              </a:ext>
            </a:extLst>
          </p:cNvPr>
          <p:cNvSpPr txBox="1"/>
          <p:nvPr/>
        </p:nvSpPr>
        <p:spPr>
          <a:xfrm>
            <a:off x="259087" y="3891058"/>
            <a:ext cx="5408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rgbClr val="FF0000"/>
                </a:solidFill>
              </a:rPr>
              <a:t>External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 курсы валют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погода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ru-RU" dirty="0">
                <a:solidFill>
                  <a:schemeClr val="bg1"/>
                </a:solidFill>
              </a:rPr>
              <a:t> маркетплейсы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поставщики.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32E8BF-008A-E38C-BEC2-857ABCB25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885" y="2316274"/>
            <a:ext cx="4164584" cy="288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3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6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0C84-77AB-3F38-2345-BD56F279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5822D-7B44-9DD4-8C7E-5E3D243AE1B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86BB8E7-884D-82B2-7635-BA4047F45C7C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Доставка данных (</a:t>
            </a:r>
            <a:r>
              <a:rPr lang="ru-RU" dirty="0" err="1"/>
              <a:t>Ingestion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8739B60-1E5A-8E30-49AB-31B355DC7A3E}"/>
              </a:ext>
            </a:extLst>
          </p:cNvPr>
          <p:cNvSpPr txBox="1">
            <a:spLocks/>
          </p:cNvSpPr>
          <p:nvPr/>
        </p:nvSpPr>
        <p:spPr>
          <a:xfrm>
            <a:off x="259087" y="2483341"/>
            <a:ext cx="5836912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+mn-lt"/>
              </a:rPr>
              <a:t>Batch</a:t>
            </a:r>
            <a:r>
              <a:rPr lang="ru-RU" b="1" dirty="0">
                <a:latin typeface="+mn-lt"/>
              </a:rPr>
              <a:t>:</a:t>
            </a:r>
            <a:r>
              <a:rPr lang="ru-RU" dirty="0">
                <a:latin typeface="+mn-lt"/>
              </a:rPr>
              <a:t> пачка раз в длительный промежуток времени (</a:t>
            </a:r>
            <a:r>
              <a:rPr lang="en-US" dirty="0">
                <a:latin typeface="+mn-lt"/>
              </a:rPr>
              <a:t>Airflow, </a:t>
            </a:r>
            <a:r>
              <a:rPr lang="en-US" dirty="0" err="1">
                <a:latin typeface="+mn-lt"/>
              </a:rPr>
              <a:t>NiFi</a:t>
            </a:r>
            <a:r>
              <a:rPr lang="en-US" dirty="0">
                <a:latin typeface="+mn-lt"/>
              </a:rPr>
              <a:t>, Flink)</a:t>
            </a:r>
            <a:endParaRPr lang="en" dirty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E1268-7A47-BFC8-C69D-04D28DB7090A}"/>
              </a:ext>
            </a:extLst>
          </p:cNvPr>
          <p:cNvSpPr txBox="1"/>
          <p:nvPr/>
        </p:nvSpPr>
        <p:spPr>
          <a:xfrm>
            <a:off x="259088" y="3119281"/>
            <a:ext cx="5588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Streaming</a:t>
            </a:r>
            <a:r>
              <a:rPr lang="ru-RU" sz="2000" b="1" dirty="0">
                <a:solidFill>
                  <a:schemeClr val="bg1"/>
                </a:solidFill>
              </a:rPr>
              <a:t>:</a:t>
            </a:r>
            <a:r>
              <a:rPr lang="en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непрерывный поток событий</a:t>
            </a:r>
            <a:r>
              <a:rPr lang="en-US" sz="2000" dirty="0">
                <a:solidFill>
                  <a:schemeClr val="bg1"/>
                </a:solidFill>
              </a:rPr>
              <a:t> (RabbitMQ, Kafka, Spark Streaming)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AD65EE-E7EA-F4A9-4394-CE392E10A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281" y="1950720"/>
            <a:ext cx="3790188" cy="34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1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82A7-6BC9-02DD-2BA6-4D52FFF38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B70FD45-9771-8D0B-954F-A36A9D64C3E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185CFA1-46B0-2CF0-EA2A-E46E14599418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Хранение данных (</a:t>
            </a:r>
            <a:r>
              <a:rPr lang="ru-RU" dirty="0"/>
              <a:t>Storage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2CC3E55C-4164-2F3A-526B-9E8D37E11091}"/>
              </a:ext>
            </a:extLst>
          </p:cNvPr>
          <p:cNvSpPr txBox="1">
            <a:spLocks/>
          </p:cNvSpPr>
          <p:nvPr/>
        </p:nvSpPr>
        <p:spPr>
          <a:xfrm>
            <a:off x="259087" y="2397997"/>
            <a:ext cx="5588820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PostgreSQL</a:t>
            </a:r>
            <a:endParaRPr lang="en" dirty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03D56-8296-9D8C-6EE0-FF54B1399738}"/>
              </a:ext>
            </a:extLst>
          </p:cNvPr>
          <p:cNvSpPr txBox="1"/>
          <p:nvPr/>
        </p:nvSpPr>
        <p:spPr>
          <a:xfrm>
            <a:off x="259087" y="2777905"/>
            <a:ext cx="5588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S3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FA268-D3E1-7D75-E136-0CC6A71C6DAC}"/>
              </a:ext>
            </a:extLst>
          </p:cNvPr>
          <p:cNvSpPr txBox="1"/>
          <p:nvPr/>
        </p:nvSpPr>
        <p:spPr>
          <a:xfrm>
            <a:off x="259087" y="3157813"/>
            <a:ext cx="5588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ClickHouse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DEEC6-0224-FB7F-6F47-0AFD7E2A2A86}"/>
              </a:ext>
            </a:extLst>
          </p:cNvPr>
          <p:cNvSpPr txBox="1"/>
          <p:nvPr/>
        </p:nvSpPr>
        <p:spPr>
          <a:xfrm>
            <a:off x="259087" y="3563636"/>
            <a:ext cx="5588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Redis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B9569D-75F4-4DEB-3FA4-16C5A3444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434" y="2162210"/>
            <a:ext cx="2903982" cy="27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6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6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24C7-0004-2608-9E68-90934BD1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4236A3A-D585-6DE2-4C8C-C6EB06AE16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B2E16A1-06CB-0A6E-6267-D3E5DD187962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Обработка данных (</a:t>
            </a:r>
            <a:r>
              <a:rPr lang="ru-RU" dirty="0"/>
              <a:t>Processing: ETL </a:t>
            </a:r>
            <a:r>
              <a:rPr lang="ru-RU" dirty="0" err="1"/>
              <a:t>vs</a:t>
            </a:r>
            <a:r>
              <a:rPr lang="ru-RU" dirty="0"/>
              <a:t> ELT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CAA4009C-BAD3-7525-71A6-812EDCCA7823}"/>
              </a:ext>
            </a:extLst>
          </p:cNvPr>
          <p:cNvSpPr txBox="1">
            <a:spLocks/>
          </p:cNvSpPr>
          <p:nvPr/>
        </p:nvSpPr>
        <p:spPr>
          <a:xfrm>
            <a:off x="440994" y="2603686"/>
            <a:ext cx="1826718" cy="41165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Source </a:t>
            </a:r>
          </a:p>
          <a:p>
            <a:pPr algn="ctr"/>
            <a:r>
              <a:rPr lang="ru-RU" dirty="0"/>
              <a:t>│ </a:t>
            </a:r>
          </a:p>
          <a:p>
            <a:pPr algn="ctr"/>
            <a:r>
              <a:rPr lang="ru-RU" dirty="0"/>
              <a:t>▼ </a:t>
            </a:r>
          </a:p>
          <a:p>
            <a:pPr algn="ctr"/>
            <a:r>
              <a:rPr lang="ru-RU" dirty="0" err="1"/>
              <a:t>Extract</a:t>
            </a:r>
            <a:r>
              <a:rPr lang="ru-RU" dirty="0"/>
              <a:t> </a:t>
            </a:r>
          </a:p>
          <a:p>
            <a:pPr algn="ctr"/>
            <a:r>
              <a:rPr lang="ru-RU" dirty="0"/>
              <a:t>│ </a:t>
            </a:r>
          </a:p>
          <a:p>
            <a:pPr algn="ctr"/>
            <a:r>
              <a:rPr lang="ru-RU" dirty="0"/>
              <a:t>▼ </a:t>
            </a:r>
          </a:p>
          <a:p>
            <a:pPr algn="ctr"/>
            <a:r>
              <a:rPr lang="ru-RU" dirty="0" err="1"/>
              <a:t>Transform</a:t>
            </a:r>
            <a:r>
              <a:rPr lang="ru-RU" dirty="0"/>
              <a:t> </a:t>
            </a:r>
          </a:p>
          <a:p>
            <a:pPr algn="ctr"/>
            <a:r>
              <a:rPr lang="ru-RU" dirty="0"/>
              <a:t>│ </a:t>
            </a:r>
          </a:p>
          <a:p>
            <a:pPr algn="ctr"/>
            <a:r>
              <a:rPr lang="ru-RU" dirty="0"/>
              <a:t>▼ </a:t>
            </a:r>
          </a:p>
          <a:p>
            <a:pPr algn="ctr"/>
            <a:r>
              <a:rPr lang="ru-RU" dirty="0" err="1"/>
              <a:t>Load</a:t>
            </a:r>
            <a:r>
              <a:rPr lang="ru-RU" dirty="0"/>
              <a:t> </a:t>
            </a:r>
          </a:p>
          <a:p>
            <a:pPr algn="ctr"/>
            <a:r>
              <a:rPr lang="ru-RU" dirty="0"/>
              <a:t>│ </a:t>
            </a:r>
          </a:p>
          <a:p>
            <a:pPr algn="ctr"/>
            <a:r>
              <a:rPr lang="ru-RU" dirty="0"/>
              <a:t>▼ </a:t>
            </a:r>
          </a:p>
          <a:p>
            <a:pPr algn="ctr"/>
            <a:r>
              <a:rPr lang="ru-RU" dirty="0"/>
              <a:t>DWH</a:t>
            </a:r>
          </a:p>
          <a:p>
            <a:pPr algn="ctr"/>
            <a:endParaRPr lang="ru-RU" sz="1800" dirty="0">
              <a:latin typeface="+mn-lt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DFC4F8D2-0D2D-F0A9-A796-802389E5CECF}"/>
              </a:ext>
            </a:extLst>
          </p:cNvPr>
          <p:cNvSpPr txBox="1">
            <a:spLocks/>
          </p:cNvSpPr>
          <p:nvPr/>
        </p:nvSpPr>
        <p:spPr>
          <a:xfrm>
            <a:off x="3687951" y="2600340"/>
            <a:ext cx="1962808" cy="411986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dirty="0"/>
              <a:t>Source</a:t>
            </a:r>
          </a:p>
          <a:p>
            <a:pPr algn="ctr"/>
            <a:r>
              <a:rPr lang="en" dirty="0"/>
              <a:t>  │</a:t>
            </a:r>
          </a:p>
          <a:p>
            <a:pPr algn="ctr"/>
            <a:r>
              <a:rPr lang="en" dirty="0"/>
              <a:t>  ▼</a:t>
            </a:r>
          </a:p>
          <a:p>
            <a:pPr algn="ctr"/>
            <a:r>
              <a:rPr lang="en" dirty="0"/>
              <a:t>Extract</a:t>
            </a:r>
          </a:p>
          <a:p>
            <a:pPr algn="ctr"/>
            <a:r>
              <a:rPr lang="en" dirty="0"/>
              <a:t>  │</a:t>
            </a:r>
          </a:p>
          <a:p>
            <a:pPr algn="ctr"/>
            <a:r>
              <a:rPr lang="en" dirty="0"/>
              <a:t>  ▼</a:t>
            </a:r>
          </a:p>
          <a:p>
            <a:pPr algn="ctr"/>
            <a:r>
              <a:rPr lang="en" dirty="0"/>
              <a:t>Load</a:t>
            </a:r>
          </a:p>
          <a:p>
            <a:pPr algn="ctr"/>
            <a:r>
              <a:rPr lang="en" dirty="0"/>
              <a:t>  │</a:t>
            </a:r>
          </a:p>
          <a:p>
            <a:pPr algn="ctr"/>
            <a:r>
              <a:rPr lang="en" dirty="0"/>
              <a:t>  ▼</a:t>
            </a:r>
          </a:p>
          <a:p>
            <a:pPr algn="ctr"/>
            <a:r>
              <a:rPr lang="en" dirty="0"/>
              <a:t>DWH / Lake</a:t>
            </a:r>
          </a:p>
          <a:p>
            <a:pPr algn="ctr"/>
            <a:r>
              <a:rPr lang="en" dirty="0"/>
              <a:t>  │</a:t>
            </a:r>
          </a:p>
          <a:p>
            <a:pPr algn="ctr"/>
            <a:r>
              <a:rPr lang="en" dirty="0"/>
              <a:t>  ▼</a:t>
            </a:r>
          </a:p>
          <a:p>
            <a:pPr algn="ctr"/>
            <a:r>
              <a:rPr lang="en" dirty="0"/>
              <a:t>Transform</a:t>
            </a:r>
            <a:endParaRPr lang="ru-RU" sz="18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6BDC7-AF59-5F8D-C52A-A10F244C97C3}"/>
              </a:ext>
            </a:extLst>
          </p:cNvPr>
          <p:cNvSpPr txBox="1"/>
          <p:nvPr/>
        </p:nvSpPr>
        <p:spPr>
          <a:xfrm>
            <a:off x="1063269" y="2090864"/>
            <a:ext cx="58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FF0000"/>
                </a:solidFill>
              </a:rPr>
              <a:t>ETL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AA60A-AF82-5EDD-5310-AEC026DCE7EC}"/>
              </a:ext>
            </a:extLst>
          </p:cNvPr>
          <p:cNvSpPr txBox="1"/>
          <p:nvPr/>
        </p:nvSpPr>
        <p:spPr>
          <a:xfrm>
            <a:off x="4392711" y="2107556"/>
            <a:ext cx="58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ELT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B3D4C1C-3F1E-18E6-65D5-272AE7F91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53" y="2275530"/>
            <a:ext cx="3390392" cy="25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1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" grpId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51E3-D036-8A99-F780-320AD3F9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B04A97D-5351-D86D-B199-CB9DDC415E5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A280040-B780-1B89-5E3F-C296096B285E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Предоставление данных (</a:t>
            </a:r>
            <a:r>
              <a:rPr lang="ru-RU" dirty="0" err="1"/>
              <a:t>Serving</a:t>
            </a:r>
            <a:r>
              <a:rPr lang="ru-RU" dirty="0"/>
              <a:t> </a:t>
            </a:r>
            <a:r>
              <a:rPr lang="ru-RU" dirty="0" err="1"/>
              <a:t>layer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BBFE550F-96EC-4642-329C-CDBA3A3A7C18}"/>
              </a:ext>
            </a:extLst>
          </p:cNvPr>
          <p:cNvSpPr txBox="1">
            <a:spLocks/>
          </p:cNvSpPr>
          <p:nvPr/>
        </p:nvSpPr>
        <p:spPr>
          <a:xfrm>
            <a:off x="1389226" y="2392036"/>
            <a:ext cx="3644900" cy="265106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Data Platform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┌─────┴─────┐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▼           ▼</a:t>
            </a:r>
          </a:p>
          <a:p>
            <a:pPr algn="ctr"/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     Redis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│           │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▼           ▼</a:t>
            </a:r>
          </a:p>
          <a:p>
            <a:pPr algn="ctr"/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BI          API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20A8B9-6793-5B6F-2370-AC2E12F1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990" y="1877783"/>
            <a:ext cx="3058922" cy="316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0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A854-C0B8-A4B7-4D5B-2153F47E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8D7525-489A-67C2-D5C2-8766BE1B2CB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676B6A4-DF3F-D826-B916-62C7051C7107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4099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Данные о данных</a:t>
            </a:r>
            <a:r>
              <a:rPr lang="ru-RU" dirty="0"/>
              <a:t> (</a:t>
            </a:r>
            <a:r>
              <a:rPr lang="ru-RU" dirty="0" err="1"/>
              <a:t>Metadata</a:t>
            </a:r>
            <a:r>
              <a:rPr lang="en-US" dirty="0"/>
              <a:t>, </a:t>
            </a:r>
            <a:r>
              <a:rPr lang="ru-RU" dirty="0" err="1"/>
              <a:t>Catalog</a:t>
            </a:r>
            <a:r>
              <a:rPr lang="en-US" dirty="0"/>
              <a:t>, </a:t>
            </a:r>
            <a:r>
              <a:rPr lang="ru-RU" dirty="0" err="1"/>
              <a:t>Lineage</a:t>
            </a:r>
            <a:r>
              <a:rPr lang="ru-RU" dirty="0"/>
              <a:t>)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D945E99A-942D-78BA-5D88-D12D5D4862CC}"/>
              </a:ext>
            </a:extLst>
          </p:cNvPr>
          <p:cNvSpPr txBox="1">
            <a:spLocks/>
          </p:cNvSpPr>
          <p:nvPr/>
        </p:nvSpPr>
        <p:spPr>
          <a:xfrm>
            <a:off x="259087" y="2489572"/>
            <a:ext cx="2337809" cy="45174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sales.amount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B640C-08DE-479D-1376-5D6686D1C815}"/>
              </a:ext>
            </a:extLst>
          </p:cNvPr>
          <p:cNvSpPr txBox="1"/>
          <p:nvPr/>
        </p:nvSpPr>
        <p:spPr>
          <a:xfrm>
            <a:off x="259087" y="3022092"/>
            <a:ext cx="35315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Вопросы: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Что такое </a:t>
            </a:r>
            <a:r>
              <a:rPr lang="ru-RU" sz="1800" b="0" i="0" dirty="0" err="1">
                <a:solidFill>
                  <a:schemeClr val="bg1"/>
                </a:solidFill>
                <a:effectLst/>
                <a:latin typeface="+mn-lt"/>
              </a:rPr>
              <a:t>amount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С НДС или без?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В какой валюте?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Кто владелец?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Как рассчитывается?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Когда обновляется?</a:t>
            </a: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Из какого источника пришло?</a:t>
            </a:r>
            <a:endParaRPr lang="ru-RU" sz="1050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35CA4-17A2-AA85-818F-843F72F82635}"/>
              </a:ext>
            </a:extLst>
          </p:cNvPr>
          <p:cNvSpPr txBox="1"/>
          <p:nvPr/>
        </p:nvSpPr>
        <p:spPr>
          <a:xfrm>
            <a:off x="259087" y="5411188"/>
            <a:ext cx="6096000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ru-RU" dirty="0">
                <a:solidFill>
                  <a:srgbClr val="FF0000"/>
                </a:solidFill>
              </a:rPr>
              <a:t>Data </a:t>
            </a:r>
            <a:r>
              <a:rPr lang="ru-RU" dirty="0" err="1">
                <a:solidFill>
                  <a:srgbClr val="FF0000"/>
                </a:solidFill>
              </a:rPr>
              <a:t>Catalog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ru-RU" dirty="0">
                <a:solidFill>
                  <a:schemeClr val="bg1"/>
                </a:solidFill>
              </a:rPr>
              <a:t>Какие данные у нас есть?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>
              <a:solidFill>
                <a:schemeClr val="bg1"/>
              </a:solidFill>
            </a:endParaRP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ru-RU" dirty="0" err="1">
                <a:solidFill>
                  <a:srgbClr val="FF0000"/>
                </a:solidFill>
              </a:rPr>
              <a:t>Metadata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>
                <a:solidFill>
                  <a:schemeClr val="bg1"/>
                </a:solidFill>
              </a:rPr>
              <a:t>Что мы знаем об этих данных?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>
              <a:solidFill>
                <a:schemeClr val="bg1"/>
              </a:solidFill>
            </a:endParaRPr>
          </a:p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ru-RU" dirty="0" err="1">
                <a:solidFill>
                  <a:srgbClr val="FF0000"/>
                </a:solidFill>
              </a:rPr>
              <a:t>Lineage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>
                <a:solidFill>
                  <a:schemeClr val="bg1"/>
                </a:solidFill>
              </a:rPr>
              <a:t>Откуда эти данные пришли и куда попали?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AB760B-F11A-870F-A34A-71CBD0F7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277" y="2071550"/>
            <a:ext cx="3143568" cy="27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1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47A4-2D73-3A07-79C2-4BF81086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A0F4ED-1008-9C60-0377-40056437946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833B306-7B8D-4CB5-A9BC-557C48762792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4099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Состояние системы </a:t>
            </a:r>
            <a:r>
              <a:rPr lang="ru-RU" dirty="0"/>
              <a:t>(</a:t>
            </a:r>
            <a:r>
              <a:rPr lang="ru-RU" dirty="0" err="1"/>
              <a:t>Observability</a:t>
            </a:r>
            <a:r>
              <a:rPr lang="ru-RU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411EA-D82F-D2D5-47EE-739331D07334}"/>
              </a:ext>
            </a:extLst>
          </p:cNvPr>
          <p:cNvSpPr txBox="1"/>
          <p:nvPr/>
        </p:nvSpPr>
        <p:spPr>
          <a:xfrm>
            <a:off x="259087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FF0000"/>
                </a:solidFill>
              </a:rPr>
              <a:t>Freshness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Насколько свежи данные?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Quality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Насколько данные корректны?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b="1" dirty="0" err="1">
                <a:solidFill>
                  <a:srgbClr val="FF0000"/>
                </a:solidFill>
              </a:rPr>
              <a:t>Availability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Доступна ли система?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93A801-86F5-78B3-B620-5B71C724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513" y="2142599"/>
            <a:ext cx="3291332" cy="25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49A7-44D4-06CE-54F9-9AF7CC47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A7C53E-6490-16E3-3C08-052F209ED34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0F198FE-903B-21D5-DEFA-58E553502CD4}"/>
              </a:ext>
            </a:extLst>
          </p:cNvPr>
          <p:cNvSpPr txBox="1">
            <a:spLocks/>
          </p:cNvSpPr>
          <p:nvPr/>
        </p:nvSpPr>
        <p:spPr>
          <a:xfrm>
            <a:off x="259087" y="983032"/>
            <a:ext cx="5836913" cy="489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0" dirty="0">
                <a:solidFill>
                  <a:schemeClr val="bg1"/>
                </a:solidFill>
              </a:rPr>
              <a:t>Практика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B669DF36-85F0-C6B8-25DC-E6CE1DE5C80D}"/>
              </a:ext>
            </a:extLst>
          </p:cNvPr>
          <p:cNvSpPr txBox="1">
            <a:spLocks/>
          </p:cNvSpPr>
          <p:nvPr/>
        </p:nvSpPr>
        <p:spPr>
          <a:xfrm>
            <a:off x="259086" y="1472432"/>
            <a:ext cx="3164598" cy="1956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+mn-lt"/>
              </a:rPr>
              <a:t>Требования:</a:t>
            </a:r>
          </a:p>
          <a:p>
            <a:pPr lvl="0"/>
            <a:r>
              <a:rPr lang="ru-RU" sz="1800" dirty="0">
                <a:latin typeface="+mn-lt"/>
              </a:rPr>
              <a:t>история продаж — 5 лет;</a:t>
            </a:r>
          </a:p>
          <a:p>
            <a:pPr lvl="0"/>
            <a:r>
              <a:rPr lang="ru-RU" sz="1800" dirty="0">
                <a:latin typeface="+mn-lt"/>
              </a:rPr>
              <a:t>продажи обновляются каждый час;</a:t>
            </a:r>
          </a:p>
          <a:p>
            <a:pPr lvl="0"/>
            <a:r>
              <a:rPr lang="ru-RU" sz="1800" dirty="0">
                <a:latin typeface="+mn-lt"/>
              </a:rPr>
              <a:t>остатки — каждые 5 минут;</a:t>
            </a:r>
          </a:p>
          <a:p>
            <a:pPr lvl="0"/>
            <a:r>
              <a:rPr lang="ru-RU" sz="1800" dirty="0">
                <a:latin typeface="+mn-lt"/>
              </a:rPr>
              <a:t>аналитик должен видеть продажи;</a:t>
            </a:r>
          </a:p>
          <a:p>
            <a:pPr lvl="0"/>
            <a:r>
              <a:rPr lang="ru-RU" sz="1800" dirty="0">
                <a:latin typeface="+mn-lt"/>
              </a:rPr>
              <a:t>директор должен видеть </a:t>
            </a:r>
            <a:r>
              <a:rPr lang="ru-RU" sz="1800" dirty="0" err="1">
                <a:latin typeface="+mn-lt"/>
              </a:rPr>
              <a:t>dashboard</a:t>
            </a:r>
            <a:r>
              <a:rPr lang="ru-RU" sz="1800" dirty="0">
                <a:latin typeface="+mn-lt"/>
              </a:rPr>
              <a:t>;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5F384AC1-AC66-A4E3-55C1-300B1FCE39BC}"/>
              </a:ext>
            </a:extLst>
          </p:cNvPr>
          <p:cNvSpPr txBox="1">
            <a:spLocks/>
          </p:cNvSpPr>
          <p:nvPr/>
        </p:nvSpPr>
        <p:spPr>
          <a:xfrm>
            <a:off x="3339992" y="1472432"/>
            <a:ext cx="2906232" cy="1775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Источники: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PostgreSQL —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заказы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WMS —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остатки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POS —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покупки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S3 —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исторические файлы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CBA4E-A3D0-9FF5-8340-4D03C7E6BFB8}"/>
              </a:ext>
            </a:extLst>
          </p:cNvPr>
          <p:cNvSpPr txBox="1"/>
          <p:nvPr/>
        </p:nvSpPr>
        <p:spPr>
          <a:xfrm>
            <a:off x="202378" y="4035751"/>
            <a:ext cx="613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Ритейлер хочет построить аналитику продаж.</a:t>
            </a:r>
            <a:endParaRPr lang="ru-RU" sz="1050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60F55-5E4C-8875-7952-1355DEF4589F}"/>
              </a:ext>
            </a:extLst>
          </p:cNvPr>
          <p:cNvSpPr txBox="1"/>
          <p:nvPr/>
        </p:nvSpPr>
        <p:spPr>
          <a:xfrm>
            <a:off x="2201299" y="4405083"/>
            <a:ext cx="1222385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↓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?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↓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?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↓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?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↓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Consumer</a:t>
            </a:r>
            <a:endParaRPr lang="ru-RU" sz="1400" b="0" i="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69816A-2945-45DA-D977-66EABC00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869" y="1711100"/>
            <a:ext cx="33528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38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1369</Words>
  <Application>Microsoft Macintosh PowerPoint</Application>
  <PresentationFormat>Широкоэкранный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Courier New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72</cp:revision>
  <dcterms:created xsi:type="dcterms:W3CDTF">2025-08-19T06:56:36Z</dcterms:created>
  <dcterms:modified xsi:type="dcterms:W3CDTF">2026-09-17T13:00:10Z</dcterms:modified>
</cp:coreProperties>
</file>